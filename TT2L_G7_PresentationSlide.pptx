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18288000" cy="10287000"/>
  <p:notesSz cx="6858000" cy="9144000"/>
  <p:embeddedFontLst>
    <p:embeddedFont>
      <p:font typeface="Poppins Bold" charset="1" panose="00000800000000000000"/>
      <p:regular r:id="rId58"/>
    </p:embeddedFont>
    <p:embeddedFont>
      <p:font typeface="Inter" charset="1" panose="020B0502030000000004"/>
      <p:regular r:id="rId59"/>
    </p:embeddedFont>
    <p:embeddedFont>
      <p:font typeface="Poppins" charset="1" panose="00000500000000000000"/>
      <p:regular r:id="rId60"/>
    </p:embeddedFont>
    <p:embeddedFont>
      <p:font typeface="Inter Bold" charset="1" panose="020B0802030000000004"/>
      <p:regular r:id="rId61"/>
    </p:embeddedFont>
    <p:embeddedFont>
      <p:font typeface="Inter Bold Italics" charset="1" panose="020B0802030000000004"/>
      <p:regular r:id="rId62"/>
    </p:embeddedFont>
    <p:embeddedFont>
      <p:font typeface="Canva Sans" charset="1" panose="020B0503030501040103"/>
      <p:regular r:id="rId63"/>
    </p:embeddedFont>
    <p:embeddedFont>
      <p:font typeface="Canva Sans Bold" charset="1" panose="020B0803030501040103"/>
      <p:regular r:id="rId6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61" Target="fonts/font61.fntdata" Type="http://schemas.openxmlformats.org/officeDocument/2006/relationships/font"/><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https://youtu.be/5F9vkwhbXgY"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9.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0.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 Id="rId3" Target="../media/image23.pn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6.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7.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8.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0.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3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71519" y="2282576"/>
            <a:ext cx="732467" cy="686553"/>
          </a:xfrm>
          <a:custGeom>
            <a:avLst/>
            <a:gdLst/>
            <a:ahLst/>
            <a:cxnLst/>
            <a:rect r="r" b="b" t="t" l="l"/>
            <a:pathLst>
              <a:path h="686553" w="732467">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500721" y="3516133"/>
            <a:ext cx="3529421" cy="3338071"/>
            <a:chOff x="0" y="0"/>
            <a:chExt cx="929559" cy="879163"/>
          </a:xfrm>
        </p:grpSpPr>
        <p:sp>
          <p:nvSpPr>
            <p:cNvPr name="Freeform 4" id="4"/>
            <p:cNvSpPr/>
            <p:nvPr/>
          </p:nvSpPr>
          <p:spPr>
            <a:xfrm flipH="false" flipV="false" rot="0">
              <a:off x="0" y="0"/>
              <a:ext cx="929559" cy="879163"/>
            </a:xfrm>
            <a:custGeom>
              <a:avLst/>
              <a:gdLst/>
              <a:ahLst/>
              <a:cxnLst/>
              <a:rect r="r" b="b" t="t" l="l"/>
              <a:pathLst>
                <a:path h="879163" w="929559">
                  <a:moveTo>
                    <a:pt x="0" y="0"/>
                  </a:moveTo>
                  <a:lnTo>
                    <a:pt x="929559" y="0"/>
                  </a:lnTo>
                  <a:lnTo>
                    <a:pt x="929559" y="879163"/>
                  </a:lnTo>
                  <a:lnTo>
                    <a:pt x="0" y="879163"/>
                  </a:lnTo>
                  <a:close/>
                </a:path>
              </a:pathLst>
            </a:custGeom>
            <a:solidFill>
              <a:srgbClr val="BCA37F"/>
            </a:solidFill>
          </p:spPr>
        </p:sp>
        <p:sp>
          <p:nvSpPr>
            <p:cNvPr name="TextBox 5" id="5"/>
            <p:cNvSpPr txBox="true"/>
            <p:nvPr/>
          </p:nvSpPr>
          <p:spPr>
            <a:xfrm>
              <a:off x="0" y="-47625"/>
              <a:ext cx="929559" cy="926788"/>
            </a:xfrm>
            <a:prstGeom prst="rect">
              <a:avLst/>
            </a:prstGeom>
          </p:spPr>
          <p:txBody>
            <a:bodyPr anchor="ctr" rtlCol="false" tIns="50800" lIns="50800" bIns="50800" rIns="50800"/>
            <a:lstStyle/>
            <a:p>
              <a:pPr algn="ctr">
                <a:lnSpc>
                  <a:spcPts val="3012"/>
                </a:lnSpc>
              </a:pPr>
            </a:p>
          </p:txBody>
        </p:sp>
      </p:grpSp>
      <p:grpSp>
        <p:nvGrpSpPr>
          <p:cNvPr name="Group 6" id="6"/>
          <p:cNvGrpSpPr/>
          <p:nvPr/>
        </p:nvGrpSpPr>
        <p:grpSpPr>
          <a:xfrm rot="0">
            <a:off x="16850683" y="7365373"/>
            <a:ext cx="1190712" cy="119071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15207460" y="7876541"/>
            <a:ext cx="2618042" cy="4114800"/>
          </a:xfrm>
          <a:custGeom>
            <a:avLst/>
            <a:gdLst/>
            <a:ahLst/>
            <a:cxnLst/>
            <a:rect r="r" b="b" t="t" l="l"/>
            <a:pathLst>
              <a:path h="4114800" w="2618042">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13601700" y="2158589"/>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4574125" y="-869877"/>
            <a:ext cx="3251377" cy="2483239"/>
          </a:xfrm>
          <a:custGeom>
            <a:avLst/>
            <a:gdLst/>
            <a:ahLst/>
            <a:cxnLst/>
            <a:rect r="r" b="b" t="t" l="l"/>
            <a:pathLst>
              <a:path h="2483239" w="3251377">
                <a:moveTo>
                  <a:pt x="0" y="0"/>
                </a:moveTo>
                <a:lnTo>
                  <a:pt x="3251377" y="0"/>
                </a:lnTo>
                <a:lnTo>
                  <a:pt x="3251377" y="2483240"/>
                </a:lnTo>
                <a:lnTo>
                  <a:pt x="0" y="248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771519" y="2987937"/>
            <a:ext cx="14744962" cy="3406563"/>
          </a:xfrm>
          <a:prstGeom prst="rect">
            <a:avLst/>
          </a:prstGeom>
        </p:spPr>
        <p:txBody>
          <a:bodyPr anchor="t" rtlCol="false" tIns="0" lIns="0" bIns="0" rIns="0">
            <a:spAutoFit/>
          </a:bodyPr>
          <a:lstStyle/>
          <a:p>
            <a:pPr algn="l" marL="0" indent="0" lvl="0">
              <a:lnSpc>
                <a:spcPts val="13311"/>
              </a:lnSpc>
            </a:pPr>
            <a:r>
              <a:rPr lang="en-US" b="true" sz="9508">
                <a:solidFill>
                  <a:srgbClr val="000000"/>
                </a:solidFill>
                <a:latin typeface="Poppins Bold"/>
                <a:ea typeface="Poppins Bold"/>
                <a:cs typeface="Poppins Bold"/>
                <a:sym typeface="Poppins Bold"/>
              </a:rPr>
              <a:t>Software Requirements Engineering</a:t>
            </a:r>
          </a:p>
        </p:txBody>
      </p:sp>
      <p:sp>
        <p:nvSpPr>
          <p:cNvPr name="TextBox 13" id="13"/>
          <p:cNvSpPr txBox="true"/>
          <p:nvPr/>
        </p:nvSpPr>
        <p:spPr>
          <a:xfrm rot="0">
            <a:off x="1771519" y="7082805"/>
            <a:ext cx="14744962" cy="498484"/>
          </a:xfrm>
          <a:prstGeom prst="rect">
            <a:avLst/>
          </a:prstGeom>
        </p:spPr>
        <p:txBody>
          <a:bodyPr anchor="t" rtlCol="false" tIns="0" lIns="0" bIns="0" rIns="0">
            <a:spAutoFit/>
          </a:bodyPr>
          <a:lstStyle/>
          <a:p>
            <a:pPr algn="l" marL="0" indent="0" lvl="0">
              <a:lnSpc>
                <a:spcPts val="4024"/>
              </a:lnSpc>
            </a:pPr>
            <a:r>
              <a:rPr lang="en-US" sz="2874" spc="526">
                <a:solidFill>
                  <a:srgbClr val="705C40"/>
                </a:solidFill>
                <a:latin typeface="Inter"/>
                <a:ea typeface="Inter"/>
                <a:cs typeface="Inter"/>
                <a:sym typeface="Inter"/>
              </a:rPr>
              <a:t>TASK 1 - TASK 5 PRESENTATION</a:t>
            </a:r>
          </a:p>
        </p:txBody>
      </p:sp>
      <p:sp>
        <p:nvSpPr>
          <p:cNvPr name="TextBox 14" id="14"/>
          <p:cNvSpPr txBox="true"/>
          <p:nvPr/>
        </p:nvSpPr>
        <p:spPr>
          <a:xfrm rot="0">
            <a:off x="2645549" y="2332383"/>
            <a:ext cx="11928575" cy="529811"/>
          </a:xfrm>
          <a:prstGeom prst="rect">
            <a:avLst/>
          </a:prstGeom>
        </p:spPr>
        <p:txBody>
          <a:bodyPr anchor="t" rtlCol="false" tIns="0" lIns="0" bIns="0" rIns="0">
            <a:spAutoFit/>
          </a:bodyPr>
          <a:lstStyle/>
          <a:p>
            <a:pPr algn="l" marL="0" indent="0" lvl="0">
              <a:lnSpc>
                <a:spcPts val="4397"/>
              </a:lnSpc>
              <a:spcBef>
                <a:spcPct val="0"/>
              </a:spcBef>
            </a:pPr>
            <a:r>
              <a:rPr lang="en-US" sz="3141">
                <a:solidFill>
                  <a:srgbClr val="705C40"/>
                </a:solidFill>
                <a:latin typeface="Inter"/>
                <a:ea typeface="Inter"/>
                <a:cs typeface="Inter"/>
                <a:sym typeface="Inter"/>
              </a:rPr>
              <a:t>Campus Ride-Sharing System with Parking System Integration</a:t>
            </a:r>
          </a:p>
        </p:txBody>
      </p:sp>
      <p:sp>
        <p:nvSpPr>
          <p:cNvPr name="TextBox 15" id="15"/>
          <p:cNvSpPr txBox="true"/>
          <p:nvPr/>
        </p:nvSpPr>
        <p:spPr>
          <a:xfrm rot="0">
            <a:off x="1771519" y="8026274"/>
            <a:ext cx="4756636" cy="529811"/>
          </a:xfrm>
          <a:prstGeom prst="rect">
            <a:avLst/>
          </a:prstGeom>
        </p:spPr>
        <p:txBody>
          <a:bodyPr anchor="t" rtlCol="false" tIns="0" lIns="0" bIns="0" rIns="0">
            <a:spAutoFit/>
          </a:bodyPr>
          <a:lstStyle/>
          <a:p>
            <a:pPr algn="l" marL="0" indent="0" lvl="0">
              <a:lnSpc>
                <a:spcPts val="4397"/>
              </a:lnSpc>
              <a:spcBef>
                <a:spcPct val="0"/>
              </a:spcBef>
            </a:pPr>
            <a:r>
              <a:rPr lang="en-US" sz="3141">
                <a:solidFill>
                  <a:srgbClr val="20180C"/>
                </a:solidFill>
                <a:latin typeface="Inter"/>
                <a:ea typeface="Inter"/>
                <a:cs typeface="Inter"/>
                <a:sym typeface="Inter"/>
              </a:rPr>
              <a:t>TT2L Group 7</a:t>
            </a:r>
          </a:p>
        </p:txBody>
      </p:sp>
      <p:sp>
        <p:nvSpPr>
          <p:cNvPr name="TextBox 16" id="16"/>
          <p:cNvSpPr txBox="true"/>
          <p:nvPr/>
        </p:nvSpPr>
        <p:spPr>
          <a:xfrm rot="0">
            <a:off x="1771519" y="8974345"/>
            <a:ext cx="2942306" cy="447260"/>
          </a:xfrm>
          <a:prstGeom prst="rect">
            <a:avLst/>
          </a:prstGeom>
        </p:spPr>
        <p:txBody>
          <a:bodyPr anchor="t" rtlCol="false" tIns="0" lIns="0" bIns="0" rIns="0">
            <a:spAutoFit/>
          </a:bodyPr>
          <a:lstStyle/>
          <a:p>
            <a:pPr algn="l" marL="0" indent="0" lvl="0">
              <a:lnSpc>
                <a:spcPts val="3697"/>
              </a:lnSpc>
              <a:spcBef>
                <a:spcPct val="0"/>
              </a:spcBef>
            </a:pPr>
            <a:r>
              <a:rPr lang="en-US" sz="2641">
                <a:solidFill>
                  <a:srgbClr val="705C40"/>
                </a:solidFill>
                <a:latin typeface="Inter"/>
                <a:ea typeface="Inter"/>
                <a:cs typeface="Inter"/>
                <a:sym typeface="Inter"/>
              </a:rPr>
              <a:t>YouTube Link:</a:t>
            </a:r>
          </a:p>
        </p:txBody>
      </p:sp>
      <p:sp>
        <p:nvSpPr>
          <p:cNvPr name="TextBox 17" id="17"/>
          <p:cNvSpPr txBox="true"/>
          <p:nvPr/>
        </p:nvSpPr>
        <p:spPr>
          <a:xfrm rot="0">
            <a:off x="4149837" y="8974345"/>
            <a:ext cx="5282287" cy="447260"/>
          </a:xfrm>
          <a:prstGeom prst="rect">
            <a:avLst/>
          </a:prstGeom>
        </p:spPr>
        <p:txBody>
          <a:bodyPr anchor="t" rtlCol="false" tIns="0" lIns="0" bIns="0" rIns="0">
            <a:spAutoFit/>
          </a:bodyPr>
          <a:lstStyle/>
          <a:p>
            <a:pPr algn="l" marL="0" indent="0" lvl="0">
              <a:lnSpc>
                <a:spcPts val="3697"/>
              </a:lnSpc>
              <a:spcBef>
                <a:spcPct val="0"/>
              </a:spcBef>
            </a:pPr>
            <a:r>
              <a:rPr lang="en-US" sz="2641" u="sng">
                <a:solidFill>
                  <a:srgbClr val="705C40"/>
                </a:solidFill>
                <a:latin typeface="Inter"/>
                <a:ea typeface="Inter"/>
                <a:cs typeface="Inter"/>
                <a:sym typeface="Inter"/>
                <a:hlinkClick r:id="rId10" tooltip="https://youtu.be/5F9vkwhbXgY"/>
              </a:rPr>
              <a:t>https://youtu.be/5F9vkwhbXgY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29580" y="-319462"/>
            <a:ext cx="8607914" cy="10979045"/>
            <a:chOff x="0" y="0"/>
            <a:chExt cx="2267105" cy="2891600"/>
          </a:xfrm>
        </p:grpSpPr>
        <p:sp>
          <p:nvSpPr>
            <p:cNvPr name="Freeform 3" id="3"/>
            <p:cNvSpPr/>
            <p:nvPr/>
          </p:nvSpPr>
          <p:spPr>
            <a:xfrm flipH="false" flipV="false" rot="0">
              <a:off x="0" y="0"/>
              <a:ext cx="2267105" cy="2891600"/>
            </a:xfrm>
            <a:custGeom>
              <a:avLst/>
              <a:gdLst/>
              <a:ahLst/>
              <a:cxnLst/>
              <a:rect r="r" b="b" t="t" l="l"/>
              <a:pathLst>
                <a:path h="2891600" w="2267105">
                  <a:moveTo>
                    <a:pt x="0" y="0"/>
                  </a:moveTo>
                  <a:lnTo>
                    <a:pt x="2267105" y="0"/>
                  </a:lnTo>
                  <a:lnTo>
                    <a:pt x="2267105" y="2891600"/>
                  </a:lnTo>
                  <a:lnTo>
                    <a:pt x="0" y="2891600"/>
                  </a:lnTo>
                  <a:close/>
                </a:path>
              </a:pathLst>
            </a:custGeom>
            <a:solidFill>
              <a:srgbClr val="EAD6B8"/>
            </a:solidFill>
          </p:spPr>
        </p:sp>
        <p:sp>
          <p:nvSpPr>
            <p:cNvPr name="TextBox 4" id="4"/>
            <p:cNvSpPr txBox="true"/>
            <p:nvPr/>
          </p:nvSpPr>
          <p:spPr>
            <a:xfrm>
              <a:off x="0" y="-47625"/>
              <a:ext cx="2267105" cy="2939225"/>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1396982" y="8789538"/>
            <a:ext cx="5862318"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11710351" y="1456814"/>
            <a:ext cx="5246370" cy="6448176"/>
            <a:chOff x="0" y="0"/>
            <a:chExt cx="812800" cy="998991"/>
          </a:xfrm>
        </p:grpSpPr>
        <p:sp>
          <p:nvSpPr>
            <p:cNvPr name="Freeform 7" id="7"/>
            <p:cNvSpPr/>
            <p:nvPr/>
          </p:nvSpPr>
          <p:spPr>
            <a:xfrm flipH="false" flipV="false" rot="0">
              <a:off x="0" y="0"/>
              <a:ext cx="812800" cy="998991"/>
            </a:xfrm>
            <a:custGeom>
              <a:avLst/>
              <a:gdLst/>
              <a:ahLst/>
              <a:cxnLst/>
              <a:rect r="r" b="b" t="t" l="l"/>
              <a:pathLst>
                <a:path h="998991" w="812800">
                  <a:moveTo>
                    <a:pt x="0" y="0"/>
                  </a:moveTo>
                  <a:lnTo>
                    <a:pt x="812800" y="0"/>
                  </a:lnTo>
                  <a:lnTo>
                    <a:pt x="812800" y="998991"/>
                  </a:lnTo>
                  <a:lnTo>
                    <a:pt x="0" y="998991"/>
                  </a:lnTo>
                  <a:close/>
                </a:path>
              </a:pathLst>
            </a:custGeom>
            <a:blipFill>
              <a:blip r:embed="rId2"/>
              <a:stretch>
                <a:fillRect l="-42238" t="0" r="-42238" b="0"/>
              </a:stretch>
            </a:blipFill>
          </p:spPr>
        </p:sp>
      </p:grpSp>
      <p:grpSp>
        <p:nvGrpSpPr>
          <p:cNvPr name="Group 8" id="8"/>
          <p:cNvGrpSpPr/>
          <p:nvPr/>
        </p:nvGrpSpPr>
        <p:grpSpPr>
          <a:xfrm rot="0">
            <a:off x="-931726" y="1594803"/>
            <a:ext cx="3086100" cy="1178743"/>
            <a:chOff x="0" y="0"/>
            <a:chExt cx="812800" cy="310451"/>
          </a:xfrm>
        </p:grpSpPr>
        <p:sp>
          <p:nvSpPr>
            <p:cNvPr name="Freeform 9" id="9"/>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10" id="10"/>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TextBox 11" id="11"/>
          <p:cNvSpPr txBox="true"/>
          <p:nvPr/>
        </p:nvSpPr>
        <p:spPr>
          <a:xfrm rot="0">
            <a:off x="1280343" y="1311993"/>
            <a:ext cx="10116639"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000000"/>
                </a:solidFill>
                <a:latin typeface="Poppins Bold"/>
                <a:ea typeface="Poppins Bold"/>
                <a:cs typeface="Poppins Bold"/>
                <a:sym typeface="Poppins Bold"/>
              </a:rPr>
              <a:t>Task 1a: Team Preliminary</a:t>
            </a:r>
          </a:p>
        </p:txBody>
      </p:sp>
      <p:sp>
        <p:nvSpPr>
          <p:cNvPr name="TextBox 12" id="12"/>
          <p:cNvSpPr txBox="true"/>
          <p:nvPr/>
        </p:nvSpPr>
        <p:spPr>
          <a:xfrm rot="0">
            <a:off x="1280343" y="3326064"/>
            <a:ext cx="8349313" cy="2637568"/>
          </a:xfrm>
          <a:prstGeom prst="rect">
            <a:avLst/>
          </a:prstGeom>
        </p:spPr>
        <p:txBody>
          <a:bodyPr anchor="t" rtlCol="false" tIns="0" lIns="0" bIns="0" rIns="0">
            <a:spAutoFit/>
          </a:bodyPr>
          <a:lstStyle/>
          <a:p>
            <a:pPr algn="l">
              <a:lnSpc>
                <a:spcPts val="4206"/>
              </a:lnSpc>
              <a:spcBef>
                <a:spcPct val="0"/>
              </a:spcBef>
            </a:pPr>
            <a:r>
              <a:rPr lang="en-US" sz="3004">
                <a:solidFill>
                  <a:srgbClr val="000000"/>
                </a:solidFill>
                <a:latin typeface="Inter"/>
                <a:ea typeface="Inter"/>
                <a:cs typeface="Inter"/>
                <a:sym typeface="Inter"/>
              </a:rPr>
              <a:t>A campus ride-sharing platfor</a:t>
            </a:r>
            <a:r>
              <a:rPr lang="en-US" sz="3004">
                <a:solidFill>
                  <a:srgbClr val="000000"/>
                </a:solidFill>
                <a:latin typeface="Inter"/>
                <a:ea typeface="Inter"/>
                <a:cs typeface="Inter"/>
                <a:sym typeface="Inter"/>
              </a:rPr>
              <a:t>m for students, staff, and faculty:</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Integrates with campus parking system</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Includes digital ID verificatoin</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Shows real-time parking availability</a:t>
            </a:r>
          </a:p>
        </p:txBody>
      </p:sp>
      <p:sp>
        <p:nvSpPr>
          <p:cNvPr name="TextBox 13" id="13"/>
          <p:cNvSpPr txBox="true"/>
          <p:nvPr/>
        </p:nvSpPr>
        <p:spPr>
          <a:xfrm rot="0">
            <a:off x="1280343" y="2659245"/>
            <a:ext cx="1011663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Project Vision</a:t>
            </a:r>
          </a:p>
        </p:txBody>
      </p:sp>
      <p:sp>
        <p:nvSpPr>
          <p:cNvPr name="TextBox 14" id="14"/>
          <p:cNvSpPr txBox="true"/>
          <p:nvPr/>
        </p:nvSpPr>
        <p:spPr>
          <a:xfrm rot="0">
            <a:off x="1280343" y="6916202"/>
            <a:ext cx="8349313" cy="2108125"/>
          </a:xfrm>
          <a:prstGeom prst="rect">
            <a:avLst/>
          </a:prstGeom>
        </p:spPr>
        <p:txBody>
          <a:bodyPr anchor="t" rtlCol="false" tIns="0" lIns="0" bIns="0" rIns="0">
            <a:spAutoFit/>
          </a:bodyPr>
          <a:lstStyle/>
          <a:p>
            <a:pPr algn="l" marL="648747" indent="-324373" lvl="1">
              <a:lnSpc>
                <a:spcPts val="4206"/>
              </a:lnSpc>
              <a:buFont typeface="Arial"/>
              <a:buChar char="•"/>
            </a:pPr>
            <a:r>
              <a:rPr lang="en-US" sz="3004">
                <a:solidFill>
                  <a:srgbClr val="000000"/>
                </a:solidFill>
                <a:latin typeface="Inter"/>
                <a:ea typeface="Inter"/>
                <a:cs typeface="Inter"/>
                <a:sym typeface="Inter"/>
              </a:rPr>
              <a:t>Mobile app with ride-booking &amp; parking availability</a:t>
            </a:r>
          </a:p>
          <a:p>
            <a:pPr algn="l" marL="648747" indent="-324373" lvl="1">
              <a:lnSpc>
                <a:spcPts val="4206"/>
              </a:lnSpc>
              <a:spcBef>
                <a:spcPct val="0"/>
              </a:spcBef>
              <a:buFont typeface="Arial"/>
              <a:buChar char="•"/>
            </a:pPr>
            <a:r>
              <a:rPr lang="en-US" sz="3004">
                <a:solidFill>
                  <a:srgbClr val="000000"/>
                </a:solidFill>
                <a:latin typeface="Inter"/>
                <a:ea typeface="Inter"/>
                <a:cs typeface="Inter"/>
                <a:sym typeface="Inter"/>
              </a:rPr>
              <a:t>Target: Q4 2025, 80% adoption, 20% less parking usage</a:t>
            </a:r>
          </a:p>
        </p:txBody>
      </p:sp>
      <p:sp>
        <p:nvSpPr>
          <p:cNvPr name="TextBox 15" id="15"/>
          <p:cNvSpPr txBox="true"/>
          <p:nvPr/>
        </p:nvSpPr>
        <p:spPr>
          <a:xfrm rot="0">
            <a:off x="1280343" y="6249383"/>
            <a:ext cx="1011663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Project Goal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0343" y="8915023"/>
            <a:ext cx="732467" cy="686553"/>
          </a:xfrm>
          <a:custGeom>
            <a:avLst/>
            <a:gdLst/>
            <a:ahLst/>
            <a:cxnLst/>
            <a:rect r="r" b="b" t="t" l="l"/>
            <a:pathLst>
              <a:path h="686553" w="732467">
                <a:moveTo>
                  <a:pt x="0" y="0"/>
                </a:moveTo>
                <a:lnTo>
                  <a:pt x="732467" y="0"/>
                </a:lnTo>
                <a:lnTo>
                  <a:pt x="732467" y="686554"/>
                </a:lnTo>
                <a:lnTo>
                  <a:pt x="0" y="6865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025320" y="3275637"/>
            <a:ext cx="4233980" cy="8932726"/>
            <a:chOff x="0" y="0"/>
            <a:chExt cx="1115122" cy="2352652"/>
          </a:xfrm>
        </p:grpSpPr>
        <p:sp>
          <p:nvSpPr>
            <p:cNvPr name="Freeform 4" id="4"/>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5" id="5"/>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6" id="6"/>
          <p:cNvGrpSpPr/>
          <p:nvPr/>
        </p:nvGrpSpPr>
        <p:grpSpPr>
          <a:xfrm rot="0">
            <a:off x="-2587404" y="2701881"/>
            <a:ext cx="4233980" cy="5167289"/>
            <a:chOff x="0" y="0"/>
            <a:chExt cx="1115122" cy="1360932"/>
          </a:xfrm>
        </p:grpSpPr>
        <p:sp>
          <p:nvSpPr>
            <p:cNvPr name="Freeform 7" id="7"/>
            <p:cNvSpPr/>
            <p:nvPr/>
          </p:nvSpPr>
          <p:spPr>
            <a:xfrm flipH="false" flipV="false" rot="0">
              <a:off x="0" y="0"/>
              <a:ext cx="1115122" cy="1360932"/>
            </a:xfrm>
            <a:custGeom>
              <a:avLst/>
              <a:gdLst/>
              <a:ahLst/>
              <a:cxnLst/>
              <a:rect r="r" b="b" t="t" l="l"/>
              <a:pathLst>
                <a:path h="1360932" w="1115122">
                  <a:moveTo>
                    <a:pt x="0" y="0"/>
                  </a:moveTo>
                  <a:lnTo>
                    <a:pt x="1115122" y="0"/>
                  </a:lnTo>
                  <a:lnTo>
                    <a:pt x="1115122" y="1360932"/>
                  </a:lnTo>
                  <a:lnTo>
                    <a:pt x="0" y="1360932"/>
                  </a:lnTo>
                  <a:close/>
                </a:path>
              </a:pathLst>
            </a:custGeom>
            <a:solidFill>
              <a:srgbClr val="EAD6B8"/>
            </a:solidFill>
          </p:spPr>
        </p:sp>
        <p:sp>
          <p:nvSpPr>
            <p:cNvPr name="TextBox 8" id="8"/>
            <p:cNvSpPr txBox="true"/>
            <p:nvPr/>
          </p:nvSpPr>
          <p:spPr>
            <a:xfrm>
              <a:off x="0" y="-47625"/>
              <a:ext cx="1115122" cy="1408557"/>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1028700" y="926106"/>
            <a:ext cx="1142037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1a: Team Preliminary</a:t>
            </a:r>
          </a:p>
        </p:txBody>
      </p:sp>
      <p:sp>
        <p:nvSpPr>
          <p:cNvPr name="TextBox 10" id="10"/>
          <p:cNvSpPr txBox="true"/>
          <p:nvPr/>
        </p:nvSpPr>
        <p:spPr>
          <a:xfrm rot="0">
            <a:off x="2154374" y="8964831"/>
            <a:ext cx="5944546" cy="529811"/>
          </a:xfrm>
          <a:prstGeom prst="rect">
            <a:avLst/>
          </a:prstGeom>
        </p:spPr>
        <p:txBody>
          <a:bodyPr anchor="t" rtlCol="false" tIns="0" lIns="0" bIns="0" rIns="0">
            <a:spAutoFit/>
          </a:bodyPr>
          <a:lstStyle/>
          <a:p>
            <a:pPr algn="l" marL="0" indent="0" lvl="0">
              <a:lnSpc>
                <a:spcPts val="4397"/>
              </a:lnSpc>
              <a:spcBef>
                <a:spcPct val="0"/>
              </a:spcBef>
            </a:pPr>
            <a:r>
              <a:rPr lang="en-US" sz="3141">
                <a:solidFill>
                  <a:srgbClr val="705C40"/>
                </a:solidFill>
                <a:latin typeface="Inter"/>
                <a:ea typeface="Inter"/>
                <a:cs typeface="Inter"/>
                <a:sym typeface="Inter"/>
              </a:rPr>
              <a:t>Campus Ride-Sharing System</a:t>
            </a:r>
          </a:p>
        </p:txBody>
      </p:sp>
      <p:sp>
        <p:nvSpPr>
          <p:cNvPr name="Freeform 11" id="11"/>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646577" y="2277984"/>
            <a:ext cx="5878731"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Project Scope</a:t>
            </a:r>
          </a:p>
        </p:txBody>
      </p:sp>
      <p:sp>
        <p:nvSpPr>
          <p:cNvPr name="TextBox 13" id="13"/>
          <p:cNvSpPr txBox="true"/>
          <p:nvPr/>
        </p:nvSpPr>
        <p:spPr>
          <a:xfrm rot="0">
            <a:off x="1646577" y="3100795"/>
            <a:ext cx="6738341" cy="5814228"/>
          </a:xfrm>
          <a:prstGeom prst="rect">
            <a:avLst/>
          </a:prstGeom>
        </p:spPr>
        <p:txBody>
          <a:bodyPr anchor="t" rtlCol="false" tIns="0" lIns="0" bIns="0" rIns="0">
            <a:spAutoFit/>
          </a:bodyPr>
          <a:lstStyle/>
          <a:p>
            <a:pPr algn="l" marL="648747" indent="-324373" lvl="1">
              <a:lnSpc>
                <a:spcPts val="4206"/>
              </a:lnSpc>
              <a:buFont typeface="Arial"/>
              <a:buChar char="•"/>
            </a:pPr>
            <a:r>
              <a:rPr lang="en-US" sz="3004">
                <a:solidFill>
                  <a:srgbClr val="000000"/>
                </a:solidFill>
                <a:latin typeface="Inter"/>
                <a:ea typeface="Inter"/>
                <a:cs typeface="Inter"/>
                <a:sym typeface="Inter"/>
              </a:rPr>
              <a:t>Plan, design, and document the system</a:t>
            </a:r>
          </a:p>
          <a:p>
            <a:pPr algn="l" marL="648747" indent="-324373" lvl="1">
              <a:lnSpc>
                <a:spcPts val="4206"/>
              </a:lnSpc>
              <a:buFont typeface="Arial"/>
              <a:buChar char="•"/>
            </a:pPr>
            <a:r>
              <a:rPr lang="en-US" sz="3004">
                <a:solidFill>
                  <a:srgbClr val="000000"/>
                </a:solidFill>
                <a:latin typeface="Inter"/>
                <a:ea typeface="Inter"/>
                <a:cs typeface="Inter"/>
                <a:sym typeface="Inter"/>
              </a:rPr>
              <a:t>Form team and assign roles</a:t>
            </a:r>
          </a:p>
          <a:p>
            <a:pPr algn="l" marL="648747" indent="-324373" lvl="1">
              <a:lnSpc>
                <a:spcPts val="4206"/>
              </a:lnSpc>
              <a:buFont typeface="Arial"/>
              <a:buChar char="•"/>
            </a:pPr>
            <a:r>
              <a:rPr lang="en-US" sz="3004">
                <a:solidFill>
                  <a:srgbClr val="000000"/>
                </a:solidFill>
                <a:latin typeface="Inter"/>
                <a:ea typeface="Inter"/>
                <a:cs typeface="Inter"/>
                <a:sym typeface="Inter"/>
              </a:rPr>
              <a:t>Define project vision, scope, and goals</a:t>
            </a:r>
          </a:p>
          <a:p>
            <a:pPr algn="l" marL="648747" indent="-324373" lvl="1">
              <a:lnSpc>
                <a:spcPts val="4206"/>
              </a:lnSpc>
              <a:spcBef>
                <a:spcPct val="0"/>
              </a:spcBef>
              <a:buFont typeface="Arial"/>
              <a:buChar char="•"/>
            </a:pPr>
            <a:r>
              <a:rPr lang="en-US" sz="3004">
                <a:solidFill>
                  <a:srgbClr val="000000"/>
                </a:solidFill>
                <a:latin typeface="Inter"/>
                <a:ea typeface="Inter"/>
                <a:cs typeface="Inter"/>
                <a:sym typeface="Inter"/>
              </a:rPr>
              <a:t>Identify context objects and requirement sources</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Conduct elicitation</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Apply Kano Model</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Document findings and complete SRS</a:t>
            </a:r>
          </a:p>
        </p:txBody>
      </p:sp>
      <p:sp>
        <p:nvSpPr>
          <p:cNvPr name="TextBox 14" id="14"/>
          <p:cNvSpPr txBox="true"/>
          <p:nvPr/>
        </p:nvSpPr>
        <p:spPr>
          <a:xfrm rot="0">
            <a:off x="8899438" y="2277984"/>
            <a:ext cx="5878731"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Communication Plan</a:t>
            </a:r>
          </a:p>
        </p:txBody>
      </p:sp>
      <p:sp>
        <p:nvSpPr>
          <p:cNvPr name="TextBox 15" id="15"/>
          <p:cNvSpPr txBox="true"/>
          <p:nvPr/>
        </p:nvSpPr>
        <p:spPr>
          <a:xfrm rot="0">
            <a:off x="8899438" y="3100795"/>
            <a:ext cx="6242872" cy="3696455"/>
          </a:xfrm>
          <a:prstGeom prst="rect">
            <a:avLst/>
          </a:prstGeom>
        </p:spPr>
        <p:txBody>
          <a:bodyPr anchor="t" rtlCol="false" tIns="0" lIns="0" bIns="0" rIns="0">
            <a:spAutoFit/>
          </a:bodyPr>
          <a:lstStyle/>
          <a:p>
            <a:pPr algn="l" marL="648747" indent="-324373" lvl="1">
              <a:lnSpc>
                <a:spcPts val="4206"/>
              </a:lnSpc>
              <a:spcBef>
                <a:spcPct val="0"/>
              </a:spcBef>
              <a:buFont typeface="Arial"/>
              <a:buChar char="•"/>
            </a:pPr>
            <a:r>
              <a:rPr lang="en-US" sz="3004">
                <a:solidFill>
                  <a:srgbClr val="000000"/>
                </a:solidFill>
                <a:latin typeface="Inter"/>
                <a:ea typeface="Inter"/>
                <a:cs typeface="Inter"/>
                <a:sym typeface="Inter"/>
              </a:rPr>
              <a:t>Weekly meetings for project s</a:t>
            </a:r>
            <a:r>
              <a:rPr lang="en-US" sz="3004" strike="noStrike" u="none">
                <a:solidFill>
                  <a:srgbClr val="000000"/>
                </a:solidFill>
                <a:latin typeface="Inter"/>
                <a:ea typeface="Inter"/>
                <a:cs typeface="Inter"/>
                <a:sym typeface="Inter"/>
              </a:rPr>
              <a:t>tatus</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Progress updates via MS Teams Chat</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Task assignment via Google Docs</a:t>
            </a:r>
          </a:p>
          <a:p>
            <a:pPr algn="l" marL="648747" indent="-324373" lvl="1">
              <a:lnSpc>
                <a:spcPts val="4206"/>
              </a:lnSpc>
              <a:spcBef>
                <a:spcPct val="0"/>
              </a:spcBef>
              <a:buFont typeface="Arial"/>
              <a:buChar char="•"/>
            </a:pPr>
            <a:r>
              <a:rPr lang="en-US" sz="3004" strike="noStrike" u="none">
                <a:solidFill>
                  <a:srgbClr val="000000"/>
                </a:solidFill>
                <a:latin typeface="Inter"/>
                <a:ea typeface="Inter"/>
                <a:cs typeface="Inter"/>
                <a:sym typeface="Inter"/>
              </a:rPr>
              <a:t>Coordination via MS Teams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71139" y="-476590"/>
            <a:ext cx="9482328" cy="11240179"/>
            <a:chOff x="0" y="0"/>
            <a:chExt cx="2497403" cy="2960376"/>
          </a:xfrm>
        </p:grpSpPr>
        <p:sp>
          <p:nvSpPr>
            <p:cNvPr name="Freeform 3" id="3"/>
            <p:cNvSpPr/>
            <p:nvPr/>
          </p:nvSpPr>
          <p:spPr>
            <a:xfrm flipH="false" flipV="false" rot="0">
              <a:off x="0" y="0"/>
              <a:ext cx="2497403" cy="2960376"/>
            </a:xfrm>
            <a:custGeom>
              <a:avLst/>
              <a:gdLst/>
              <a:ahLst/>
              <a:cxnLst/>
              <a:rect r="r" b="b" t="t" l="l"/>
              <a:pathLst>
                <a:path h="2960376" w="2497403">
                  <a:moveTo>
                    <a:pt x="0" y="0"/>
                  </a:moveTo>
                  <a:lnTo>
                    <a:pt x="2497403" y="0"/>
                  </a:lnTo>
                  <a:lnTo>
                    <a:pt x="2497403" y="2960376"/>
                  </a:lnTo>
                  <a:lnTo>
                    <a:pt x="0" y="2960376"/>
                  </a:lnTo>
                  <a:close/>
                </a:path>
              </a:pathLst>
            </a:custGeom>
            <a:solidFill>
              <a:srgbClr val="EAD6B8"/>
            </a:solidFill>
          </p:spPr>
        </p:sp>
        <p:sp>
          <p:nvSpPr>
            <p:cNvPr name="TextBox 4" id="4"/>
            <p:cNvSpPr txBox="true"/>
            <p:nvPr/>
          </p:nvSpPr>
          <p:spPr>
            <a:xfrm>
              <a:off x="0" y="-47625"/>
              <a:ext cx="2497403" cy="3008001"/>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17176175" y="8629924"/>
            <a:ext cx="865220" cy="86522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5982142" y="9001360"/>
            <a:ext cx="1902376" cy="2989982"/>
          </a:xfrm>
          <a:custGeom>
            <a:avLst/>
            <a:gdLst/>
            <a:ahLst/>
            <a:cxnLst/>
            <a:rect r="r" b="b" t="t" l="l"/>
            <a:pathLst>
              <a:path h="2989982" w="1902376">
                <a:moveTo>
                  <a:pt x="0" y="0"/>
                </a:moveTo>
                <a:lnTo>
                  <a:pt x="1902376" y="0"/>
                </a:lnTo>
                <a:lnTo>
                  <a:pt x="1902376" y="2989981"/>
                </a:lnTo>
                <a:lnTo>
                  <a:pt x="0" y="2989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5400000">
            <a:off x="14075172" y="2158589"/>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Table 10" id="10"/>
          <p:cNvGraphicFramePr>
            <a:graphicFrameLocks noGrp="true"/>
          </p:cNvGraphicFramePr>
          <p:nvPr/>
        </p:nvGraphicFramePr>
        <p:xfrm>
          <a:off x="675495" y="3093855"/>
          <a:ext cx="14577971" cy="6153150"/>
        </p:xfrm>
        <a:graphic>
          <a:graphicData uri="http://schemas.openxmlformats.org/drawingml/2006/table">
            <a:tbl>
              <a:tblPr/>
              <a:tblGrid>
                <a:gridCol w="2595971"/>
                <a:gridCol w="2467340"/>
                <a:gridCol w="9514660"/>
              </a:tblGrid>
              <a:tr h="939266">
                <a:tc>
                  <a:txBody>
                    <a:bodyPr anchor="t" rtlCol="false"/>
                    <a:lstStyle/>
                    <a:p>
                      <a:pPr algn="ctr">
                        <a:lnSpc>
                          <a:spcPts val="2867"/>
                        </a:lnSpc>
                        <a:defRPr/>
                      </a:pPr>
                      <a:r>
                        <a:rPr lang="en-US" sz="2048" b="true">
                          <a:solidFill>
                            <a:srgbClr val="000000"/>
                          </a:solidFill>
                          <a:latin typeface="Poppins Bold"/>
                          <a:ea typeface="Poppins Bold"/>
                          <a:cs typeface="Poppins Bold"/>
                          <a:sym typeface="Poppins Bold"/>
                        </a:rPr>
                        <a:t>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b="true">
                          <a:solidFill>
                            <a:srgbClr val="000000"/>
                          </a:solidFill>
                          <a:latin typeface="Poppins Bold"/>
                          <a:ea typeface="Poppins Bold"/>
                          <a:cs typeface="Poppins Bold"/>
                          <a:sym typeface="Poppins Bold"/>
                        </a:rPr>
                        <a:t>Role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b="true">
                          <a:solidFill>
                            <a:srgbClr val="000000"/>
                          </a:solidFill>
                          <a:latin typeface="Poppins Bold"/>
                          <a:ea typeface="Poppins Bold"/>
                          <a:cs typeface="Poppins Bold"/>
                          <a:sym typeface="Poppins Bold"/>
                        </a:rPr>
                        <a:t>Responsibilities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3471">
                <a:tc>
                  <a:txBody>
                    <a:bodyPr anchor="t" rtlCol="false"/>
                    <a:lstStyle/>
                    <a:p>
                      <a:pPr algn="ctr">
                        <a:lnSpc>
                          <a:spcPts val="2867"/>
                        </a:lnSpc>
                        <a:defRPr/>
                      </a:pPr>
                      <a:r>
                        <a:rPr lang="en-US" sz="2048">
                          <a:solidFill>
                            <a:srgbClr val="000000"/>
                          </a:solidFill>
                          <a:latin typeface="Poppins"/>
                          <a:ea typeface="Poppins"/>
                          <a:cs typeface="Poppins"/>
                          <a:sym typeface="Poppins"/>
                        </a:rPr>
                        <a:t>Ong Zi Xuan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Team Coordinator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67"/>
                        </a:lnSpc>
                        <a:defRPr/>
                      </a:pPr>
                      <a:r>
                        <a:rPr lang="en-US" sz="2048">
                          <a:solidFill>
                            <a:srgbClr val="000000"/>
                          </a:solidFill>
                          <a:latin typeface="Poppins"/>
                          <a:ea typeface="Poppins"/>
                          <a:cs typeface="Poppins"/>
                          <a:sym typeface="Poppins"/>
                        </a:rPr>
                        <a:t>Led coordination, interviews, SRS writing, formatting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3471">
                <a:tc>
                  <a:txBody>
                    <a:bodyPr anchor="t" rtlCol="false"/>
                    <a:lstStyle/>
                    <a:p>
                      <a:pPr algn="ctr">
                        <a:lnSpc>
                          <a:spcPts val="2867"/>
                        </a:lnSpc>
                        <a:defRPr/>
                      </a:pPr>
                      <a:r>
                        <a:rPr lang="en-US" sz="2048">
                          <a:solidFill>
                            <a:srgbClr val="000000"/>
                          </a:solidFill>
                          <a:latin typeface="Poppins"/>
                          <a:ea typeface="Poppins"/>
                          <a:cs typeface="Poppins"/>
                          <a:sym typeface="Poppins"/>
                        </a:rPr>
                        <a:t>Quek Jing Xiang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Elicitation Planner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67"/>
                        </a:lnSpc>
                        <a:defRPr/>
                      </a:pPr>
                      <a:r>
                        <a:rPr lang="en-US" sz="2048">
                          <a:solidFill>
                            <a:srgbClr val="000000"/>
                          </a:solidFill>
                          <a:latin typeface="Poppins"/>
                          <a:ea typeface="Poppins"/>
                          <a:cs typeface="Poppins"/>
                          <a:sym typeface="Poppins"/>
                        </a:rPr>
                        <a:t>Prepared Kano Plan, questions, techniques, Finalized SRS Requirements and Verification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3471">
                <a:tc>
                  <a:txBody>
                    <a:bodyPr anchor="t" rtlCol="false"/>
                    <a:lstStyle/>
                    <a:p>
                      <a:pPr algn="ctr">
                        <a:lnSpc>
                          <a:spcPts val="2867"/>
                        </a:lnSpc>
                        <a:defRPr/>
                      </a:pPr>
                      <a:r>
                        <a:rPr lang="en-US" sz="2048">
                          <a:solidFill>
                            <a:srgbClr val="000000"/>
                          </a:solidFill>
                          <a:latin typeface="Poppins"/>
                          <a:ea typeface="Poppins"/>
                          <a:cs typeface="Poppins"/>
                          <a:sym typeface="Poppins"/>
                        </a:rPr>
                        <a:t>Chin Jing Xuan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Elicitation Analyst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67"/>
                        </a:lnSpc>
                        <a:defRPr/>
                      </a:pPr>
                      <a:r>
                        <a:rPr lang="en-US" sz="2048">
                          <a:solidFill>
                            <a:srgbClr val="000000"/>
                          </a:solidFill>
                          <a:latin typeface="Poppins"/>
                          <a:ea typeface="Poppins"/>
                          <a:cs typeface="Poppins"/>
                          <a:sym typeface="Poppins"/>
                        </a:rPr>
                        <a:t>Analyzed responses, Kano categorization, document elicitation outputs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3471">
                <a:tc>
                  <a:txBody>
                    <a:bodyPr anchor="t" rtlCol="false"/>
                    <a:lstStyle/>
                    <a:p>
                      <a:pPr algn="ctr">
                        <a:lnSpc>
                          <a:spcPts val="2867"/>
                        </a:lnSpc>
                        <a:defRPr/>
                      </a:pPr>
                      <a:r>
                        <a:rPr lang="en-US" sz="2048">
                          <a:solidFill>
                            <a:srgbClr val="000000"/>
                          </a:solidFill>
                          <a:latin typeface="Poppins"/>
                          <a:ea typeface="Poppins"/>
                          <a:cs typeface="Poppins"/>
                          <a:sym typeface="Poppins"/>
                        </a:rPr>
                        <a:t>Jahed, Fahad Bin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Documentation Coordinator</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67"/>
                        </a:lnSpc>
                        <a:defRPr/>
                      </a:pPr>
                      <a:r>
                        <a:rPr lang="en-US" sz="2048">
                          <a:solidFill>
                            <a:srgbClr val="000000"/>
                          </a:solidFill>
                          <a:latin typeface="Poppins"/>
                          <a:ea typeface="Poppins"/>
                          <a:cs typeface="Poppins"/>
                          <a:sym typeface="Poppins"/>
                        </a:rPr>
                        <a:t>Finalized SRS intro, references, appendices, and overall documentation coordination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1" id="11"/>
          <p:cNvSpPr txBox="true"/>
          <p:nvPr/>
        </p:nvSpPr>
        <p:spPr>
          <a:xfrm rot="0">
            <a:off x="675495" y="588791"/>
            <a:ext cx="16230600" cy="1445185"/>
          </a:xfrm>
          <a:prstGeom prst="rect">
            <a:avLst/>
          </a:prstGeom>
        </p:spPr>
        <p:txBody>
          <a:bodyPr anchor="t" rtlCol="false" tIns="0" lIns="0" bIns="0" rIns="0">
            <a:spAutoFit/>
          </a:bodyPr>
          <a:lstStyle/>
          <a:p>
            <a:pPr algn="l" marL="0" indent="0" lvl="0">
              <a:lnSpc>
                <a:spcPts val="10992"/>
              </a:lnSpc>
            </a:pPr>
            <a:r>
              <a:rPr lang="en-US" b="true" sz="8455">
                <a:solidFill>
                  <a:srgbClr val="000000"/>
                </a:solidFill>
                <a:latin typeface="Poppins Bold"/>
                <a:ea typeface="Poppins Bold"/>
                <a:cs typeface="Poppins Bold"/>
                <a:sym typeface="Poppins Bold"/>
              </a:rPr>
              <a:t>Task 1b: Team Roles</a:t>
            </a:r>
          </a:p>
        </p:txBody>
      </p:sp>
      <p:sp>
        <p:nvSpPr>
          <p:cNvPr name="TextBox 12" id="12"/>
          <p:cNvSpPr txBox="true"/>
          <p:nvPr/>
        </p:nvSpPr>
        <p:spPr>
          <a:xfrm rot="0">
            <a:off x="675495" y="2138751"/>
            <a:ext cx="6982495"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Role Assignment Table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39419" y="-476590"/>
            <a:ext cx="17133284" cy="11240179"/>
            <a:chOff x="0" y="0"/>
            <a:chExt cx="4512470" cy="2960376"/>
          </a:xfrm>
        </p:grpSpPr>
        <p:sp>
          <p:nvSpPr>
            <p:cNvPr name="Freeform 3" id="3"/>
            <p:cNvSpPr/>
            <p:nvPr/>
          </p:nvSpPr>
          <p:spPr>
            <a:xfrm flipH="false" flipV="false" rot="0">
              <a:off x="0" y="0"/>
              <a:ext cx="4512470" cy="2960376"/>
            </a:xfrm>
            <a:custGeom>
              <a:avLst/>
              <a:gdLst/>
              <a:ahLst/>
              <a:cxnLst/>
              <a:rect r="r" b="b" t="t" l="l"/>
              <a:pathLst>
                <a:path h="2960376" w="4512470">
                  <a:moveTo>
                    <a:pt x="0" y="0"/>
                  </a:moveTo>
                  <a:lnTo>
                    <a:pt x="4512470" y="0"/>
                  </a:lnTo>
                  <a:lnTo>
                    <a:pt x="4512470" y="2960376"/>
                  </a:lnTo>
                  <a:lnTo>
                    <a:pt x="0" y="2960376"/>
                  </a:lnTo>
                  <a:close/>
                </a:path>
              </a:pathLst>
            </a:custGeom>
            <a:solidFill>
              <a:srgbClr val="EAD6B8"/>
            </a:solidFill>
          </p:spPr>
        </p:sp>
        <p:sp>
          <p:nvSpPr>
            <p:cNvPr name="TextBox 4" id="4"/>
            <p:cNvSpPr txBox="true"/>
            <p:nvPr/>
          </p:nvSpPr>
          <p:spPr>
            <a:xfrm>
              <a:off x="0" y="-47625"/>
              <a:ext cx="4512470" cy="3008001"/>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5400000">
            <a:off x="-3055246" y="7815037"/>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662312" y="-869877"/>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2114313" y="3266168"/>
            <a:ext cx="450213" cy="45021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10" id="10"/>
          <p:cNvGrpSpPr/>
          <p:nvPr/>
        </p:nvGrpSpPr>
        <p:grpSpPr>
          <a:xfrm rot="0">
            <a:off x="2114313" y="4281423"/>
            <a:ext cx="450213" cy="45021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13" id="13"/>
          <p:cNvSpPr txBox="true"/>
          <p:nvPr/>
        </p:nvSpPr>
        <p:spPr>
          <a:xfrm rot="0">
            <a:off x="2791731" y="3242497"/>
            <a:ext cx="9329578" cy="440404"/>
          </a:xfrm>
          <a:prstGeom prst="rect">
            <a:avLst/>
          </a:prstGeom>
        </p:spPr>
        <p:txBody>
          <a:bodyPr anchor="t" rtlCol="false" tIns="0" lIns="0" bIns="0" rIns="0">
            <a:spAutoFit/>
          </a:bodyPr>
          <a:lstStyle/>
          <a:p>
            <a:pPr algn="l" marL="0" indent="0" lvl="0">
              <a:lnSpc>
                <a:spcPts val="3550"/>
              </a:lnSpc>
              <a:spcBef>
                <a:spcPct val="0"/>
              </a:spcBef>
            </a:pPr>
            <a:r>
              <a:rPr lang="en-US" b="true" sz="2536">
                <a:solidFill>
                  <a:srgbClr val="000000"/>
                </a:solidFill>
                <a:latin typeface="Inter Bold"/>
                <a:ea typeface="Inter Bold"/>
                <a:cs typeface="Inter Bold"/>
                <a:sym typeface="Inter Bold"/>
              </a:rPr>
              <a:t>WhatsApp</a:t>
            </a:r>
            <a:r>
              <a:rPr lang="en-US" sz="2536">
                <a:solidFill>
                  <a:srgbClr val="000000"/>
                </a:solidFill>
                <a:latin typeface="Inter"/>
                <a:ea typeface="Inter"/>
                <a:cs typeface="Inter"/>
                <a:sym typeface="Inter"/>
              </a:rPr>
              <a:t>: Quick chats, coordination, informal updates</a:t>
            </a:r>
          </a:p>
        </p:txBody>
      </p:sp>
      <p:sp>
        <p:nvSpPr>
          <p:cNvPr name="TextBox 14" id="14"/>
          <p:cNvSpPr txBox="true"/>
          <p:nvPr/>
        </p:nvSpPr>
        <p:spPr>
          <a:xfrm rot="0">
            <a:off x="2791731" y="4257753"/>
            <a:ext cx="9329578" cy="440404"/>
          </a:xfrm>
          <a:prstGeom prst="rect">
            <a:avLst/>
          </a:prstGeom>
        </p:spPr>
        <p:txBody>
          <a:bodyPr anchor="t" rtlCol="false" tIns="0" lIns="0" bIns="0" rIns="0">
            <a:spAutoFit/>
          </a:bodyPr>
          <a:lstStyle/>
          <a:p>
            <a:pPr algn="l" marL="0" indent="0" lvl="0">
              <a:lnSpc>
                <a:spcPts val="3550"/>
              </a:lnSpc>
              <a:spcBef>
                <a:spcPct val="0"/>
              </a:spcBef>
            </a:pPr>
            <a:r>
              <a:rPr lang="en-US" b="true" sz="2536">
                <a:solidFill>
                  <a:srgbClr val="000000"/>
                </a:solidFill>
                <a:latin typeface="Inter Bold"/>
                <a:ea typeface="Inter Bold"/>
                <a:cs typeface="Inter Bold"/>
                <a:sym typeface="Inter Bold"/>
              </a:rPr>
              <a:t>MS Teams</a:t>
            </a:r>
            <a:r>
              <a:rPr lang="en-US" sz="2536">
                <a:solidFill>
                  <a:srgbClr val="000000"/>
                </a:solidFill>
                <a:latin typeface="Inter"/>
                <a:ea typeface="Inter"/>
                <a:cs typeface="Inter"/>
                <a:sym typeface="Inter"/>
              </a:rPr>
              <a:t>: File sharing, formal communication</a:t>
            </a:r>
          </a:p>
        </p:txBody>
      </p:sp>
      <p:sp>
        <p:nvSpPr>
          <p:cNvPr name="TextBox 15" id="15"/>
          <p:cNvSpPr txBox="true"/>
          <p:nvPr/>
        </p:nvSpPr>
        <p:spPr>
          <a:xfrm rot="0">
            <a:off x="2791731" y="5269656"/>
            <a:ext cx="9329578" cy="1783429"/>
          </a:xfrm>
          <a:prstGeom prst="rect">
            <a:avLst/>
          </a:prstGeom>
        </p:spPr>
        <p:txBody>
          <a:bodyPr anchor="t" rtlCol="false" tIns="0" lIns="0" bIns="0" rIns="0">
            <a:spAutoFit/>
          </a:bodyPr>
          <a:lstStyle/>
          <a:p>
            <a:pPr algn="l">
              <a:lnSpc>
                <a:spcPts val="3550"/>
              </a:lnSpc>
            </a:pPr>
            <a:r>
              <a:rPr lang="en-US" sz="2536" b="true">
                <a:solidFill>
                  <a:srgbClr val="000000"/>
                </a:solidFill>
                <a:latin typeface="Inter Bold"/>
                <a:ea typeface="Inter Bold"/>
                <a:cs typeface="Inter Bold"/>
                <a:sym typeface="Inter Bold"/>
              </a:rPr>
              <a:t>Google Docs</a:t>
            </a:r>
            <a:r>
              <a:rPr lang="en-US" sz="2536">
                <a:solidFill>
                  <a:srgbClr val="000000"/>
                </a:solidFill>
                <a:latin typeface="Inter"/>
                <a:ea typeface="Inter"/>
                <a:cs typeface="Inter"/>
                <a:sym typeface="Inter"/>
              </a:rPr>
              <a:t>:</a:t>
            </a:r>
          </a:p>
          <a:p>
            <a:pPr algn="l">
              <a:lnSpc>
                <a:spcPts val="3550"/>
              </a:lnSpc>
            </a:pPr>
            <a:r>
              <a:rPr lang="en-US" sz="2536">
                <a:solidFill>
                  <a:srgbClr val="000000"/>
                </a:solidFill>
                <a:latin typeface="Inter"/>
                <a:ea typeface="Inter"/>
                <a:cs typeface="Inter"/>
                <a:sym typeface="Inter"/>
              </a:rPr>
              <a:t> • Shared workspace</a:t>
            </a:r>
          </a:p>
          <a:p>
            <a:pPr algn="l">
              <a:lnSpc>
                <a:spcPts val="3550"/>
              </a:lnSpc>
            </a:pPr>
            <a:r>
              <a:rPr lang="en-US" sz="2536">
                <a:solidFill>
                  <a:srgbClr val="000000"/>
                </a:solidFill>
                <a:latin typeface="Inter"/>
                <a:ea typeface="Inter"/>
                <a:cs typeface="Inter"/>
                <a:sym typeface="Inter"/>
              </a:rPr>
              <a:t> • Real-time editing &amp; task table</a:t>
            </a:r>
          </a:p>
          <a:p>
            <a:pPr algn="l" marL="0" indent="0" lvl="0">
              <a:lnSpc>
                <a:spcPts val="3550"/>
              </a:lnSpc>
              <a:spcBef>
                <a:spcPct val="0"/>
              </a:spcBef>
            </a:pPr>
            <a:r>
              <a:rPr lang="en-US" sz="2536">
                <a:solidFill>
                  <a:srgbClr val="000000"/>
                </a:solidFill>
                <a:latin typeface="Inter"/>
                <a:ea typeface="Inter"/>
                <a:cs typeface="Inter"/>
                <a:sym typeface="Inter"/>
              </a:rPr>
              <a:t> • Not used in VS Code due to .docx binary format</a:t>
            </a:r>
          </a:p>
        </p:txBody>
      </p:sp>
      <p:sp>
        <p:nvSpPr>
          <p:cNvPr name="TextBox 16" id="16"/>
          <p:cNvSpPr txBox="true"/>
          <p:nvPr/>
        </p:nvSpPr>
        <p:spPr>
          <a:xfrm rot="0">
            <a:off x="1288550" y="685506"/>
            <a:ext cx="10194407" cy="1190625"/>
          </a:xfrm>
          <a:prstGeom prst="rect">
            <a:avLst/>
          </a:prstGeom>
        </p:spPr>
        <p:txBody>
          <a:bodyPr anchor="t" rtlCol="false" tIns="0" lIns="0" bIns="0" rIns="0">
            <a:spAutoFit/>
          </a:bodyPr>
          <a:lstStyle/>
          <a:p>
            <a:pPr algn="l" marL="0" indent="0" lvl="0">
              <a:lnSpc>
                <a:spcPts val="9386"/>
              </a:lnSpc>
            </a:pPr>
            <a:r>
              <a:rPr lang="en-US" b="true" sz="7822">
                <a:solidFill>
                  <a:srgbClr val="705C40"/>
                </a:solidFill>
                <a:latin typeface="Inter Bold"/>
                <a:ea typeface="Inter Bold"/>
                <a:cs typeface="Inter Bold"/>
                <a:sym typeface="Inter Bold"/>
              </a:rPr>
              <a:t>Task 1b: Team Roles</a:t>
            </a:r>
          </a:p>
        </p:txBody>
      </p:sp>
      <p:grpSp>
        <p:nvGrpSpPr>
          <p:cNvPr name="Group 17" id="17"/>
          <p:cNvGrpSpPr/>
          <p:nvPr/>
        </p:nvGrpSpPr>
        <p:grpSpPr>
          <a:xfrm rot="0">
            <a:off x="2114313" y="5293611"/>
            <a:ext cx="450213" cy="4502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20" id="20"/>
          <p:cNvSpPr txBox="true"/>
          <p:nvPr/>
        </p:nvSpPr>
        <p:spPr>
          <a:xfrm rot="0">
            <a:off x="1288550" y="1982686"/>
            <a:ext cx="6167970"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Collaboration Method</a:t>
            </a:r>
          </a:p>
        </p:txBody>
      </p:sp>
      <p:grpSp>
        <p:nvGrpSpPr>
          <p:cNvPr name="Group 21" id="21"/>
          <p:cNvGrpSpPr/>
          <p:nvPr/>
        </p:nvGrpSpPr>
        <p:grpSpPr>
          <a:xfrm rot="0">
            <a:off x="2114313" y="7272160"/>
            <a:ext cx="450213" cy="45021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TextBox 24" id="24"/>
          <p:cNvSpPr txBox="true"/>
          <p:nvPr/>
        </p:nvSpPr>
        <p:spPr>
          <a:xfrm rot="0">
            <a:off x="2791731" y="7215010"/>
            <a:ext cx="9329578" cy="2678779"/>
          </a:xfrm>
          <a:prstGeom prst="rect">
            <a:avLst/>
          </a:prstGeom>
        </p:spPr>
        <p:txBody>
          <a:bodyPr anchor="t" rtlCol="false" tIns="0" lIns="0" bIns="0" rIns="0">
            <a:spAutoFit/>
          </a:bodyPr>
          <a:lstStyle/>
          <a:p>
            <a:pPr algn="l">
              <a:lnSpc>
                <a:spcPts val="3550"/>
              </a:lnSpc>
            </a:pPr>
            <a:r>
              <a:rPr lang="en-US" sz="2536" b="true">
                <a:solidFill>
                  <a:srgbClr val="000000"/>
                </a:solidFill>
                <a:latin typeface="Inter Bold"/>
                <a:ea typeface="Inter Bold"/>
                <a:cs typeface="Inter Bold"/>
                <a:sym typeface="Inter Bold"/>
              </a:rPr>
              <a:t>GitHub Workflow</a:t>
            </a:r>
            <a:r>
              <a:rPr lang="en-US" sz="2536">
                <a:solidFill>
                  <a:srgbClr val="000000"/>
                </a:solidFill>
                <a:latin typeface="Inter"/>
                <a:ea typeface="Inter"/>
                <a:cs typeface="Inter"/>
                <a:sym typeface="Inter"/>
              </a:rPr>
              <a:t>:</a:t>
            </a:r>
          </a:p>
          <a:p>
            <a:pPr algn="l" marL="547582" indent="-273791" lvl="1">
              <a:lnSpc>
                <a:spcPts val="3550"/>
              </a:lnSpc>
              <a:buAutoNum type="arabicPeriod" startAt="1"/>
            </a:pPr>
            <a:r>
              <a:rPr lang="en-US" sz="2536">
                <a:solidFill>
                  <a:srgbClr val="000000"/>
                </a:solidFill>
                <a:latin typeface="Inter"/>
                <a:ea typeface="Inter"/>
                <a:cs typeface="Inter"/>
                <a:sym typeface="Inter"/>
              </a:rPr>
              <a:t>Draft in </a:t>
            </a:r>
            <a:r>
              <a:rPr lang="en-US" sz="2536">
                <a:solidFill>
                  <a:srgbClr val="000000"/>
                </a:solidFill>
                <a:latin typeface="Inter"/>
                <a:ea typeface="Inter"/>
                <a:cs typeface="Inter"/>
                <a:sym typeface="Inter"/>
              </a:rPr>
              <a:t>Google Docs</a:t>
            </a:r>
          </a:p>
          <a:p>
            <a:pPr algn="l" marL="547582" indent="-273791" lvl="1">
              <a:lnSpc>
                <a:spcPts val="3550"/>
              </a:lnSpc>
              <a:buAutoNum type="arabicPeriod" startAt="1"/>
            </a:pPr>
            <a:r>
              <a:rPr lang="en-US" sz="2536">
                <a:solidFill>
                  <a:srgbClr val="000000"/>
                </a:solidFill>
                <a:latin typeface="Inter"/>
                <a:ea typeface="Inter"/>
                <a:cs typeface="Inter"/>
                <a:sym typeface="Inter"/>
              </a:rPr>
              <a:t>Final copy moved to local repo</a:t>
            </a:r>
          </a:p>
          <a:p>
            <a:pPr algn="l" marL="547582" indent="-273791" lvl="1">
              <a:lnSpc>
                <a:spcPts val="3550"/>
              </a:lnSpc>
              <a:buAutoNum type="arabicPeriod" startAt="1"/>
            </a:pPr>
            <a:r>
              <a:rPr lang="en-US" sz="2536">
                <a:solidFill>
                  <a:srgbClr val="000000"/>
                </a:solidFill>
                <a:latin typeface="Inter"/>
                <a:ea typeface="Inter"/>
                <a:cs typeface="Inter"/>
                <a:sym typeface="Inter"/>
              </a:rPr>
              <a:t>git pull → update file → git commit &amp; push</a:t>
            </a:r>
          </a:p>
          <a:p>
            <a:pPr algn="l" marL="547582" indent="-273791" lvl="1">
              <a:lnSpc>
                <a:spcPts val="3550"/>
              </a:lnSpc>
              <a:buAutoNum type="arabicPeriod" startAt="1"/>
            </a:pPr>
            <a:r>
              <a:rPr lang="en-US" sz="2536">
                <a:solidFill>
                  <a:srgbClr val="000000"/>
                </a:solidFill>
                <a:latin typeface="Inter"/>
                <a:ea typeface="Inter"/>
                <a:cs typeface="Inter"/>
                <a:sym typeface="Inter"/>
              </a:rPr>
              <a:t>Tracks contributions, allows future changes</a:t>
            </a:r>
          </a:p>
          <a:p>
            <a:pPr algn="l" marL="0" indent="0" lvl="0">
              <a:lnSpc>
                <a:spcPts val="355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029580" y="-319462"/>
            <a:ext cx="8607914" cy="10979045"/>
            <a:chOff x="0" y="0"/>
            <a:chExt cx="2267105" cy="2891600"/>
          </a:xfrm>
        </p:grpSpPr>
        <p:sp>
          <p:nvSpPr>
            <p:cNvPr name="Freeform 3" id="3"/>
            <p:cNvSpPr/>
            <p:nvPr/>
          </p:nvSpPr>
          <p:spPr>
            <a:xfrm flipH="false" flipV="false" rot="0">
              <a:off x="0" y="0"/>
              <a:ext cx="2267105" cy="2891600"/>
            </a:xfrm>
            <a:custGeom>
              <a:avLst/>
              <a:gdLst/>
              <a:ahLst/>
              <a:cxnLst/>
              <a:rect r="r" b="b" t="t" l="l"/>
              <a:pathLst>
                <a:path h="2891600" w="2267105">
                  <a:moveTo>
                    <a:pt x="0" y="0"/>
                  </a:moveTo>
                  <a:lnTo>
                    <a:pt x="2267105" y="0"/>
                  </a:lnTo>
                  <a:lnTo>
                    <a:pt x="2267105" y="2891600"/>
                  </a:lnTo>
                  <a:lnTo>
                    <a:pt x="0" y="2891600"/>
                  </a:lnTo>
                  <a:close/>
                </a:path>
              </a:pathLst>
            </a:custGeom>
            <a:solidFill>
              <a:srgbClr val="EAD6B8"/>
            </a:solidFill>
          </p:spPr>
        </p:sp>
        <p:sp>
          <p:nvSpPr>
            <p:cNvPr name="TextBox 4" id="4"/>
            <p:cNvSpPr txBox="true"/>
            <p:nvPr/>
          </p:nvSpPr>
          <p:spPr>
            <a:xfrm>
              <a:off x="0" y="-47625"/>
              <a:ext cx="2267105" cy="2939225"/>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931726" y="1285206"/>
            <a:ext cx="3086100" cy="1178743"/>
            <a:chOff x="0" y="0"/>
            <a:chExt cx="812800" cy="310451"/>
          </a:xfrm>
        </p:grpSpPr>
        <p:sp>
          <p:nvSpPr>
            <p:cNvPr name="Freeform 6" id="6"/>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7" id="7"/>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TextBox 8" id="8"/>
          <p:cNvSpPr txBox="true"/>
          <p:nvPr/>
        </p:nvSpPr>
        <p:spPr>
          <a:xfrm rot="0">
            <a:off x="611324" y="154553"/>
            <a:ext cx="10116639"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000000"/>
                </a:solidFill>
                <a:latin typeface="Poppins Bold"/>
                <a:ea typeface="Poppins Bold"/>
                <a:cs typeface="Poppins Bold"/>
                <a:sym typeface="Poppins Bold"/>
              </a:rPr>
              <a:t>Task 2: Context Sources</a:t>
            </a:r>
          </a:p>
        </p:txBody>
      </p:sp>
      <p:sp>
        <p:nvSpPr>
          <p:cNvPr name="TextBox 9" id="9"/>
          <p:cNvSpPr txBox="true"/>
          <p:nvPr/>
        </p:nvSpPr>
        <p:spPr>
          <a:xfrm rot="0">
            <a:off x="611324" y="2955356"/>
            <a:ext cx="7382021" cy="2657352"/>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Usage Facet</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Students</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Faculty and Staff</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Parking Management Administration</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Campus Security</a:t>
            </a:r>
          </a:p>
        </p:txBody>
      </p:sp>
      <p:sp>
        <p:nvSpPr>
          <p:cNvPr name="TextBox 10" id="10"/>
          <p:cNvSpPr txBox="true"/>
          <p:nvPr/>
        </p:nvSpPr>
        <p:spPr>
          <a:xfrm rot="0">
            <a:off x="611324" y="1450680"/>
            <a:ext cx="1011663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Context Objects</a:t>
            </a:r>
          </a:p>
        </p:txBody>
      </p:sp>
      <p:sp>
        <p:nvSpPr>
          <p:cNvPr name="TextBox 11" id="11"/>
          <p:cNvSpPr txBox="true"/>
          <p:nvPr/>
        </p:nvSpPr>
        <p:spPr>
          <a:xfrm rot="0">
            <a:off x="611324" y="6444600"/>
            <a:ext cx="7382021" cy="2123952"/>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Subject Facet</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Parking Lots</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Ride Requests and Offers</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User Accounts</a:t>
            </a:r>
          </a:p>
        </p:txBody>
      </p:sp>
      <p:sp>
        <p:nvSpPr>
          <p:cNvPr name="TextBox 12" id="12"/>
          <p:cNvSpPr txBox="true"/>
          <p:nvPr/>
        </p:nvSpPr>
        <p:spPr>
          <a:xfrm rot="0">
            <a:off x="10642526" y="1147128"/>
            <a:ext cx="7382021" cy="3190752"/>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IT System Facet</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Campus Parking Management System</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MMU IDM System</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GPS / Map Integration Services</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Mobile Devices</a:t>
            </a:r>
          </a:p>
        </p:txBody>
      </p:sp>
      <p:sp>
        <p:nvSpPr>
          <p:cNvPr name="TextBox 13" id="13"/>
          <p:cNvSpPr txBox="true"/>
          <p:nvPr/>
        </p:nvSpPr>
        <p:spPr>
          <a:xfrm rot="0">
            <a:off x="10642526" y="4784094"/>
            <a:ext cx="7382021" cy="1590552"/>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Development Context</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System Developers</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UI / UX Designers</a:t>
            </a:r>
          </a:p>
        </p:txBody>
      </p:sp>
      <p:sp>
        <p:nvSpPr>
          <p:cNvPr name="TextBox 14" id="14"/>
          <p:cNvSpPr txBox="true"/>
          <p:nvPr/>
        </p:nvSpPr>
        <p:spPr>
          <a:xfrm rot="0">
            <a:off x="10642526" y="6938994"/>
            <a:ext cx="7382021" cy="2123952"/>
          </a:xfrm>
          <a:prstGeom prst="rect">
            <a:avLst/>
          </a:prstGeom>
        </p:spPr>
        <p:txBody>
          <a:bodyPr anchor="t" rtlCol="false" tIns="0" lIns="0" bIns="0" rIns="0">
            <a:spAutoFit/>
          </a:bodyPr>
          <a:lstStyle/>
          <a:p>
            <a:pPr algn="l">
              <a:lnSpc>
                <a:spcPts val="4206"/>
              </a:lnSpc>
            </a:pPr>
            <a:r>
              <a:rPr lang="en-US" sz="3004" b="true">
                <a:solidFill>
                  <a:srgbClr val="000000"/>
                </a:solidFill>
                <a:latin typeface="Inter Bold"/>
                <a:ea typeface="Inter Bold"/>
                <a:cs typeface="Inter Bold"/>
                <a:sym typeface="Inter Bold"/>
              </a:rPr>
              <a:t>Requirement Engineering Context</a:t>
            </a:r>
          </a:p>
          <a:p>
            <a:pPr algn="l" marL="648748" indent="-324374" lvl="1">
              <a:lnSpc>
                <a:spcPts val="4206"/>
              </a:lnSpc>
              <a:spcBef>
                <a:spcPct val="0"/>
              </a:spcBef>
              <a:buFont typeface="Arial"/>
              <a:buChar char="•"/>
            </a:pPr>
            <a:r>
              <a:rPr lang="en-US" sz="3004">
                <a:solidFill>
                  <a:srgbClr val="000000"/>
                </a:solidFill>
                <a:latin typeface="Inter"/>
                <a:ea typeface="Inter"/>
                <a:cs typeface="Inter"/>
                <a:sym typeface="Inter"/>
              </a:rPr>
              <a:t>University IT Department</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Legal / Policy Teams</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Project Stakeholders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739857" y="-319462"/>
            <a:ext cx="9897636" cy="10979045"/>
            <a:chOff x="0" y="0"/>
            <a:chExt cx="2606785" cy="2891600"/>
          </a:xfrm>
        </p:grpSpPr>
        <p:sp>
          <p:nvSpPr>
            <p:cNvPr name="Freeform 3" id="3"/>
            <p:cNvSpPr/>
            <p:nvPr/>
          </p:nvSpPr>
          <p:spPr>
            <a:xfrm flipH="false" flipV="false" rot="0">
              <a:off x="0" y="0"/>
              <a:ext cx="2606785" cy="2891600"/>
            </a:xfrm>
            <a:custGeom>
              <a:avLst/>
              <a:gdLst/>
              <a:ahLst/>
              <a:cxnLst/>
              <a:rect r="r" b="b" t="t" l="l"/>
              <a:pathLst>
                <a:path h="2891600" w="2606785">
                  <a:moveTo>
                    <a:pt x="0" y="0"/>
                  </a:moveTo>
                  <a:lnTo>
                    <a:pt x="2606785" y="0"/>
                  </a:lnTo>
                  <a:lnTo>
                    <a:pt x="2606785" y="2891600"/>
                  </a:lnTo>
                  <a:lnTo>
                    <a:pt x="0" y="2891600"/>
                  </a:lnTo>
                  <a:close/>
                </a:path>
              </a:pathLst>
            </a:custGeom>
            <a:solidFill>
              <a:srgbClr val="EAD6B8"/>
            </a:solidFill>
          </p:spPr>
        </p:sp>
        <p:sp>
          <p:nvSpPr>
            <p:cNvPr name="TextBox 4" id="4"/>
            <p:cNvSpPr txBox="true"/>
            <p:nvPr/>
          </p:nvSpPr>
          <p:spPr>
            <a:xfrm>
              <a:off x="0" y="-47625"/>
              <a:ext cx="2606785" cy="2939225"/>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931726" y="1803174"/>
            <a:ext cx="3086100" cy="1178743"/>
            <a:chOff x="0" y="0"/>
            <a:chExt cx="812800" cy="310451"/>
          </a:xfrm>
        </p:grpSpPr>
        <p:sp>
          <p:nvSpPr>
            <p:cNvPr name="Freeform 6" id="6"/>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7" id="7"/>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TextBox 8" id="8"/>
          <p:cNvSpPr txBox="true"/>
          <p:nvPr/>
        </p:nvSpPr>
        <p:spPr>
          <a:xfrm rot="0">
            <a:off x="611324" y="154553"/>
            <a:ext cx="10116639"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000000"/>
                </a:solidFill>
                <a:latin typeface="Poppins Bold"/>
                <a:ea typeface="Poppins Bold"/>
                <a:cs typeface="Poppins Bold"/>
                <a:sym typeface="Poppins Bold"/>
              </a:rPr>
              <a:t>Task 2: Context Sources</a:t>
            </a:r>
          </a:p>
        </p:txBody>
      </p:sp>
      <p:sp>
        <p:nvSpPr>
          <p:cNvPr name="TextBox 9" id="9"/>
          <p:cNvSpPr txBox="true"/>
          <p:nvPr/>
        </p:nvSpPr>
        <p:spPr>
          <a:xfrm rot="0">
            <a:off x="1028700" y="3782017"/>
            <a:ext cx="6565197" cy="3190752"/>
          </a:xfrm>
          <a:prstGeom prst="rect">
            <a:avLst/>
          </a:prstGeom>
        </p:spPr>
        <p:txBody>
          <a:bodyPr anchor="t" rtlCol="false" tIns="0" lIns="0" bIns="0" rIns="0">
            <a:spAutoFit/>
          </a:bodyPr>
          <a:lstStyle/>
          <a:p>
            <a:pPr algn="l">
              <a:lnSpc>
                <a:spcPts val="4206"/>
              </a:lnSpc>
            </a:pPr>
            <a:r>
              <a:rPr lang="en-US" sz="3004" b="true">
                <a:solidFill>
                  <a:srgbClr val="000000"/>
                </a:solidFill>
                <a:latin typeface="Inter Bold"/>
                <a:ea typeface="Inter Bold"/>
                <a:cs typeface="Inter Bold"/>
                <a:sym typeface="Inter Bold"/>
              </a:rPr>
              <a:t>Stakeholders</a:t>
            </a:r>
          </a:p>
          <a:p>
            <a:pPr algn="l" marL="648748" indent="-324374" lvl="1">
              <a:lnSpc>
                <a:spcPts val="4206"/>
              </a:lnSpc>
              <a:buFont typeface="Arial"/>
              <a:buChar char="•"/>
            </a:pPr>
            <a:r>
              <a:rPr lang="en-US" sz="3004">
                <a:solidFill>
                  <a:srgbClr val="000000"/>
                </a:solidFill>
                <a:latin typeface="Inter"/>
                <a:ea typeface="Inter"/>
                <a:cs typeface="Inter"/>
                <a:sym typeface="Inter"/>
              </a:rPr>
              <a:t>Students</a:t>
            </a:r>
          </a:p>
          <a:p>
            <a:pPr algn="l" marL="648748" indent="-324374" lvl="1">
              <a:lnSpc>
                <a:spcPts val="4206"/>
              </a:lnSpc>
              <a:buFont typeface="Arial"/>
              <a:buChar char="•"/>
            </a:pPr>
            <a:r>
              <a:rPr lang="en-US" sz="3004">
                <a:solidFill>
                  <a:srgbClr val="000000"/>
                </a:solidFill>
                <a:latin typeface="Inter"/>
                <a:ea typeface="Inter"/>
                <a:cs typeface="Inter"/>
                <a:sym typeface="Inter"/>
              </a:rPr>
              <a:t>Faculty and Staff</a:t>
            </a:r>
          </a:p>
          <a:p>
            <a:pPr algn="l" marL="648748" indent="-324374" lvl="1">
              <a:lnSpc>
                <a:spcPts val="4206"/>
              </a:lnSpc>
              <a:buFont typeface="Arial"/>
              <a:buChar char="•"/>
            </a:pPr>
            <a:r>
              <a:rPr lang="en-US" sz="3004">
                <a:solidFill>
                  <a:srgbClr val="000000"/>
                </a:solidFill>
                <a:latin typeface="Inter"/>
                <a:ea typeface="Inter"/>
                <a:cs typeface="Inter"/>
                <a:sym typeface="Inter"/>
              </a:rPr>
              <a:t>Campus IT Department</a:t>
            </a:r>
          </a:p>
          <a:p>
            <a:pPr algn="l" marL="648748" indent="-324374" lvl="1">
              <a:lnSpc>
                <a:spcPts val="4206"/>
              </a:lnSpc>
              <a:spcBef>
                <a:spcPct val="0"/>
              </a:spcBef>
              <a:buFont typeface="Arial"/>
              <a:buChar char="•"/>
            </a:pPr>
            <a:r>
              <a:rPr lang="en-US" sz="3004">
                <a:solidFill>
                  <a:srgbClr val="000000"/>
                </a:solidFill>
                <a:latin typeface="Inter"/>
                <a:ea typeface="Inter"/>
                <a:cs typeface="Inter"/>
                <a:sym typeface="Inter"/>
              </a:rPr>
              <a:t>Parking Management Administration</a:t>
            </a:r>
          </a:p>
        </p:txBody>
      </p:sp>
      <p:sp>
        <p:nvSpPr>
          <p:cNvPr name="TextBox 10" id="10"/>
          <p:cNvSpPr txBox="true"/>
          <p:nvPr/>
        </p:nvSpPr>
        <p:spPr>
          <a:xfrm rot="0">
            <a:off x="1028700" y="1968648"/>
            <a:ext cx="5946535"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Requirement Sources</a:t>
            </a:r>
          </a:p>
        </p:txBody>
      </p:sp>
      <p:sp>
        <p:nvSpPr>
          <p:cNvPr name="TextBox 11" id="11"/>
          <p:cNvSpPr txBox="true"/>
          <p:nvPr/>
        </p:nvSpPr>
        <p:spPr>
          <a:xfrm rot="0">
            <a:off x="9637752" y="6039883"/>
            <a:ext cx="5834354" cy="2123952"/>
          </a:xfrm>
          <a:prstGeom prst="rect">
            <a:avLst/>
          </a:prstGeom>
        </p:spPr>
        <p:txBody>
          <a:bodyPr anchor="t" rtlCol="false" tIns="0" lIns="0" bIns="0" rIns="0">
            <a:spAutoFit/>
          </a:bodyPr>
          <a:lstStyle/>
          <a:p>
            <a:pPr algn="l">
              <a:lnSpc>
                <a:spcPts val="4206"/>
              </a:lnSpc>
            </a:pPr>
            <a:r>
              <a:rPr lang="en-US" sz="3004" b="true">
                <a:solidFill>
                  <a:srgbClr val="000000"/>
                </a:solidFill>
                <a:latin typeface="Inter Bold"/>
                <a:ea typeface="Inter Bold"/>
                <a:cs typeface="Inter Bold"/>
                <a:sym typeface="Inter Bold"/>
              </a:rPr>
              <a:t>Existing Systems</a:t>
            </a:r>
          </a:p>
          <a:p>
            <a:pPr algn="l" marL="648748" indent="-324374" lvl="1">
              <a:lnSpc>
                <a:spcPts val="4206"/>
              </a:lnSpc>
              <a:buFont typeface="Arial"/>
              <a:buChar char="•"/>
            </a:pPr>
            <a:r>
              <a:rPr lang="en-US" sz="3004">
                <a:solidFill>
                  <a:srgbClr val="000000"/>
                </a:solidFill>
                <a:latin typeface="Inter"/>
                <a:ea typeface="Inter"/>
                <a:cs typeface="Inter"/>
                <a:sym typeface="Inter"/>
              </a:rPr>
              <a:t>Campus Parking Management System</a:t>
            </a:r>
          </a:p>
          <a:p>
            <a:pPr algn="l" marL="648748" indent="-324374" lvl="1">
              <a:lnSpc>
                <a:spcPts val="4206"/>
              </a:lnSpc>
              <a:spcBef>
                <a:spcPct val="0"/>
              </a:spcBef>
              <a:buFont typeface="Arial"/>
              <a:buChar char="•"/>
            </a:pPr>
            <a:r>
              <a:rPr lang="en-US" sz="3004">
                <a:solidFill>
                  <a:srgbClr val="000000"/>
                </a:solidFill>
                <a:latin typeface="Inter"/>
                <a:ea typeface="Inter"/>
                <a:cs typeface="Inter"/>
                <a:sym typeface="Inter"/>
              </a:rPr>
              <a:t>MMU IDM System</a:t>
            </a:r>
          </a:p>
        </p:txBody>
      </p:sp>
      <p:sp>
        <p:nvSpPr>
          <p:cNvPr name="TextBox 12" id="12"/>
          <p:cNvSpPr txBox="true"/>
          <p:nvPr/>
        </p:nvSpPr>
        <p:spPr>
          <a:xfrm rot="0">
            <a:off x="9637752" y="2512708"/>
            <a:ext cx="5834354" cy="2657352"/>
          </a:xfrm>
          <a:prstGeom prst="rect">
            <a:avLst/>
          </a:prstGeom>
        </p:spPr>
        <p:txBody>
          <a:bodyPr anchor="t" rtlCol="false" tIns="0" lIns="0" bIns="0" rIns="0">
            <a:spAutoFit/>
          </a:bodyPr>
          <a:lstStyle/>
          <a:p>
            <a:pPr algn="l">
              <a:lnSpc>
                <a:spcPts val="4206"/>
              </a:lnSpc>
            </a:pPr>
            <a:r>
              <a:rPr lang="en-US" sz="3004" b="true">
                <a:solidFill>
                  <a:srgbClr val="000000"/>
                </a:solidFill>
                <a:latin typeface="Inter Bold"/>
                <a:ea typeface="Inter Bold"/>
                <a:cs typeface="Inter Bold"/>
                <a:sym typeface="Inter Bold"/>
              </a:rPr>
              <a:t>Documents</a:t>
            </a:r>
          </a:p>
          <a:p>
            <a:pPr algn="l" marL="648748" indent="-324374" lvl="1">
              <a:lnSpc>
                <a:spcPts val="4206"/>
              </a:lnSpc>
              <a:buFont typeface="Arial"/>
              <a:buChar char="•"/>
            </a:pPr>
            <a:r>
              <a:rPr lang="en-US" sz="3004">
                <a:solidFill>
                  <a:srgbClr val="000000"/>
                </a:solidFill>
                <a:latin typeface="Inter"/>
                <a:ea typeface="Inter"/>
                <a:cs typeface="Inter"/>
                <a:sym typeface="Inter"/>
              </a:rPr>
              <a:t>MMU Student Handbook 2021 / 2022</a:t>
            </a:r>
          </a:p>
          <a:p>
            <a:pPr algn="l" marL="648748" indent="-324374" lvl="1">
              <a:lnSpc>
                <a:spcPts val="4206"/>
              </a:lnSpc>
              <a:spcBef>
                <a:spcPct val="0"/>
              </a:spcBef>
              <a:buFont typeface="Arial"/>
              <a:buChar char="•"/>
            </a:pPr>
            <a:r>
              <a:rPr lang="en-US" sz="3004">
                <a:solidFill>
                  <a:srgbClr val="000000"/>
                </a:solidFill>
                <a:latin typeface="Inter"/>
                <a:ea typeface="Inter"/>
                <a:cs typeface="Inter"/>
                <a:sym typeface="Inter"/>
              </a:rPr>
              <a:t>MMU </a:t>
            </a:r>
            <a:r>
              <a:rPr lang="en-US" sz="3004">
                <a:solidFill>
                  <a:srgbClr val="000000"/>
                </a:solidFill>
                <a:latin typeface="Inter"/>
                <a:ea typeface="Inter"/>
                <a:cs typeface="Inter"/>
                <a:sym typeface="Inter"/>
              </a:rPr>
              <a:t>Privacy Notice         (26 September 2022)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39857" y="-319462"/>
            <a:ext cx="9897636" cy="10979045"/>
            <a:chOff x="0" y="0"/>
            <a:chExt cx="2606785" cy="2891600"/>
          </a:xfrm>
        </p:grpSpPr>
        <p:sp>
          <p:nvSpPr>
            <p:cNvPr name="Freeform 3" id="3"/>
            <p:cNvSpPr/>
            <p:nvPr/>
          </p:nvSpPr>
          <p:spPr>
            <a:xfrm flipH="false" flipV="false" rot="0">
              <a:off x="0" y="0"/>
              <a:ext cx="2606785" cy="2891600"/>
            </a:xfrm>
            <a:custGeom>
              <a:avLst/>
              <a:gdLst/>
              <a:ahLst/>
              <a:cxnLst/>
              <a:rect r="r" b="b" t="t" l="l"/>
              <a:pathLst>
                <a:path h="2891600" w="2606785">
                  <a:moveTo>
                    <a:pt x="0" y="0"/>
                  </a:moveTo>
                  <a:lnTo>
                    <a:pt x="2606785" y="0"/>
                  </a:lnTo>
                  <a:lnTo>
                    <a:pt x="2606785" y="2891600"/>
                  </a:lnTo>
                  <a:lnTo>
                    <a:pt x="0" y="2891600"/>
                  </a:lnTo>
                  <a:close/>
                </a:path>
              </a:pathLst>
            </a:custGeom>
            <a:solidFill>
              <a:srgbClr val="EAD6B8"/>
            </a:solidFill>
          </p:spPr>
        </p:sp>
        <p:sp>
          <p:nvSpPr>
            <p:cNvPr name="TextBox 4" id="4"/>
            <p:cNvSpPr txBox="true"/>
            <p:nvPr/>
          </p:nvSpPr>
          <p:spPr>
            <a:xfrm>
              <a:off x="0" y="-47625"/>
              <a:ext cx="2606785" cy="2939225"/>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931726" y="1803174"/>
            <a:ext cx="3086100" cy="1178743"/>
            <a:chOff x="0" y="0"/>
            <a:chExt cx="812800" cy="310451"/>
          </a:xfrm>
        </p:grpSpPr>
        <p:sp>
          <p:nvSpPr>
            <p:cNvPr name="Freeform 6" id="6"/>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7" id="7"/>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2399863" y="5943488"/>
            <a:ext cx="4575372" cy="4343512"/>
          </a:xfrm>
          <a:custGeom>
            <a:avLst/>
            <a:gdLst/>
            <a:ahLst/>
            <a:cxnLst/>
            <a:rect r="r" b="b" t="t" l="l"/>
            <a:pathLst>
              <a:path h="4343512" w="4575372">
                <a:moveTo>
                  <a:pt x="0" y="0"/>
                </a:moveTo>
                <a:lnTo>
                  <a:pt x="4575372" y="0"/>
                </a:lnTo>
                <a:lnTo>
                  <a:pt x="4575372" y="4343512"/>
                </a:lnTo>
                <a:lnTo>
                  <a:pt x="0" y="4343512"/>
                </a:lnTo>
                <a:lnTo>
                  <a:pt x="0" y="0"/>
                </a:lnTo>
                <a:close/>
              </a:path>
            </a:pathLst>
          </a:custGeom>
          <a:blipFill>
            <a:blip r:embed="rId2"/>
            <a:stretch>
              <a:fillRect l="0" t="0" r="0" b="0"/>
            </a:stretch>
          </a:blipFill>
        </p:spPr>
      </p:sp>
      <p:sp>
        <p:nvSpPr>
          <p:cNvPr name="Freeform 9" id="9"/>
          <p:cNvSpPr/>
          <p:nvPr/>
        </p:nvSpPr>
        <p:spPr>
          <a:xfrm flipH="false" flipV="false" rot="0">
            <a:off x="8739857" y="5933138"/>
            <a:ext cx="5066995" cy="4353862"/>
          </a:xfrm>
          <a:custGeom>
            <a:avLst/>
            <a:gdLst/>
            <a:ahLst/>
            <a:cxnLst/>
            <a:rect r="r" b="b" t="t" l="l"/>
            <a:pathLst>
              <a:path h="4353862" w="5066995">
                <a:moveTo>
                  <a:pt x="0" y="0"/>
                </a:moveTo>
                <a:lnTo>
                  <a:pt x="5066994" y="0"/>
                </a:lnTo>
                <a:lnTo>
                  <a:pt x="5066994" y="4353862"/>
                </a:lnTo>
                <a:lnTo>
                  <a:pt x="0" y="4353862"/>
                </a:lnTo>
                <a:lnTo>
                  <a:pt x="0" y="0"/>
                </a:lnTo>
                <a:close/>
              </a:path>
            </a:pathLst>
          </a:custGeom>
          <a:blipFill>
            <a:blip r:embed="rId3"/>
            <a:stretch>
              <a:fillRect l="0" t="0" r="0" b="0"/>
            </a:stretch>
          </a:blipFill>
        </p:spPr>
      </p:sp>
      <p:sp>
        <p:nvSpPr>
          <p:cNvPr name="TextBox 10" id="10"/>
          <p:cNvSpPr txBox="true"/>
          <p:nvPr/>
        </p:nvSpPr>
        <p:spPr>
          <a:xfrm rot="0">
            <a:off x="611324" y="154553"/>
            <a:ext cx="10116639"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000000"/>
                </a:solidFill>
                <a:latin typeface="Poppins Bold"/>
                <a:ea typeface="Poppins Bold"/>
                <a:cs typeface="Poppins Bold"/>
                <a:sym typeface="Poppins Bold"/>
              </a:rPr>
              <a:t>Task 3: Kano model</a:t>
            </a:r>
          </a:p>
        </p:txBody>
      </p:sp>
      <p:sp>
        <p:nvSpPr>
          <p:cNvPr name="TextBox 11" id="11"/>
          <p:cNvSpPr txBox="true"/>
          <p:nvPr/>
        </p:nvSpPr>
        <p:spPr>
          <a:xfrm rot="0">
            <a:off x="814626" y="3505792"/>
            <a:ext cx="15097558" cy="2123952"/>
          </a:xfrm>
          <a:prstGeom prst="rect">
            <a:avLst/>
          </a:prstGeom>
        </p:spPr>
        <p:txBody>
          <a:bodyPr anchor="t" rtlCol="false" tIns="0" lIns="0" bIns="0" rIns="0">
            <a:spAutoFit/>
          </a:bodyPr>
          <a:lstStyle/>
          <a:p>
            <a:pPr algn="l" marL="648748" indent="-324374" lvl="1">
              <a:lnSpc>
                <a:spcPts val="4206"/>
              </a:lnSpc>
              <a:buFont typeface="Arial"/>
              <a:buChar char="•"/>
            </a:pPr>
            <a:r>
              <a:rPr lang="en-US" sz="3004">
                <a:solidFill>
                  <a:srgbClr val="000000"/>
                </a:solidFill>
                <a:latin typeface="Inter"/>
                <a:ea typeface="Inter"/>
                <a:cs typeface="Inter"/>
                <a:sym typeface="Inter"/>
              </a:rPr>
              <a:t>analysis tool that enables you to understand how customer emotional responses to products or features can be measured and explored.</a:t>
            </a:r>
          </a:p>
          <a:p>
            <a:pPr algn="l" marL="648748" indent="-324374" lvl="1">
              <a:lnSpc>
                <a:spcPts val="4206"/>
              </a:lnSpc>
              <a:spcBef>
                <a:spcPct val="0"/>
              </a:spcBef>
              <a:buFont typeface="Arial"/>
              <a:buChar char="•"/>
            </a:pPr>
            <a:r>
              <a:rPr lang="en-US" sz="3004" strike="noStrike" u="none">
                <a:solidFill>
                  <a:srgbClr val="000000"/>
                </a:solidFill>
                <a:latin typeface="Inter"/>
                <a:ea typeface="Inter"/>
                <a:cs typeface="Inter"/>
                <a:sym typeface="Inter"/>
              </a:rPr>
              <a:t>can be used to categorise product features across two-axis scales: </a:t>
            </a:r>
            <a:r>
              <a:rPr lang="en-US" b="true" sz="3004" i="true" strike="noStrike" u="none">
                <a:solidFill>
                  <a:srgbClr val="000000"/>
                </a:solidFill>
                <a:latin typeface="Inter Bold Italics"/>
                <a:ea typeface="Inter Bold Italics"/>
                <a:cs typeface="Inter Bold Italics"/>
                <a:sym typeface="Inter Bold Italics"/>
              </a:rPr>
              <a:t>Functionality</a:t>
            </a:r>
            <a:r>
              <a:rPr lang="en-US" sz="3004" strike="noStrike" u="none">
                <a:solidFill>
                  <a:srgbClr val="000000"/>
                </a:solidFill>
                <a:latin typeface="Inter"/>
                <a:ea typeface="Inter"/>
                <a:cs typeface="Inter"/>
                <a:sym typeface="Inter"/>
              </a:rPr>
              <a:t> &amp; </a:t>
            </a:r>
            <a:r>
              <a:rPr lang="en-US" b="true" sz="3004" i="true" strike="noStrike" u="none">
                <a:solidFill>
                  <a:srgbClr val="000000"/>
                </a:solidFill>
                <a:latin typeface="Inter Bold Italics"/>
                <a:ea typeface="Inter Bold Italics"/>
                <a:cs typeface="Inter Bold Italics"/>
                <a:sym typeface="Inter Bold Italics"/>
              </a:rPr>
              <a:t>Satisfaction</a:t>
            </a:r>
          </a:p>
        </p:txBody>
      </p:sp>
      <p:sp>
        <p:nvSpPr>
          <p:cNvPr name="TextBox 12" id="12"/>
          <p:cNvSpPr txBox="true"/>
          <p:nvPr/>
        </p:nvSpPr>
        <p:spPr>
          <a:xfrm rot="0">
            <a:off x="1028700" y="1968648"/>
            <a:ext cx="5946535"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What is it?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39857" y="-319462"/>
            <a:ext cx="9897636" cy="10979045"/>
            <a:chOff x="0" y="0"/>
            <a:chExt cx="2606785" cy="2891600"/>
          </a:xfrm>
        </p:grpSpPr>
        <p:sp>
          <p:nvSpPr>
            <p:cNvPr name="Freeform 3" id="3"/>
            <p:cNvSpPr/>
            <p:nvPr/>
          </p:nvSpPr>
          <p:spPr>
            <a:xfrm flipH="false" flipV="false" rot="0">
              <a:off x="0" y="0"/>
              <a:ext cx="2606785" cy="2891600"/>
            </a:xfrm>
            <a:custGeom>
              <a:avLst/>
              <a:gdLst/>
              <a:ahLst/>
              <a:cxnLst/>
              <a:rect r="r" b="b" t="t" l="l"/>
              <a:pathLst>
                <a:path h="2891600" w="2606785">
                  <a:moveTo>
                    <a:pt x="0" y="0"/>
                  </a:moveTo>
                  <a:lnTo>
                    <a:pt x="2606785" y="0"/>
                  </a:lnTo>
                  <a:lnTo>
                    <a:pt x="2606785" y="2891600"/>
                  </a:lnTo>
                  <a:lnTo>
                    <a:pt x="0" y="2891600"/>
                  </a:lnTo>
                  <a:close/>
                </a:path>
              </a:pathLst>
            </a:custGeom>
            <a:solidFill>
              <a:srgbClr val="EAD6B8"/>
            </a:solidFill>
          </p:spPr>
        </p:sp>
        <p:sp>
          <p:nvSpPr>
            <p:cNvPr name="TextBox 4" id="4"/>
            <p:cNvSpPr txBox="true"/>
            <p:nvPr/>
          </p:nvSpPr>
          <p:spPr>
            <a:xfrm>
              <a:off x="0" y="-47625"/>
              <a:ext cx="2606785" cy="2939225"/>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931726" y="1803174"/>
            <a:ext cx="3086100" cy="1178743"/>
            <a:chOff x="0" y="0"/>
            <a:chExt cx="812800" cy="310451"/>
          </a:xfrm>
        </p:grpSpPr>
        <p:sp>
          <p:nvSpPr>
            <p:cNvPr name="Freeform 6" id="6"/>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7" id="7"/>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2228096" y="1213803"/>
            <a:ext cx="13831809" cy="8832785"/>
          </a:xfrm>
          <a:custGeom>
            <a:avLst/>
            <a:gdLst/>
            <a:ahLst/>
            <a:cxnLst/>
            <a:rect r="r" b="b" t="t" l="l"/>
            <a:pathLst>
              <a:path h="8832785" w="13831809">
                <a:moveTo>
                  <a:pt x="0" y="0"/>
                </a:moveTo>
                <a:lnTo>
                  <a:pt x="13831808" y="0"/>
                </a:lnTo>
                <a:lnTo>
                  <a:pt x="13831808" y="8832785"/>
                </a:lnTo>
                <a:lnTo>
                  <a:pt x="0" y="8832785"/>
                </a:lnTo>
                <a:lnTo>
                  <a:pt x="0" y="0"/>
                </a:lnTo>
                <a:close/>
              </a:path>
            </a:pathLst>
          </a:custGeom>
          <a:blipFill>
            <a:blip r:embed="rId2"/>
            <a:stretch>
              <a:fillRect l="0" t="-110" r="0" b="-110"/>
            </a:stretch>
          </a:blipFill>
        </p:spPr>
      </p:sp>
      <p:sp>
        <p:nvSpPr>
          <p:cNvPr name="TextBox 9" id="9"/>
          <p:cNvSpPr txBox="true"/>
          <p:nvPr/>
        </p:nvSpPr>
        <p:spPr>
          <a:xfrm rot="0">
            <a:off x="611324" y="154553"/>
            <a:ext cx="10116639"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000000"/>
                </a:solidFill>
                <a:latin typeface="Poppins Bold"/>
                <a:ea typeface="Poppins Bold"/>
                <a:cs typeface="Poppins Bold"/>
                <a:sym typeface="Poppins Bold"/>
              </a:rPr>
              <a:t>Task 3: Kano model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739857" y="-319462"/>
            <a:ext cx="9897636" cy="10979045"/>
            <a:chOff x="0" y="0"/>
            <a:chExt cx="2606785" cy="2891600"/>
          </a:xfrm>
        </p:grpSpPr>
        <p:sp>
          <p:nvSpPr>
            <p:cNvPr name="Freeform 3" id="3"/>
            <p:cNvSpPr/>
            <p:nvPr/>
          </p:nvSpPr>
          <p:spPr>
            <a:xfrm flipH="false" flipV="false" rot="0">
              <a:off x="0" y="0"/>
              <a:ext cx="2606785" cy="2891600"/>
            </a:xfrm>
            <a:custGeom>
              <a:avLst/>
              <a:gdLst/>
              <a:ahLst/>
              <a:cxnLst/>
              <a:rect r="r" b="b" t="t" l="l"/>
              <a:pathLst>
                <a:path h="2891600" w="2606785">
                  <a:moveTo>
                    <a:pt x="0" y="0"/>
                  </a:moveTo>
                  <a:lnTo>
                    <a:pt x="2606785" y="0"/>
                  </a:lnTo>
                  <a:lnTo>
                    <a:pt x="2606785" y="2891600"/>
                  </a:lnTo>
                  <a:lnTo>
                    <a:pt x="0" y="2891600"/>
                  </a:lnTo>
                  <a:close/>
                </a:path>
              </a:pathLst>
            </a:custGeom>
            <a:solidFill>
              <a:srgbClr val="EAD6B8"/>
            </a:solidFill>
          </p:spPr>
        </p:sp>
        <p:sp>
          <p:nvSpPr>
            <p:cNvPr name="TextBox 4" id="4"/>
            <p:cNvSpPr txBox="true"/>
            <p:nvPr/>
          </p:nvSpPr>
          <p:spPr>
            <a:xfrm>
              <a:off x="0" y="-47625"/>
              <a:ext cx="2606785" cy="2939225"/>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931726" y="1803174"/>
            <a:ext cx="3086100" cy="1178743"/>
            <a:chOff x="0" y="0"/>
            <a:chExt cx="812800" cy="310451"/>
          </a:xfrm>
        </p:grpSpPr>
        <p:sp>
          <p:nvSpPr>
            <p:cNvPr name="Freeform 6" id="6"/>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7" id="7"/>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611324" y="3381158"/>
            <a:ext cx="16833969" cy="6269678"/>
          </a:xfrm>
          <a:custGeom>
            <a:avLst/>
            <a:gdLst/>
            <a:ahLst/>
            <a:cxnLst/>
            <a:rect r="r" b="b" t="t" l="l"/>
            <a:pathLst>
              <a:path h="6269678" w="16833969">
                <a:moveTo>
                  <a:pt x="0" y="0"/>
                </a:moveTo>
                <a:lnTo>
                  <a:pt x="16833969" y="0"/>
                </a:lnTo>
                <a:lnTo>
                  <a:pt x="16833969" y="6269678"/>
                </a:lnTo>
                <a:lnTo>
                  <a:pt x="0" y="6269678"/>
                </a:lnTo>
                <a:lnTo>
                  <a:pt x="0" y="0"/>
                </a:lnTo>
                <a:close/>
              </a:path>
            </a:pathLst>
          </a:custGeom>
          <a:blipFill>
            <a:blip r:embed="rId2"/>
            <a:stretch>
              <a:fillRect l="0" t="0" r="0" b="0"/>
            </a:stretch>
          </a:blipFill>
        </p:spPr>
      </p:sp>
      <p:sp>
        <p:nvSpPr>
          <p:cNvPr name="TextBox 9" id="9"/>
          <p:cNvSpPr txBox="true"/>
          <p:nvPr/>
        </p:nvSpPr>
        <p:spPr>
          <a:xfrm rot="0">
            <a:off x="611324" y="154553"/>
            <a:ext cx="10116639"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000000"/>
                </a:solidFill>
                <a:latin typeface="Poppins Bold"/>
                <a:ea typeface="Poppins Bold"/>
                <a:cs typeface="Poppins Bold"/>
                <a:sym typeface="Poppins Bold"/>
              </a:rPr>
              <a:t>Task 3: Kano model</a:t>
            </a:r>
          </a:p>
        </p:txBody>
      </p:sp>
      <p:sp>
        <p:nvSpPr>
          <p:cNvPr name="TextBox 10" id="10"/>
          <p:cNvSpPr txBox="true"/>
          <p:nvPr/>
        </p:nvSpPr>
        <p:spPr>
          <a:xfrm rot="0">
            <a:off x="1028700" y="1968648"/>
            <a:ext cx="64664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Feature categorisation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2105" y="9642371"/>
            <a:ext cx="618357" cy="579596"/>
          </a:xfrm>
          <a:custGeom>
            <a:avLst/>
            <a:gdLst/>
            <a:ahLst/>
            <a:cxnLst/>
            <a:rect r="r" b="b" t="t" l="l"/>
            <a:pathLst>
              <a:path h="579596" w="618357">
                <a:moveTo>
                  <a:pt x="0" y="0"/>
                </a:moveTo>
                <a:lnTo>
                  <a:pt x="618357" y="0"/>
                </a:lnTo>
                <a:lnTo>
                  <a:pt x="618357" y="579596"/>
                </a:lnTo>
                <a:lnTo>
                  <a:pt x="0" y="579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371743"/>
            <a:ext cx="15211612" cy="1543050"/>
            <a:chOff x="0" y="0"/>
            <a:chExt cx="4006350" cy="406400"/>
          </a:xfrm>
        </p:grpSpPr>
        <p:sp>
          <p:nvSpPr>
            <p:cNvPr name="Freeform 4" id="4"/>
            <p:cNvSpPr/>
            <p:nvPr/>
          </p:nvSpPr>
          <p:spPr>
            <a:xfrm flipH="false" flipV="false" rot="0">
              <a:off x="0" y="0"/>
              <a:ext cx="4006350" cy="406400"/>
            </a:xfrm>
            <a:custGeom>
              <a:avLst/>
              <a:gdLst/>
              <a:ahLst/>
              <a:cxnLst/>
              <a:rect r="r" b="b" t="t" l="l"/>
              <a:pathLst>
                <a:path h="406400" w="4006350">
                  <a:moveTo>
                    <a:pt x="0" y="0"/>
                  </a:moveTo>
                  <a:lnTo>
                    <a:pt x="4006350" y="0"/>
                  </a:lnTo>
                  <a:lnTo>
                    <a:pt x="4006350" y="406400"/>
                  </a:lnTo>
                  <a:lnTo>
                    <a:pt x="0" y="406400"/>
                  </a:lnTo>
                  <a:close/>
                </a:path>
              </a:pathLst>
            </a:custGeom>
            <a:solidFill>
              <a:srgbClr val="EAD6B8"/>
            </a:solidFill>
          </p:spPr>
        </p:sp>
        <p:sp>
          <p:nvSpPr>
            <p:cNvPr name="TextBox 5" id="5"/>
            <p:cNvSpPr txBox="true"/>
            <p:nvPr/>
          </p:nvSpPr>
          <p:spPr>
            <a:xfrm>
              <a:off x="0" y="-47625"/>
              <a:ext cx="4006350" cy="454025"/>
            </a:xfrm>
            <a:prstGeom prst="rect">
              <a:avLst/>
            </a:prstGeom>
          </p:spPr>
          <p:txBody>
            <a:bodyPr anchor="ctr" rtlCol="false" tIns="50800" lIns="50800" bIns="50800" rIns="50800"/>
            <a:lstStyle/>
            <a:p>
              <a:pPr algn="ctr">
                <a:lnSpc>
                  <a:spcPts val="3012"/>
                </a:lnSpc>
              </a:pPr>
            </a:p>
          </p:txBody>
        </p:sp>
      </p:grpSp>
      <p:sp>
        <p:nvSpPr>
          <p:cNvPr name="TextBox 6" id="6"/>
          <p:cNvSpPr txBox="true"/>
          <p:nvPr/>
        </p:nvSpPr>
        <p:spPr>
          <a:xfrm rot="0">
            <a:off x="740462" y="3367589"/>
            <a:ext cx="16095635" cy="7369137"/>
          </a:xfrm>
          <a:prstGeom prst="rect">
            <a:avLst/>
          </a:prstGeom>
        </p:spPr>
        <p:txBody>
          <a:bodyPr anchor="t" rtlCol="false" tIns="0" lIns="0" bIns="0" rIns="0">
            <a:spAutoFit/>
          </a:bodyPr>
          <a:lstStyle/>
          <a:p>
            <a:pPr algn="l">
              <a:lnSpc>
                <a:spcPts val="4587"/>
              </a:lnSpc>
            </a:pPr>
            <a:r>
              <a:rPr lang="en-US" sz="3276">
                <a:solidFill>
                  <a:srgbClr val="000000"/>
                </a:solidFill>
                <a:latin typeface="Inter"/>
                <a:ea typeface="Inter"/>
                <a:cs typeface="Inter"/>
                <a:sym typeface="Inter"/>
              </a:rPr>
              <a:t>Multiple Elicitation Tools Used:</a:t>
            </a:r>
          </a:p>
          <a:p>
            <a:pPr algn="l" marL="707399" indent="-353699" lvl="1">
              <a:lnSpc>
                <a:spcPts val="4587"/>
              </a:lnSpc>
              <a:buFont typeface="Arial"/>
              <a:buChar char="•"/>
            </a:pPr>
            <a:r>
              <a:rPr lang="en-US" sz="3276">
                <a:solidFill>
                  <a:srgbClr val="000000"/>
                </a:solidFill>
                <a:latin typeface="Inter"/>
                <a:ea typeface="Inter"/>
                <a:cs typeface="Inter"/>
                <a:sym typeface="Inter"/>
              </a:rPr>
              <a:t>Interviews: Structured to obtain clear, logical answers.</a:t>
            </a:r>
          </a:p>
          <a:p>
            <a:pPr algn="l" marL="707399" indent="-353699" lvl="1">
              <a:lnSpc>
                <a:spcPts val="4587"/>
              </a:lnSpc>
              <a:buFont typeface="Arial"/>
              <a:buChar char="•"/>
            </a:pPr>
            <a:r>
              <a:rPr lang="en-US" sz="3276">
                <a:solidFill>
                  <a:srgbClr val="000000"/>
                </a:solidFill>
                <a:latin typeface="Inter"/>
                <a:ea typeface="Inter"/>
                <a:cs typeface="Inter"/>
                <a:sym typeface="Inter"/>
              </a:rPr>
              <a:t>Surveys/Questionnaires: Provided quantitative insights into user preferences.</a:t>
            </a:r>
          </a:p>
          <a:p>
            <a:pPr algn="l" marL="707399" indent="-353699" lvl="1">
              <a:lnSpc>
                <a:spcPts val="4587"/>
              </a:lnSpc>
              <a:spcBef>
                <a:spcPct val="0"/>
              </a:spcBef>
              <a:buFont typeface="Arial"/>
              <a:buChar char="•"/>
            </a:pPr>
            <a:r>
              <a:rPr lang="en-US" sz="3276">
                <a:solidFill>
                  <a:srgbClr val="000000"/>
                </a:solidFill>
                <a:latin typeface="Inter"/>
                <a:ea typeface="Inter"/>
                <a:cs typeface="Inter"/>
                <a:sym typeface="Inter"/>
              </a:rPr>
              <a:t>Observations: Allowed us to witness real user behavior in context.</a:t>
            </a:r>
          </a:p>
          <a:p>
            <a:pPr algn="l">
              <a:lnSpc>
                <a:spcPts val="4587"/>
              </a:lnSpc>
              <a:spcBef>
                <a:spcPct val="0"/>
              </a:spcBef>
            </a:pPr>
          </a:p>
          <a:p>
            <a:pPr algn="l">
              <a:lnSpc>
                <a:spcPts val="4587"/>
              </a:lnSpc>
              <a:spcBef>
                <a:spcPct val="0"/>
              </a:spcBef>
            </a:pPr>
            <a:r>
              <a:rPr lang="en-US" sz="3276" strike="noStrike" u="none">
                <a:solidFill>
                  <a:srgbClr val="000000"/>
                </a:solidFill>
                <a:latin typeface="Inter"/>
                <a:ea typeface="Inter"/>
                <a:cs typeface="Inter"/>
                <a:sym typeface="Inter"/>
              </a:rPr>
              <a:t>Key Benefits of This Approach:</a:t>
            </a:r>
          </a:p>
          <a:p>
            <a:pPr algn="l" marL="707399" indent="-353699" lvl="1">
              <a:lnSpc>
                <a:spcPts val="4587"/>
              </a:lnSpc>
              <a:spcBef>
                <a:spcPct val="0"/>
              </a:spcBef>
              <a:buFont typeface="Arial"/>
              <a:buChar char="•"/>
            </a:pPr>
            <a:r>
              <a:rPr lang="en-US" sz="3276" strike="noStrike" u="none">
                <a:solidFill>
                  <a:srgbClr val="000000"/>
                </a:solidFill>
                <a:latin typeface="Inter"/>
                <a:ea typeface="Inter"/>
                <a:cs typeface="Inter"/>
                <a:sym typeface="Inter"/>
              </a:rPr>
              <a:t>Captured both stated and unstated user requirements.</a:t>
            </a:r>
          </a:p>
          <a:p>
            <a:pPr algn="l" marL="707399" indent="-353699" lvl="1">
              <a:lnSpc>
                <a:spcPts val="4587"/>
              </a:lnSpc>
              <a:spcBef>
                <a:spcPct val="0"/>
              </a:spcBef>
              <a:buFont typeface="Arial"/>
              <a:buChar char="•"/>
            </a:pPr>
            <a:r>
              <a:rPr lang="en-US" sz="3276" strike="noStrike" u="none">
                <a:solidFill>
                  <a:srgbClr val="000000"/>
                </a:solidFill>
                <a:latin typeface="Inter"/>
                <a:ea typeface="Inter"/>
                <a:cs typeface="Inter"/>
                <a:sym typeface="Inter"/>
              </a:rPr>
              <a:t>Ensured a well-rounded understanding of actual user expectations.</a:t>
            </a:r>
          </a:p>
          <a:p>
            <a:pPr algn="l" marL="707399" indent="-353699" lvl="1">
              <a:lnSpc>
                <a:spcPts val="4587"/>
              </a:lnSpc>
              <a:spcBef>
                <a:spcPct val="0"/>
              </a:spcBef>
              <a:buFont typeface="Arial"/>
              <a:buChar char="•"/>
            </a:pPr>
            <a:r>
              <a:rPr lang="en-US" sz="3276" strike="noStrike" u="none">
                <a:solidFill>
                  <a:srgbClr val="000000"/>
                </a:solidFill>
                <a:latin typeface="Inter"/>
                <a:ea typeface="Inter"/>
                <a:cs typeface="Inter"/>
                <a:sym typeface="Inter"/>
              </a:rPr>
              <a:t>Served as a strong foundation for feature prioritization and development planning.</a:t>
            </a:r>
          </a:p>
          <a:p>
            <a:pPr algn="l">
              <a:lnSpc>
                <a:spcPts val="4167"/>
              </a:lnSpc>
              <a:spcBef>
                <a:spcPct val="0"/>
              </a:spcBef>
            </a:pPr>
          </a:p>
          <a:p>
            <a:pPr algn="l" marL="0" indent="0" lvl="0">
              <a:lnSpc>
                <a:spcPts val="4167"/>
              </a:lnSpc>
              <a:spcBef>
                <a:spcPct val="0"/>
              </a:spcBef>
            </a:pPr>
          </a:p>
          <a:p>
            <a:pPr algn="l" marL="0" indent="0" lvl="0">
              <a:lnSpc>
                <a:spcPts val="4167"/>
              </a:lnSpc>
              <a:spcBef>
                <a:spcPct val="0"/>
              </a:spcBef>
            </a:pPr>
          </a:p>
        </p:txBody>
      </p:sp>
      <p:sp>
        <p:nvSpPr>
          <p:cNvPr name="Freeform 7" id="7"/>
          <p:cNvSpPr/>
          <p:nvPr/>
        </p:nvSpPr>
        <p:spPr>
          <a:xfrm flipH="false" flipV="false" rot="1321236">
            <a:off x="15294763" y="5090"/>
            <a:ext cx="5000860" cy="3819407"/>
          </a:xfrm>
          <a:custGeom>
            <a:avLst/>
            <a:gdLst/>
            <a:ahLst/>
            <a:cxnLst/>
            <a:rect r="r" b="b" t="t" l="l"/>
            <a:pathLst>
              <a:path h="3819407" w="5000860">
                <a:moveTo>
                  <a:pt x="0" y="0"/>
                </a:moveTo>
                <a:lnTo>
                  <a:pt x="5000860" y="0"/>
                </a:lnTo>
                <a:lnTo>
                  <a:pt x="5000860" y="3819406"/>
                </a:lnTo>
                <a:lnTo>
                  <a:pt x="0" y="38194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746733" y="371743"/>
            <a:ext cx="1391489" cy="8994403"/>
            <a:chOff x="0" y="0"/>
            <a:chExt cx="366483" cy="2368896"/>
          </a:xfrm>
        </p:grpSpPr>
        <p:sp>
          <p:nvSpPr>
            <p:cNvPr name="Freeform 9" id="9"/>
            <p:cNvSpPr/>
            <p:nvPr/>
          </p:nvSpPr>
          <p:spPr>
            <a:xfrm flipH="false" flipV="false" rot="0">
              <a:off x="0" y="0"/>
              <a:ext cx="366483" cy="2368896"/>
            </a:xfrm>
            <a:custGeom>
              <a:avLst/>
              <a:gdLst/>
              <a:ahLst/>
              <a:cxnLst/>
              <a:rect r="r" b="b" t="t" l="l"/>
              <a:pathLst>
                <a:path h="2368896" w="366483">
                  <a:moveTo>
                    <a:pt x="0" y="0"/>
                  </a:moveTo>
                  <a:lnTo>
                    <a:pt x="366483" y="0"/>
                  </a:lnTo>
                  <a:lnTo>
                    <a:pt x="366483" y="2368896"/>
                  </a:lnTo>
                  <a:lnTo>
                    <a:pt x="0" y="2368896"/>
                  </a:lnTo>
                  <a:close/>
                </a:path>
              </a:pathLst>
            </a:custGeom>
            <a:solidFill>
              <a:srgbClr val="EAD6B8"/>
            </a:solidFill>
          </p:spPr>
        </p:sp>
        <p:sp>
          <p:nvSpPr>
            <p:cNvPr name="TextBox 10" id="10"/>
            <p:cNvSpPr txBox="true"/>
            <p:nvPr/>
          </p:nvSpPr>
          <p:spPr>
            <a:xfrm>
              <a:off x="0" y="-47625"/>
              <a:ext cx="366483" cy="2416521"/>
            </a:xfrm>
            <a:prstGeom prst="rect">
              <a:avLst/>
            </a:prstGeom>
          </p:spPr>
          <p:txBody>
            <a:bodyPr anchor="ctr" rtlCol="false" tIns="50800" lIns="50800" bIns="50800" rIns="50800"/>
            <a:lstStyle/>
            <a:p>
              <a:pPr algn="ctr">
                <a:lnSpc>
                  <a:spcPts val="3012"/>
                </a:lnSpc>
              </a:pPr>
            </a:p>
          </p:txBody>
        </p:sp>
      </p:grpSp>
      <p:sp>
        <p:nvSpPr>
          <p:cNvPr name="TextBox 11" id="11"/>
          <p:cNvSpPr txBox="true"/>
          <p:nvPr/>
        </p:nvSpPr>
        <p:spPr>
          <a:xfrm rot="0">
            <a:off x="837522" y="9658703"/>
            <a:ext cx="4528738" cy="489806"/>
          </a:xfrm>
          <a:prstGeom prst="rect">
            <a:avLst/>
          </a:prstGeom>
        </p:spPr>
        <p:txBody>
          <a:bodyPr anchor="t" rtlCol="false" tIns="0" lIns="0" bIns="0" rIns="0">
            <a:spAutoFit/>
          </a:bodyPr>
          <a:lstStyle/>
          <a:p>
            <a:pPr algn="l" marL="0" indent="0" lvl="0">
              <a:lnSpc>
                <a:spcPts val="3977"/>
              </a:lnSpc>
              <a:spcBef>
                <a:spcPct val="0"/>
              </a:spcBef>
            </a:pPr>
            <a:r>
              <a:rPr lang="en-US" sz="2841">
                <a:solidFill>
                  <a:srgbClr val="705C40"/>
                </a:solidFill>
                <a:latin typeface="Inter"/>
                <a:ea typeface="Inter"/>
                <a:cs typeface="Inter"/>
                <a:sym typeface="Inter"/>
              </a:rPr>
              <a:t>TT2L GROUP 7</a:t>
            </a:r>
          </a:p>
        </p:txBody>
      </p:sp>
      <p:sp>
        <p:nvSpPr>
          <p:cNvPr name="TextBox 12" id="12"/>
          <p:cNvSpPr txBox="true"/>
          <p:nvPr/>
        </p:nvSpPr>
        <p:spPr>
          <a:xfrm rot="0">
            <a:off x="695745" y="303715"/>
            <a:ext cx="15249625" cy="1611078"/>
          </a:xfrm>
          <a:prstGeom prst="rect">
            <a:avLst/>
          </a:prstGeom>
        </p:spPr>
        <p:txBody>
          <a:bodyPr anchor="t" rtlCol="false" tIns="0" lIns="0" bIns="0" rIns="0">
            <a:spAutoFit/>
          </a:bodyPr>
          <a:lstStyle/>
          <a:p>
            <a:pPr algn="l" marL="0" indent="0" lvl="0">
              <a:lnSpc>
                <a:spcPts val="13050"/>
              </a:lnSpc>
              <a:spcBef>
                <a:spcPct val="0"/>
              </a:spcBef>
            </a:pPr>
            <a:r>
              <a:rPr lang="en-US" b="true" sz="9321">
                <a:solidFill>
                  <a:srgbClr val="000000"/>
                </a:solidFill>
                <a:latin typeface="Inter Bold"/>
                <a:ea typeface="Inter Bold"/>
                <a:cs typeface="Inter Bold"/>
                <a:sym typeface="Inter Bold"/>
              </a:rPr>
              <a:t>Task 4:Elicitation Output</a:t>
            </a:r>
          </a:p>
        </p:txBody>
      </p:sp>
      <p:sp>
        <p:nvSpPr>
          <p:cNvPr name="TextBox 13" id="13"/>
          <p:cNvSpPr txBox="true"/>
          <p:nvPr/>
        </p:nvSpPr>
        <p:spPr>
          <a:xfrm rot="0">
            <a:off x="740462" y="1762393"/>
            <a:ext cx="10216299" cy="1294836"/>
          </a:xfrm>
          <a:prstGeom prst="rect">
            <a:avLst/>
          </a:prstGeom>
        </p:spPr>
        <p:txBody>
          <a:bodyPr anchor="t" rtlCol="false" tIns="0" lIns="0" bIns="0" rIns="0">
            <a:spAutoFit/>
          </a:bodyPr>
          <a:lstStyle/>
          <a:p>
            <a:pPr algn="l" marL="0" indent="0" lvl="0">
              <a:lnSpc>
                <a:spcPts val="10531"/>
              </a:lnSpc>
              <a:spcBef>
                <a:spcPct val="0"/>
              </a:spcBef>
            </a:pPr>
            <a:r>
              <a:rPr lang="en-US" b="true" sz="7522" u="sng">
                <a:solidFill>
                  <a:srgbClr val="000000"/>
                </a:solidFill>
                <a:latin typeface="Inter Bold"/>
                <a:ea typeface="Inter Bold"/>
                <a:cs typeface="Inter Bold"/>
                <a:sym typeface="Inter Bold"/>
              </a:rPr>
              <a:t>Introduction</a:t>
            </a:r>
          </a:p>
        </p:txBody>
      </p:sp>
      <p:sp>
        <p:nvSpPr>
          <p:cNvPr name="Freeform 14" id="14"/>
          <p:cNvSpPr/>
          <p:nvPr/>
        </p:nvSpPr>
        <p:spPr>
          <a:xfrm flipH="false" flipV="false" rot="5400000">
            <a:off x="13761730" y="11705180"/>
            <a:ext cx="8349976" cy="283050"/>
          </a:xfrm>
          <a:custGeom>
            <a:avLst/>
            <a:gdLst/>
            <a:ahLst/>
            <a:cxnLst/>
            <a:rect r="r" b="b" t="t" l="l"/>
            <a:pathLst>
              <a:path h="283050" w="8349976">
                <a:moveTo>
                  <a:pt x="0" y="0"/>
                </a:moveTo>
                <a:lnTo>
                  <a:pt x="8349976" y="0"/>
                </a:lnTo>
                <a:lnTo>
                  <a:pt x="8349976" y="283050"/>
                </a:lnTo>
                <a:lnTo>
                  <a:pt x="0" y="2830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1028700" y="1992229"/>
          <a:ext cx="16230600" cy="7287785"/>
        </p:xfrm>
        <a:graphic>
          <a:graphicData uri="http://schemas.openxmlformats.org/drawingml/2006/table">
            <a:tbl>
              <a:tblPr/>
              <a:tblGrid>
                <a:gridCol w="4352099"/>
                <a:gridCol w="11878501"/>
              </a:tblGrid>
              <a:tr h="1425531">
                <a:tc>
                  <a:txBody>
                    <a:bodyPr anchor="t" rtlCol="false"/>
                    <a:lstStyle/>
                    <a:p>
                      <a:pPr algn="ctr">
                        <a:lnSpc>
                          <a:spcPts val="4547"/>
                        </a:lnSpc>
                        <a:defRPr/>
                      </a:pPr>
                      <a:r>
                        <a:rPr lang="en-US" sz="3248" b="true">
                          <a:solidFill>
                            <a:srgbClr val="000000"/>
                          </a:solidFill>
                          <a:latin typeface="Poppins Bold"/>
                          <a:ea typeface="Poppins Bold"/>
                          <a:cs typeface="Poppins Bold"/>
                          <a:sym typeface="Poppins Bold"/>
                        </a:rPr>
                        <a:t>Elicitation Season</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BCA37F"/>
                    </a:solidFill>
                  </a:tcPr>
                </a:tc>
                <a:tc>
                  <a:txBody>
                    <a:bodyPr anchor="t" rtlCol="false"/>
                    <a:lstStyle/>
                    <a:p>
                      <a:pPr algn="ctr">
                        <a:lnSpc>
                          <a:spcPts val="4687"/>
                        </a:lnSpc>
                        <a:defRPr/>
                      </a:pPr>
                      <a:r>
                        <a:rPr lang="en-US" sz="3348" b="true">
                          <a:solidFill>
                            <a:srgbClr val="000000"/>
                          </a:solidFill>
                          <a:latin typeface="Poppins Bold"/>
                          <a:ea typeface="Poppins Bold"/>
                          <a:cs typeface="Poppins Bold"/>
                          <a:sym typeface="Poppins Bold"/>
                        </a:rPr>
                        <a:t>Explanation</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AD6B8"/>
                    </a:solidFill>
                  </a:tcPr>
                </a:tc>
              </a:tr>
              <a:tr h="2438734">
                <a:tc>
                  <a:txBody>
                    <a:bodyPr anchor="t" rtlCol="false"/>
                    <a:lstStyle/>
                    <a:p>
                      <a:pPr algn="ctr">
                        <a:lnSpc>
                          <a:spcPts val="4547"/>
                        </a:lnSpc>
                        <a:defRPr/>
                      </a:pPr>
                      <a:r>
                        <a:rPr lang="en-US" sz="3248" b="true">
                          <a:solidFill>
                            <a:srgbClr val="000000"/>
                          </a:solidFill>
                          <a:latin typeface="Poppins Bold"/>
                          <a:ea typeface="Poppins Bold"/>
                          <a:cs typeface="Poppins Bold"/>
                          <a:sym typeface="Poppins Bold"/>
                        </a:rPr>
                        <a:t>Structured Interview</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tcPr>
                </a:tc>
                <a:tc>
                  <a:txBody>
                    <a:bodyPr anchor="t" rtlCol="false"/>
                    <a:lstStyle/>
                    <a:p>
                      <a:pPr algn="l">
                        <a:lnSpc>
                          <a:spcPts val="2867"/>
                        </a:lnSpc>
                        <a:defRPr/>
                      </a:pPr>
                      <a:r>
                        <a:rPr lang="en-US" sz="2048">
                          <a:solidFill>
                            <a:srgbClr val="000000"/>
                          </a:solidFill>
                          <a:latin typeface="Inter"/>
                          <a:ea typeface="Inter"/>
                          <a:cs typeface="Inter"/>
                          <a:sym typeface="Inter"/>
                        </a:rPr>
                        <a:t>-Interviewed university member. </a:t>
                      </a:r>
                      <a:endParaRPr lang="en-US" sz="1100"/>
                    </a:p>
                    <a:p>
                      <a:pPr algn="l">
                        <a:lnSpc>
                          <a:spcPts val="2867"/>
                        </a:lnSpc>
                      </a:pPr>
                      <a:r>
                        <a:rPr lang="en-US" sz="2048">
                          <a:solidFill>
                            <a:srgbClr val="000000"/>
                          </a:solidFill>
                          <a:latin typeface="Inter"/>
                          <a:ea typeface="Inter"/>
                          <a:cs typeface="Inter"/>
                          <a:sym typeface="Inter"/>
                        </a:rPr>
                        <a:t>-Used predefined questions to assess: </a:t>
                      </a:r>
                    </a:p>
                    <a:p>
                      <a:pPr algn="l">
                        <a:lnSpc>
                          <a:spcPts val="2867"/>
                        </a:lnSpc>
                      </a:pPr>
                      <a:r>
                        <a:rPr lang="en-US" sz="2048">
                          <a:solidFill>
                            <a:srgbClr val="000000"/>
                          </a:solidFill>
                          <a:latin typeface="Inter"/>
                          <a:ea typeface="Inter"/>
                          <a:cs typeface="Inter"/>
                          <a:sym typeface="Inter"/>
                        </a:rPr>
                        <a:t> • Real-time parking tracking </a:t>
                      </a:r>
                    </a:p>
                    <a:p>
                      <a:pPr algn="l">
                        <a:lnSpc>
                          <a:spcPts val="2867"/>
                        </a:lnSpc>
                      </a:pPr>
                      <a:r>
                        <a:rPr lang="en-US" sz="2048">
                          <a:solidFill>
                            <a:srgbClr val="000000"/>
                          </a:solidFill>
                          <a:latin typeface="Inter"/>
                          <a:ea typeface="Inter"/>
                          <a:cs typeface="Inter"/>
                          <a:sym typeface="Inter"/>
                        </a:rPr>
                        <a:t> • Reservation systems</a:t>
                      </a:r>
                    </a:p>
                    <a:p>
                      <a:pPr algn="l">
                        <a:lnSpc>
                          <a:spcPts val="2867"/>
                        </a:lnSpc>
                      </a:pPr>
                      <a:r>
                        <a:rPr lang="en-US" sz="2048">
                          <a:solidFill>
                            <a:srgbClr val="000000"/>
                          </a:solidFill>
                          <a:latin typeface="Inter"/>
                          <a:ea typeface="Inter"/>
                          <a:cs typeface="Inter"/>
                          <a:sym typeface="Inter"/>
                        </a:rPr>
                        <a:t> • MMU ID integration</a:t>
                      </a:r>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tcPr>
                </a:tc>
              </a:tr>
              <a:tr h="1711760">
                <a:tc>
                  <a:txBody>
                    <a:bodyPr anchor="t" rtlCol="false"/>
                    <a:lstStyle/>
                    <a:p>
                      <a:pPr algn="ctr">
                        <a:lnSpc>
                          <a:spcPts val="4547"/>
                        </a:lnSpc>
                        <a:defRPr/>
                      </a:pPr>
                      <a:r>
                        <a:rPr lang="en-US" sz="3248" b="true">
                          <a:solidFill>
                            <a:srgbClr val="000000"/>
                          </a:solidFill>
                          <a:latin typeface="Poppins Bold"/>
                          <a:ea typeface="Poppins Bold"/>
                          <a:cs typeface="Poppins Bold"/>
                          <a:sym typeface="Poppins Bold"/>
                        </a:rPr>
                        <a:t> Questionnaire</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tcPr>
                </a:tc>
                <a:tc>
                  <a:txBody>
                    <a:bodyPr anchor="t" rtlCol="false"/>
                    <a:lstStyle/>
                    <a:p>
                      <a:pPr algn="just">
                        <a:lnSpc>
                          <a:spcPts val="2867"/>
                        </a:lnSpc>
                        <a:defRPr/>
                      </a:pPr>
                      <a:r>
                        <a:rPr lang="en-US" sz="2048">
                          <a:solidFill>
                            <a:srgbClr val="000000"/>
                          </a:solidFill>
                          <a:latin typeface="Inter"/>
                          <a:ea typeface="Inter"/>
                          <a:cs typeface="Inter"/>
                          <a:sym typeface="Inter"/>
                        </a:rPr>
                        <a:t>-Distributed via Google Forms to students and staff.</a:t>
                      </a:r>
                      <a:endParaRPr lang="en-US" sz="1100"/>
                    </a:p>
                    <a:p>
                      <a:pPr algn="just">
                        <a:lnSpc>
                          <a:spcPts val="2867"/>
                        </a:lnSpc>
                      </a:pPr>
                      <a:r>
                        <a:rPr lang="en-US" sz="2048">
                          <a:solidFill>
                            <a:srgbClr val="000000"/>
                          </a:solidFill>
                          <a:latin typeface="Inter"/>
                          <a:ea typeface="Inter"/>
                          <a:cs typeface="Inter"/>
                          <a:sym typeface="Inter"/>
                        </a:rPr>
                        <a:t>-Rated features like ride booking, live parking maps, notifications, and login methods. </a:t>
                      </a:r>
                    </a:p>
                    <a:p>
                      <a:pPr algn="just">
                        <a:lnSpc>
                          <a:spcPts val="2867"/>
                        </a:lnSpc>
                      </a:pPr>
                      <a:r>
                        <a:rPr lang="en-US" sz="2048">
                          <a:solidFill>
                            <a:srgbClr val="000000"/>
                          </a:solidFill>
                          <a:latin typeface="Inter"/>
                          <a:ea typeface="Inter"/>
                          <a:cs typeface="Inter"/>
                          <a:sym typeface="Inter"/>
                        </a:rPr>
                        <a:t>-Kano model applied to prioritize features based on satisfaction levels.</a:t>
                      </a:r>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tcPr>
                </a:tc>
              </a:tr>
              <a:tr h="1711760">
                <a:tc>
                  <a:txBody>
                    <a:bodyPr anchor="t" rtlCol="false"/>
                    <a:lstStyle/>
                    <a:p>
                      <a:pPr algn="ctr">
                        <a:lnSpc>
                          <a:spcPts val="4547"/>
                        </a:lnSpc>
                        <a:defRPr/>
                      </a:pPr>
                      <a:r>
                        <a:rPr lang="en-US" sz="3248" b="true">
                          <a:solidFill>
                            <a:srgbClr val="000000"/>
                          </a:solidFill>
                          <a:latin typeface="Poppins Bold"/>
                          <a:ea typeface="Poppins Bold"/>
                          <a:cs typeface="Poppins Bold"/>
                          <a:sym typeface="Poppins Bold"/>
                        </a:rPr>
                        <a:t>Observation</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tcPr>
                </a:tc>
                <a:tc>
                  <a:txBody>
                    <a:bodyPr anchor="t" rtlCol="false"/>
                    <a:lstStyle/>
                    <a:p>
                      <a:pPr algn="l">
                        <a:lnSpc>
                          <a:spcPts val="2867"/>
                        </a:lnSpc>
                        <a:defRPr/>
                      </a:pPr>
                      <a:r>
                        <a:rPr lang="en-US" sz="2048">
                          <a:solidFill>
                            <a:srgbClr val="000000"/>
                          </a:solidFill>
                          <a:latin typeface="Inter"/>
                          <a:ea typeface="Inter"/>
                          <a:cs typeface="Inter"/>
                          <a:sym typeface="Inter"/>
                        </a:rPr>
                        <a:t>-Observed campus parking during peak and off-peak hours. </a:t>
                      </a:r>
                      <a:endParaRPr lang="en-US" sz="1100"/>
                    </a:p>
                    <a:p>
                      <a:pPr algn="l">
                        <a:lnSpc>
                          <a:spcPts val="2867"/>
                        </a:lnSpc>
                      </a:pPr>
                      <a:r>
                        <a:rPr lang="en-US" sz="2048">
                          <a:solidFill>
                            <a:srgbClr val="000000"/>
                          </a:solidFill>
                          <a:latin typeface="Inter"/>
                          <a:ea typeface="Inter"/>
                          <a:cs typeface="Inter"/>
                          <a:sym typeface="Inter"/>
                        </a:rPr>
                        <a:t>-Studied user parking behavior, congestion levels, and environment suitability. </a:t>
                      </a:r>
                    </a:p>
                    <a:p>
                      <a:pPr algn="l">
                        <a:lnSpc>
                          <a:spcPts val="2867"/>
                        </a:lnSpc>
                      </a:pPr>
                      <a:r>
                        <a:rPr lang="en-US" sz="2048">
                          <a:solidFill>
                            <a:srgbClr val="000000"/>
                          </a:solidFill>
                          <a:latin typeface="Inter"/>
                          <a:ea typeface="Inter"/>
                          <a:cs typeface="Inter"/>
                          <a:sym typeface="Inter"/>
                        </a:rPr>
                        <a:t>-Verified assumptions and checked feasibility of features like parking sensors.</a:t>
                      </a:r>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tcPr>
                </a:tc>
              </a:tr>
            </a:tbl>
          </a:graphicData>
        </a:graphic>
      </p:graphicFrame>
      <p:grpSp>
        <p:nvGrpSpPr>
          <p:cNvPr name="Group 3" id="3"/>
          <p:cNvGrpSpPr/>
          <p:nvPr/>
        </p:nvGrpSpPr>
        <p:grpSpPr>
          <a:xfrm rot="0">
            <a:off x="-514350" y="9641964"/>
            <a:ext cx="19326728" cy="1317676"/>
            <a:chOff x="0" y="0"/>
            <a:chExt cx="5090167" cy="347042"/>
          </a:xfrm>
        </p:grpSpPr>
        <p:sp>
          <p:nvSpPr>
            <p:cNvPr name="Freeform 4" id="4"/>
            <p:cNvSpPr/>
            <p:nvPr/>
          </p:nvSpPr>
          <p:spPr>
            <a:xfrm flipH="false" flipV="false" rot="0">
              <a:off x="0" y="0"/>
              <a:ext cx="5090167" cy="347042"/>
            </a:xfrm>
            <a:custGeom>
              <a:avLst/>
              <a:gdLst/>
              <a:ahLst/>
              <a:cxnLst/>
              <a:rect r="r" b="b" t="t" l="l"/>
              <a:pathLst>
                <a:path h="347042" w="5090167">
                  <a:moveTo>
                    <a:pt x="0" y="0"/>
                  </a:moveTo>
                  <a:lnTo>
                    <a:pt x="5090167" y="0"/>
                  </a:lnTo>
                  <a:lnTo>
                    <a:pt x="5090167" y="347042"/>
                  </a:lnTo>
                  <a:lnTo>
                    <a:pt x="0" y="347042"/>
                  </a:lnTo>
                  <a:close/>
                </a:path>
              </a:pathLst>
            </a:custGeom>
            <a:solidFill>
              <a:srgbClr val="EAD6B8"/>
            </a:solidFill>
          </p:spPr>
        </p:sp>
        <p:sp>
          <p:nvSpPr>
            <p:cNvPr name="TextBox 5" id="5"/>
            <p:cNvSpPr txBox="true"/>
            <p:nvPr/>
          </p:nvSpPr>
          <p:spPr>
            <a:xfrm>
              <a:off x="0" y="-47625"/>
              <a:ext cx="5090167" cy="394667"/>
            </a:xfrm>
            <a:prstGeom prst="rect">
              <a:avLst/>
            </a:prstGeom>
          </p:spPr>
          <p:txBody>
            <a:bodyPr anchor="ctr" rtlCol="false" tIns="50800" lIns="50800" bIns="50800" rIns="50800"/>
            <a:lstStyle/>
            <a:p>
              <a:pPr algn="ctr">
                <a:lnSpc>
                  <a:spcPts val="3012"/>
                </a:lnSpc>
              </a:pPr>
            </a:p>
          </p:txBody>
        </p:sp>
      </p:grpSp>
      <p:sp>
        <p:nvSpPr>
          <p:cNvPr name="TextBox 6" id="6"/>
          <p:cNvSpPr txBox="true"/>
          <p:nvPr/>
        </p:nvSpPr>
        <p:spPr>
          <a:xfrm rot="0">
            <a:off x="-404258" y="171450"/>
            <a:ext cx="19106544" cy="2863289"/>
          </a:xfrm>
          <a:prstGeom prst="rect">
            <a:avLst/>
          </a:prstGeom>
        </p:spPr>
        <p:txBody>
          <a:bodyPr anchor="t" rtlCol="false" tIns="0" lIns="0" bIns="0" rIns="0">
            <a:spAutoFit/>
          </a:bodyPr>
          <a:lstStyle/>
          <a:p>
            <a:pPr algn="ctr">
              <a:lnSpc>
                <a:spcPts val="11230"/>
              </a:lnSpc>
            </a:pPr>
            <a:r>
              <a:rPr lang="en-US" sz="8022" b="true">
                <a:solidFill>
                  <a:srgbClr val="705C40"/>
                </a:solidFill>
                <a:latin typeface="Poppins Bold"/>
                <a:ea typeface="Poppins Bold"/>
                <a:cs typeface="Poppins Bold"/>
                <a:sym typeface="Poppins Bold"/>
              </a:rPr>
              <a:t>Elicitation Session Overview</a:t>
            </a:r>
          </a:p>
          <a:p>
            <a:pPr algn="ctr" marL="0" indent="0" lvl="0">
              <a:lnSpc>
                <a:spcPts val="11230"/>
              </a:lnSpc>
              <a:spcBef>
                <a:spcPct val="0"/>
              </a:spcBef>
            </a:pPr>
          </a:p>
        </p:txBody>
      </p:sp>
      <p:sp>
        <p:nvSpPr>
          <p:cNvPr name="Freeform 7" id="7"/>
          <p:cNvSpPr/>
          <p:nvPr/>
        </p:nvSpPr>
        <p:spPr>
          <a:xfrm flipH="false" flipV="false" rot="0">
            <a:off x="16662312" y="-184381"/>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627062" y="-184381"/>
            <a:ext cx="3251377" cy="2483239"/>
          </a:xfrm>
          <a:custGeom>
            <a:avLst/>
            <a:gdLst/>
            <a:ahLst/>
            <a:cxnLst/>
            <a:rect r="r" b="b" t="t" l="l"/>
            <a:pathLst>
              <a:path h="2483239" w="3251377">
                <a:moveTo>
                  <a:pt x="0" y="0"/>
                </a:moveTo>
                <a:lnTo>
                  <a:pt x="3251377" y="0"/>
                </a:lnTo>
                <a:lnTo>
                  <a:pt x="3251377"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3050" y="551215"/>
            <a:ext cx="3068249" cy="1543050"/>
            <a:chOff x="0" y="0"/>
            <a:chExt cx="808098" cy="406400"/>
          </a:xfrm>
        </p:grpSpPr>
        <p:sp>
          <p:nvSpPr>
            <p:cNvPr name="Freeform 3" id="3"/>
            <p:cNvSpPr/>
            <p:nvPr/>
          </p:nvSpPr>
          <p:spPr>
            <a:xfrm flipH="false" flipV="false" rot="0">
              <a:off x="0" y="0"/>
              <a:ext cx="808098" cy="406400"/>
            </a:xfrm>
            <a:custGeom>
              <a:avLst/>
              <a:gdLst/>
              <a:ahLst/>
              <a:cxnLst/>
              <a:rect r="r" b="b" t="t" l="l"/>
              <a:pathLst>
                <a:path h="406400" w="808098">
                  <a:moveTo>
                    <a:pt x="0" y="0"/>
                  </a:moveTo>
                  <a:lnTo>
                    <a:pt x="808098" y="0"/>
                  </a:lnTo>
                  <a:lnTo>
                    <a:pt x="808098" y="406400"/>
                  </a:lnTo>
                  <a:lnTo>
                    <a:pt x="0" y="406400"/>
                  </a:lnTo>
                  <a:close/>
                </a:path>
              </a:pathLst>
            </a:custGeom>
            <a:solidFill>
              <a:srgbClr val="EAD6B8"/>
            </a:solidFill>
          </p:spPr>
        </p:sp>
        <p:sp>
          <p:nvSpPr>
            <p:cNvPr name="TextBox 4" id="4"/>
            <p:cNvSpPr txBox="true"/>
            <p:nvPr/>
          </p:nvSpPr>
          <p:spPr>
            <a:xfrm>
              <a:off x="0" y="-47625"/>
              <a:ext cx="808098" cy="454025"/>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1193357" y="95424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2185167" y="2539562"/>
            <a:ext cx="5265754" cy="896450"/>
            <a:chOff x="0" y="0"/>
            <a:chExt cx="1434345" cy="244185"/>
          </a:xfrm>
        </p:grpSpPr>
        <p:sp>
          <p:nvSpPr>
            <p:cNvPr name="Freeform 7" id="7"/>
            <p:cNvSpPr/>
            <p:nvPr/>
          </p:nvSpPr>
          <p:spPr>
            <a:xfrm flipH="false" flipV="false" rot="0">
              <a:off x="0" y="0"/>
              <a:ext cx="1434345" cy="244185"/>
            </a:xfrm>
            <a:custGeom>
              <a:avLst/>
              <a:gdLst/>
              <a:ahLst/>
              <a:cxnLst/>
              <a:rect r="r" b="b" t="t" l="l"/>
              <a:pathLst>
                <a:path h="244185" w="1434345">
                  <a:moveTo>
                    <a:pt x="0" y="0"/>
                  </a:moveTo>
                  <a:lnTo>
                    <a:pt x="1434345" y="0"/>
                  </a:lnTo>
                  <a:lnTo>
                    <a:pt x="1434345" y="244185"/>
                  </a:lnTo>
                  <a:lnTo>
                    <a:pt x="0" y="244185"/>
                  </a:lnTo>
                  <a:close/>
                </a:path>
              </a:pathLst>
            </a:custGeom>
            <a:solidFill>
              <a:srgbClr val="EAD6B8"/>
            </a:solidFill>
          </p:spPr>
        </p:sp>
        <p:sp>
          <p:nvSpPr>
            <p:cNvPr name="TextBox 8" id="8"/>
            <p:cNvSpPr txBox="true"/>
            <p:nvPr/>
          </p:nvSpPr>
          <p:spPr>
            <a:xfrm>
              <a:off x="0" y="-47625"/>
              <a:ext cx="1434345" cy="291810"/>
            </a:xfrm>
            <a:prstGeom prst="rect">
              <a:avLst/>
            </a:prstGeom>
          </p:spPr>
          <p:txBody>
            <a:bodyPr anchor="ctr" rtlCol="false" tIns="50800" lIns="50800" bIns="50800" rIns="50800"/>
            <a:lstStyle/>
            <a:p>
              <a:pPr algn="ctr">
                <a:lnSpc>
                  <a:spcPts val="3012"/>
                </a:lnSpc>
              </a:pPr>
            </a:p>
          </p:txBody>
        </p:sp>
      </p:grpSp>
      <p:grpSp>
        <p:nvGrpSpPr>
          <p:cNvPr name="Group 9" id="9"/>
          <p:cNvGrpSpPr/>
          <p:nvPr/>
        </p:nvGrpSpPr>
        <p:grpSpPr>
          <a:xfrm rot="0">
            <a:off x="10059065" y="2539562"/>
            <a:ext cx="5265754" cy="896450"/>
            <a:chOff x="0" y="0"/>
            <a:chExt cx="1434345" cy="244185"/>
          </a:xfrm>
        </p:grpSpPr>
        <p:sp>
          <p:nvSpPr>
            <p:cNvPr name="Freeform 10" id="10"/>
            <p:cNvSpPr/>
            <p:nvPr/>
          </p:nvSpPr>
          <p:spPr>
            <a:xfrm flipH="false" flipV="false" rot="0">
              <a:off x="0" y="0"/>
              <a:ext cx="1434345" cy="244185"/>
            </a:xfrm>
            <a:custGeom>
              <a:avLst/>
              <a:gdLst/>
              <a:ahLst/>
              <a:cxnLst/>
              <a:rect r="r" b="b" t="t" l="l"/>
              <a:pathLst>
                <a:path h="244185" w="1434345">
                  <a:moveTo>
                    <a:pt x="0" y="0"/>
                  </a:moveTo>
                  <a:lnTo>
                    <a:pt x="1434345" y="0"/>
                  </a:lnTo>
                  <a:lnTo>
                    <a:pt x="1434345" y="244185"/>
                  </a:lnTo>
                  <a:lnTo>
                    <a:pt x="0" y="244185"/>
                  </a:lnTo>
                  <a:close/>
                </a:path>
              </a:pathLst>
            </a:custGeom>
            <a:solidFill>
              <a:srgbClr val="EAD6B8"/>
            </a:solidFill>
          </p:spPr>
        </p:sp>
        <p:sp>
          <p:nvSpPr>
            <p:cNvPr name="TextBox 11" id="11"/>
            <p:cNvSpPr txBox="true"/>
            <p:nvPr/>
          </p:nvSpPr>
          <p:spPr>
            <a:xfrm>
              <a:off x="0" y="-47625"/>
              <a:ext cx="1434345" cy="291810"/>
            </a:xfrm>
            <a:prstGeom prst="rect">
              <a:avLst/>
            </a:prstGeom>
          </p:spPr>
          <p:txBody>
            <a:bodyPr anchor="ctr" rtlCol="false" tIns="50800" lIns="50800" bIns="50800" rIns="50800"/>
            <a:lstStyle/>
            <a:p>
              <a:pPr algn="ctr">
                <a:lnSpc>
                  <a:spcPts val="3012"/>
                </a:lnSpc>
              </a:pPr>
            </a:p>
          </p:txBody>
        </p:sp>
      </p:grpSp>
      <p:grpSp>
        <p:nvGrpSpPr>
          <p:cNvPr name="Group 12" id="12"/>
          <p:cNvGrpSpPr/>
          <p:nvPr/>
        </p:nvGrpSpPr>
        <p:grpSpPr>
          <a:xfrm rot="0">
            <a:off x="2062248" y="6295603"/>
            <a:ext cx="5265754" cy="896450"/>
            <a:chOff x="0" y="0"/>
            <a:chExt cx="1434345" cy="244185"/>
          </a:xfrm>
        </p:grpSpPr>
        <p:sp>
          <p:nvSpPr>
            <p:cNvPr name="Freeform 13" id="13"/>
            <p:cNvSpPr/>
            <p:nvPr/>
          </p:nvSpPr>
          <p:spPr>
            <a:xfrm flipH="false" flipV="false" rot="0">
              <a:off x="0" y="0"/>
              <a:ext cx="1434345" cy="244185"/>
            </a:xfrm>
            <a:custGeom>
              <a:avLst/>
              <a:gdLst/>
              <a:ahLst/>
              <a:cxnLst/>
              <a:rect r="r" b="b" t="t" l="l"/>
              <a:pathLst>
                <a:path h="244185" w="1434345">
                  <a:moveTo>
                    <a:pt x="0" y="0"/>
                  </a:moveTo>
                  <a:lnTo>
                    <a:pt x="1434345" y="0"/>
                  </a:lnTo>
                  <a:lnTo>
                    <a:pt x="1434345" y="244185"/>
                  </a:lnTo>
                  <a:lnTo>
                    <a:pt x="0" y="244185"/>
                  </a:lnTo>
                  <a:close/>
                </a:path>
              </a:pathLst>
            </a:custGeom>
            <a:solidFill>
              <a:srgbClr val="EAD6B8"/>
            </a:solidFill>
          </p:spPr>
        </p:sp>
        <p:sp>
          <p:nvSpPr>
            <p:cNvPr name="TextBox 14" id="14"/>
            <p:cNvSpPr txBox="true"/>
            <p:nvPr/>
          </p:nvSpPr>
          <p:spPr>
            <a:xfrm>
              <a:off x="0" y="-47625"/>
              <a:ext cx="1434345" cy="291810"/>
            </a:xfrm>
            <a:prstGeom prst="rect">
              <a:avLst/>
            </a:prstGeom>
          </p:spPr>
          <p:txBody>
            <a:bodyPr anchor="ctr" rtlCol="false" tIns="50800" lIns="50800" bIns="50800" rIns="50800"/>
            <a:lstStyle/>
            <a:p>
              <a:pPr algn="ctr">
                <a:lnSpc>
                  <a:spcPts val="3012"/>
                </a:lnSpc>
              </a:pPr>
            </a:p>
          </p:txBody>
        </p:sp>
      </p:grpSp>
      <p:grpSp>
        <p:nvGrpSpPr>
          <p:cNvPr name="Group 15" id="15"/>
          <p:cNvGrpSpPr/>
          <p:nvPr/>
        </p:nvGrpSpPr>
        <p:grpSpPr>
          <a:xfrm rot="0">
            <a:off x="9936146" y="6295603"/>
            <a:ext cx="5265754" cy="896450"/>
            <a:chOff x="0" y="0"/>
            <a:chExt cx="1434345" cy="244185"/>
          </a:xfrm>
        </p:grpSpPr>
        <p:sp>
          <p:nvSpPr>
            <p:cNvPr name="Freeform 16" id="16"/>
            <p:cNvSpPr/>
            <p:nvPr/>
          </p:nvSpPr>
          <p:spPr>
            <a:xfrm flipH="false" flipV="false" rot="0">
              <a:off x="0" y="0"/>
              <a:ext cx="1434345" cy="244185"/>
            </a:xfrm>
            <a:custGeom>
              <a:avLst/>
              <a:gdLst/>
              <a:ahLst/>
              <a:cxnLst/>
              <a:rect r="r" b="b" t="t" l="l"/>
              <a:pathLst>
                <a:path h="244185" w="1434345">
                  <a:moveTo>
                    <a:pt x="0" y="0"/>
                  </a:moveTo>
                  <a:lnTo>
                    <a:pt x="1434345" y="0"/>
                  </a:lnTo>
                  <a:lnTo>
                    <a:pt x="1434345" y="244185"/>
                  </a:lnTo>
                  <a:lnTo>
                    <a:pt x="0" y="244185"/>
                  </a:lnTo>
                  <a:close/>
                </a:path>
              </a:pathLst>
            </a:custGeom>
            <a:solidFill>
              <a:srgbClr val="EAD6B8"/>
            </a:solidFill>
          </p:spPr>
        </p:sp>
        <p:sp>
          <p:nvSpPr>
            <p:cNvPr name="TextBox 17" id="17"/>
            <p:cNvSpPr txBox="true"/>
            <p:nvPr/>
          </p:nvSpPr>
          <p:spPr>
            <a:xfrm>
              <a:off x="0" y="-47625"/>
              <a:ext cx="1434345" cy="291810"/>
            </a:xfrm>
            <a:prstGeom prst="rect">
              <a:avLst/>
            </a:prstGeom>
          </p:spPr>
          <p:txBody>
            <a:bodyPr anchor="ctr" rtlCol="false" tIns="50800" lIns="50800" bIns="50800" rIns="50800"/>
            <a:lstStyle/>
            <a:p>
              <a:pPr algn="ctr">
                <a:lnSpc>
                  <a:spcPts val="3012"/>
                </a:lnSpc>
              </a:pPr>
            </a:p>
          </p:txBody>
        </p:sp>
      </p:grpSp>
      <p:grpSp>
        <p:nvGrpSpPr>
          <p:cNvPr name="Group 18" id="18"/>
          <p:cNvGrpSpPr/>
          <p:nvPr/>
        </p:nvGrpSpPr>
        <p:grpSpPr>
          <a:xfrm rot="0">
            <a:off x="16664068" y="957614"/>
            <a:ext cx="1146571" cy="114657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20" id="20"/>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21" id="21"/>
          <p:cNvSpPr/>
          <p:nvPr/>
        </p:nvSpPr>
        <p:spPr>
          <a:xfrm flipH="false" flipV="true" rot="0">
            <a:off x="15205595" y="-2104185"/>
            <a:ext cx="2520989" cy="3962261"/>
          </a:xfrm>
          <a:custGeom>
            <a:avLst/>
            <a:gdLst/>
            <a:ahLst/>
            <a:cxnLst/>
            <a:rect r="r" b="b" t="t" l="l"/>
            <a:pathLst>
              <a:path h="3962261" w="2520989">
                <a:moveTo>
                  <a:pt x="0" y="3962261"/>
                </a:moveTo>
                <a:lnTo>
                  <a:pt x="2520988" y="3962261"/>
                </a:lnTo>
                <a:lnTo>
                  <a:pt x="2520988" y="0"/>
                </a:lnTo>
                <a:lnTo>
                  <a:pt x="0" y="0"/>
                </a:lnTo>
                <a:lnTo>
                  <a:pt x="0" y="396226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94242" y="9500575"/>
            <a:ext cx="618357" cy="579596"/>
          </a:xfrm>
          <a:custGeom>
            <a:avLst/>
            <a:gdLst/>
            <a:ahLst/>
            <a:cxnLst/>
            <a:rect r="r" b="b" t="t" l="l"/>
            <a:pathLst>
              <a:path h="579596" w="618357">
                <a:moveTo>
                  <a:pt x="0" y="0"/>
                </a:moveTo>
                <a:lnTo>
                  <a:pt x="618356" y="0"/>
                </a:lnTo>
                <a:lnTo>
                  <a:pt x="618356" y="579596"/>
                </a:lnTo>
                <a:lnTo>
                  <a:pt x="0" y="5795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3" id="23"/>
          <p:cNvSpPr txBox="true"/>
          <p:nvPr/>
        </p:nvSpPr>
        <p:spPr>
          <a:xfrm rot="0">
            <a:off x="1708188" y="473818"/>
            <a:ext cx="11434965" cy="1574020"/>
          </a:xfrm>
          <a:prstGeom prst="rect">
            <a:avLst/>
          </a:prstGeom>
        </p:spPr>
        <p:txBody>
          <a:bodyPr anchor="t" rtlCol="false" tIns="0" lIns="0" bIns="0" rIns="0">
            <a:spAutoFit/>
          </a:bodyPr>
          <a:lstStyle/>
          <a:p>
            <a:pPr algn="l" marL="0" indent="0" lvl="0">
              <a:lnSpc>
                <a:spcPts val="6167"/>
              </a:lnSpc>
              <a:spcBef>
                <a:spcPct val="0"/>
              </a:spcBef>
            </a:pPr>
            <a:r>
              <a:rPr lang="en-US" b="true" sz="4405">
                <a:solidFill>
                  <a:srgbClr val="000000"/>
                </a:solidFill>
                <a:latin typeface="Poppins Bold"/>
                <a:ea typeface="Poppins Bold"/>
                <a:cs typeface="Poppins Bold"/>
                <a:sym typeface="Poppins Bold"/>
              </a:rPr>
              <a:t>R</a:t>
            </a:r>
            <a:r>
              <a:rPr lang="en-US" b="true" sz="4405">
                <a:solidFill>
                  <a:srgbClr val="000000"/>
                </a:solidFill>
                <a:latin typeface="Poppins Bold"/>
                <a:ea typeface="Poppins Bold"/>
                <a:cs typeface="Poppins Bold"/>
                <a:sym typeface="Poppins Bold"/>
              </a:rPr>
              <a:t>equirement Categorization Using Kano Model</a:t>
            </a:r>
          </a:p>
        </p:txBody>
      </p:sp>
      <p:sp>
        <p:nvSpPr>
          <p:cNvPr name="TextBox 24" id="24"/>
          <p:cNvSpPr txBox="true"/>
          <p:nvPr/>
        </p:nvSpPr>
        <p:spPr>
          <a:xfrm rot="0">
            <a:off x="3641916" y="2733827"/>
            <a:ext cx="4995930" cy="448843"/>
          </a:xfrm>
          <a:prstGeom prst="rect">
            <a:avLst/>
          </a:prstGeom>
        </p:spPr>
        <p:txBody>
          <a:bodyPr anchor="t" rtlCol="false" tIns="0" lIns="0" bIns="0" rIns="0">
            <a:spAutoFit/>
          </a:bodyPr>
          <a:lstStyle/>
          <a:p>
            <a:pPr algn="l" marL="0" indent="0" lvl="0">
              <a:lnSpc>
                <a:spcPts val="3610"/>
              </a:lnSpc>
              <a:spcBef>
                <a:spcPct val="0"/>
              </a:spcBef>
            </a:pPr>
            <a:r>
              <a:rPr lang="en-US" sz="2579" spc="471">
                <a:solidFill>
                  <a:srgbClr val="000000"/>
                </a:solidFill>
                <a:latin typeface="Inter"/>
                <a:ea typeface="Inter"/>
                <a:cs typeface="Inter"/>
                <a:sym typeface="Inter"/>
              </a:rPr>
              <a:t>MUST-B</a:t>
            </a:r>
            <a:r>
              <a:rPr lang="en-US" sz="2579" spc="471">
                <a:solidFill>
                  <a:srgbClr val="000000"/>
                </a:solidFill>
                <a:latin typeface="Inter"/>
                <a:ea typeface="Inter"/>
                <a:cs typeface="Inter"/>
                <a:sym typeface="Inter"/>
              </a:rPr>
              <a:t>E </a:t>
            </a:r>
          </a:p>
        </p:txBody>
      </p:sp>
      <p:sp>
        <p:nvSpPr>
          <p:cNvPr name="TextBox 25" id="25"/>
          <p:cNvSpPr txBox="true"/>
          <p:nvPr/>
        </p:nvSpPr>
        <p:spPr>
          <a:xfrm rot="0">
            <a:off x="11515814" y="2733827"/>
            <a:ext cx="4995930" cy="448843"/>
          </a:xfrm>
          <a:prstGeom prst="rect">
            <a:avLst/>
          </a:prstGeom>
        </p:spPr>
        <p:txBody>
          <a:bodyPr anchor="t" rtlCol="false" tIns="0" lIns="0" bIns="0" rIns="0">
            <a:spAutoFit/>
          </a:bodyPr>
          <a:lstStyle/>
          <a:p>
            <a:pPr algn="l" marL="0" indent="0" lvl="0">
              <a:lnSpc>
                <a:spcPts val="3610"/>
              </a:lnSpc>
              <a:spcBef>
                <a:spcPct val="0"/>
              </a:spcBef>
            </a:pPr>
            <a:r>
              <a:rPr lang="en-US" sz="2579" spc="471">
                <a:solidFill>
                  <a:srgbClr val="000000"/>
                </a:solidFill>
                <a:latin typeface="Inter"/>
                <a:ea typeface="Inter"/>
                <a:cs typeface="Inter"/>
                <a:sym typeface="Inter"/>
              </a:rPr>
              <a:t>ATTR</a:t>
            </a:r>
            <a:r>
              <a:rPr lang="en-US" sz="2579" spc="471">
                <a:solidFill>
                  <a:srgbClr val="000000"/>
                </a:solidFill>
                <a:latin typeface="Inter"/>
                <a:ea typeface="Inter"/>
                <a:cs typeface="Inter"/>
                <a:sym typeface="Inter"/>
              </a:rPr>
              <a:t>ACTIVE </a:t>
            </a:r>
          </a:p>
        </p:txBody>
      </p:sp>
      <p:sp>
        <p:nvSpPr>
          <p:cNvPr name="TextBox 26" id="26"/>
          <p:cNvSpPr txBox="true"/>
          <p:nvPr/>
        </p:nvSpPr>
        <p:spPr>
          <a:xfrm rot="0">
            <a:off x="3518997" y="6489868"/>
            <a:ext cx="4995930" cy="448843"/>
          </a:xfrm>
          <a:prstGeom prst="rect">
            <a:avLst/>
          </a:prstGeom>
        </p:spPr>
        <p:txBody>
          <a:bodyPr anchor="t" rtlCol="false" tIns="0" lIns="0" bIns="0" rIns="0">
            <a:spAutoFit/>
          </a:bodyPr>
          <a:lstStyle/>
          <a:p>
            <a:pPr algn="l" marL="0" indent="0" lvl="0">
              <a:lnSpc>
                <a:spcPts val="3610"/>
              </a:lnSpc>
              <a:spcBef>
                <a:spcPct val="0"/>
              </a:spcBef>
            </a:pPr>
            <a:r>
              <a:rPr lang="en-US" sz="2579" spc="471">
                <a:solidFill>
                  <a:srgbClr val="000000"/>
                </a:solidFill>
                <a:latin typeface="Inter"/>
                <a:ea typeface="Inter"/>
                <a:cs typeface="Inter"/>
                <a:sym typeface="Inter"/>
              </a:rPr>
              <a:t>PERF</a:t>
            </a:r>
            <a:r>
              <a:rPr lang="en-US" sz="2579" spc="471">
                <a:solidFill>
                  <a:srgbClr val="000000"/>
                </a:solidFill>
                <a:latin typeface="Inter"/>
                <a:ea typeface="Inter"/>
                <a:cs typeface="Inter"/>
                <a:sym typeface="Inter"/>
              </a:rPr>
              <a:t>ORMANCE </a:t>
            </a:r>
          </a:p>
        </p:txBody>
      </p:sp>
      <p:sp>
        <p:nvSpPr>
          <p:cNvPr name="TextBox 27" id="27"/>
          <p:cNvSpPr txBox="true"/>
          <p:nvPr/>
        </p:nvSpPr>
        <p:spPr>
          <a:xfrm rot="0">
            <a:off x="11392895" y="6489868"/>
            <a:ext cx="4995930" cy="448843"/>
          </a:xfrm>
          <a:prstGeom prst="rect">
            <a:avLst/>
          </a:prstGeom>
        </p:spPr>
        <p:txBody>
          <a:bodyPr anchor="t" rtlCol="false" tIns="0" lIns="0" bIns="0" rIns="0">
            <a:spAutoFit/>
          </a:bodyPr>
          <a:lstStyle/>
          <a:p>
            <a:pPr algn="l" marL="0" indent="0" lvl="0">
              <a:lnSpc>
                <a:spcPts val="3610"/>
              </a:lnSpc>
              <a:spcBef>
                <a:spcPct val="0"/>
              </a:spcBef>
            </a:pPr>
            <a:r>
              <a:rPr lang="en-US" sz="2579" spc="471">
                <a:solidFill>
                  <a:srgbClr val="000000"/>
                </a:solidFill>
                <a:latin typeface="Inter"/>
                <a:ea typeface="Inter"/>
                <a:cs typeface="Inter"/>
                <a:sym typeface="Inter"/>
              </a:rPr>
              <a:t>I</a:t>
            </a:r>
            <a:r>
              <a:rPr lang="en-US" sz="2579" spc="471">
                <a:solidFill>
                  <a:srgbClr val="000000"/>
                </a:solidFill>
                <a:latin typeface="Inter"/>
                <a:ea typeface="Inter"/>
                <a:cs typeface="Inter"/>
                <a:sym typeface="Inter"/>
              </a:rPr>
              <a:t>NDIFFERENT </a:t>
            </a:r>
          </a:p>
        </p:txBody>
      </p:sp>
      <p:sp>
        <p:nvSpPr>
          <p:cNvPr name="TextBox 28" id="28"/>
          <p:cNvSpPr txBox="true"/>
          <p:nvPr/>
        </p:nvSpPr>
        <p:spPr>
          <a:xfrm rot="0">
            <a:off x="2185167" y="3724282"/>
            <a:ext cx="6653819" cy="2036685"/>
          </a:xfrm>
          <a:prstGeom prst="rect">
            <a:avLst/>
          </a:prstGeom>
        </p:spPr>
        <p:txBody>
          <a:bodyPr anchor="t" rtlCol="false" tIns="0" lIns="0" bIns="0" rIns="0">
            <a:spAutoFit/>
          </a:bodyPr>
          <a:lstStyle/>
          <a:p>
            <a:pPr algn="just" marL="499930" indent="-249965" lvl="1">
              <a:lnSpc>
                <a:spcPts val="3241"/>
              </a:lnSpc>
              <a:buFont typeface="Arial"/>
              <a:buChar char="•"/>
            </a:pPr>
            <a:r>
              <a:rPr lang="en-US" b="true" sz="2315">
                <a:solidFill>
                  <a:srgbClr val="000000"/>
                </a:solidFill>
                <a:latin typeface="Inter Bold"/>
                <a:ea typeface="Inter Bold"/>
                <a:cs typeface="Inter Bold"/>
                <a:sym typeface="Inter Bold"/>
              </a:rPr>
              <a:t>Request ride</a:t>
            </a:r>
          </a:p>
          <a:p>
            <a:pPr algn="just" marL="499930" indent="-249965" lvl="1">
              <a:lnSpc>
                <a:spcPts val="3241"/>
              </a:lnSpc>
              <a:buFont typeface="Arial"/>
              <a:buChar char="•"/>
            </a:pPr>
            <a:r>
              <a:rPr lang="en-US" b="true" sz="2315">
                <a:solidFill>
                  <a:srgbClr val="000000"/>
                </a:solidFill>
                <a:latin typeface="Inter Bold"/>
                <a:ea typeface="Inter Bold"/>
                <a:cs typeface="Inter Bold"/>
                <a:sym typeface="Inter Bold"/>
              </a:rPr>
              <a:t>Offer ride</a:t>
            </a:r>
          </a:p>
          <a:p>
            <a:pPr algn="just" marL="499930" indent="-249965" lvl="1">
              <a:lnSpc>
                <a:spcPts val="3241"/>
              </a:lnSpc>
              <a:buFont typeface="Arial"/>
              <a:buChar char="•"/>
            </a:pPr>
            <a:r>
              <a:rPr lang="en-US" b="true" sz="2315">
                <a:solidFill>
                  <a:srgbClr val="000000"/>
                </a:solidFill>
                <a:latin typeface="Inter Bold"/>
                <a:ea typeface="Inter Bold"/>
                <a:cs typeface="Inter Bold"/>
                <a:sym typeface="Inter Bold"/>
              </a:rPr>
              <a:t>View ride details</a:t>
            </a:r>
          </a:p>
          <a:p>
            <a:pPr algn="just" marL="499930" indent="-249965" lvl="1">
              <a:lnSpc>
                <a:spcPts val="3241"/>
              </a:lnSpc>
              <a:buFont typeface="Arial"/>
              <a:buChar char="•"/>
            </a:pPr>
            <a:r>
              <a:rPr lang="en-US" b="true" sz="2315">
                <a:solidFill>
                  <a:srgbClr val="000000"/>
                </a:solidFill>
                <a:latin typeface="Inter Bold"/>
                <a:ea typeface="Inter Bold"/>
                <a:cs typeface="Inter Bold"/>
                <a:sym typeface="Inter Bold"/>
              </a:rPr>
              <a:t>Sign up using MMU ID/ Log in / Log out</a:t>
            </a:r>
          </a:p>
          <a:p>
            <a:pPr algn="just" marL="499930" indent="-249965" lvl="1">
              <a:lnSpc>
                <a:spcPts val="3241"/>
              </a:lnSpc>
              <a:buFont typeface="Arial"/>
              <a:buChar char="•"/>
            </a:pPr>
            <a:r>
              <a:rPr lang="en-US" b="true" sz="2315">
                <a:solidFill>
                  <a:srgbClr val="000000"/>
                </a:solidFill>
                <a:latin typeface="Inter Bold"/>
                <a:ea typeface="Inter Bold"/>
                <a:cs typeface="Inter Bold"/>
                <a:sym typeface="Inter Bold"/>
              </a:rPr>
              <a:t>Admin view user &amp; car info</a:t>
            </a:r>
          </a:p>
        </p:txBody>
      </p:sp>
      <p:sp>
        <p:nvSpPr>
          <p:cNvPr name="TextBox 29" id="29"/>
          <p:cNvSpPr txBox="true"/>
          <p:nvPr/>
        </p:nvSpPr>
        <p:spPr>
          <a:xfrm rot="0">
            <a:off x="10059065" y="3724282"/>
            <a:ext cx="6808804" cy="2446260"/>
          </a:xfrm>
          <a:prstGeom prst="rect">
            <a:avLst/>
          </a:prstGeom>
        </p:spPr>
        <p:txBody>
          <a:bodyPr anchor="t" rtlCol="false" tIns="0" lIns="0" bIns="0" rIns="0">
            <a:spAutoFit/>
          </a:bodyPr>
          <a:lstStyle/>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Advanced</a:t>
            </a:r>
            <a:r>
              <a:rPr lang="en-US" b="true" sz="2315">
                <a:solidFill>
                  <a:srgbClr val="000000"/>
                </a:solidFill>
                <a:latin typeface="Inter Bold"/>
                <a:ea typeface="Inter Bold"/>
                <a:cs typeface="Inter Bold"/>
                <a:sym typeface="Inter Bold"/>
              </a:rPr>
              <a:t> ride booking</a:t>
            </a:r>
          </a:p>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Messaging functionality</a:t>
            </a:r>
          </a:p>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In-app payment &amp; wallet</a:t>
            </a:r>
          </a:p>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 Reserve parking </a:t>
            </a:r>
          </a:p>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Report improper parking</a:t>
            </a:r>
          </a:p>
          <a:p>
            <a:pPr algn="l" marL="0" indent="0" lvl="0">
              <a:lnSpc>
                <a:spcPts val="3241"/>
              </a:lnSpc>
              <a:spcBef>
                <a:spcPct val="0"/>
              </a:spcBef>
            </a:pPr>
          </a:p>
        </p:txBody>
      </p:sp>
      <p:sp>
        <p:nvSpPr>
          <p:cNvPr name="TextBox 30" id="30"/>
          <p:cNvSpPr txBox="true"/>
          <p:nvPr/>
        </p:nvSpPr>
        <p:spPr>
          <a:xfrm rot="0">
            <a:off x="2062248" y="7480322"/>
            <a:ext cx="6653819" cy="1627110"/>
          </a:xfrm>
          <a:prstGeom prst="rect">
            <a:avLst/>
          </a:prstGeom>
        </p:spPr>
        <p:txBody>
          <a:bodyPr anchor="t" rtlCol="false" tIns="0" lIns="0" bIns="0" rIns="0">
            <a:spAutoFit/>
          </a:bodyPr>
          <a:lstStyle/>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Real-tim</a:t>
            </a:r>
            <a:r>
              <a:rPr lang="en-US" b="true" sz="2315">
                <a:solidFill>
                  <a:srgbClr val="000000"/>
                </a:solidFill>
                <a:latin typeface="Inter Bold"/>
                <a:ea typeface="Inter Bold"/>
                <a:cs typeface="Inter Bold"/>
                <a:sym typeface="Inter Bold"/>
              </a:rPr>
              <a:t>e location tracking</a:t>
            </a:r>
          </a:p>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Notification system</a:t>
            </a:r>
          </a:p>
          <a:p>
            <a:pPr algn="l" marL="499930" indent="-249965" lvl="1">
              <a:lnSpc>
                <a:spcPts val="3241"/>
              </a:lnSpc>
              <a:spcBef>
                <a:spcPct val="0"/>
              </a:spcBef>
              <a:buFont typeface="Arial"/>
              <a:buChar char="•"/>
            </a:pPr>
            <a:r>
              <a:rPr lang="en-US" b="true" sz="2315">
                <a:solidFill>
                  <a:srgbClr val="000000"/>
                </a:solidFill>
                <a:latin typeface="Inter Bold"/>
                <a:ea typeface="Inter Bold"/>
                <a:cs typeface="Inter Bold"/>
                <a:sym typeface="Inter Bold"/>
              </a:rPr>
              <a:t>Check real-time parking availability</a:t>
            </a:r>
          </a:p>
          <a:p>
            <a:pPr algn="l" marL="0" indent="0" lvl="0">
              <a:lnSpc>
                <a:spcPts val="3241"/>
              </a:lnSpc>
              <a:spcBef>
                <a:spcPct val="0"/>
              </a:spcBef>
            </a:pPr>
          </a:p>
        </p:txBody>
      </p:sp>
      <p:sp>
        <p:nvSpPr>
          <p:cNvPr name="TextBox 31" id="31"/>
          <p:cNvSpPr txBox="true"/>
          <p:nvPr/>
        </p:nvSpPr>
        <p:spPr>
          <a:xfrm rot="0">
            <a:off x="9936146" y="7480322"/>
            <a:ext cx="6653819" cy="398385"/>
          </a:xfrm>
          <a:prstGeom prst="rect">
            <a:avLst/>
          </a:prstGeom>
        </p:spPr>
        <p:txBody>
          <a:bodyPr anchor="t" rtlCol="false" tIns="0" lIns="0" bIns="0" rIns="0">
            <a:spAutoFit/>
          </a:bodyPr>
          <a:lstStyle/>
          <a:p>
            <a:pPr algn="l" marL="499930" indent="-249965" lvl="1">
              <a:lnSpc>
                <a:spcPts val="3241"/>
              </a:lnSpc>
              <a:buFont typeface="Arial"/>
              <a:buChar char="•"/>
            </a:pPr>
            <a:r>
              <a:rPr lang="en-US" b="true" sz="2315">
                <a:solidFill>
                  <a:srgbClr val="000000"/>
                </a:solidFill>
                <a:latin typeface="Inter Bold"/>
                <a:ea typeface="Inter Bold"/>
                <a:cs typeface="Inter Bold"/>
                <a:sym typeface="Inter Bold"/>
              </a:rPr>
              <a:t>Vi</a:t>
            </a:r>
            <a:r>
              <a:rPr lang="en-US" b="true" sz="2315">
                <a:solidFill>
                  <a:srgbClr val="000000"/>
                </a:solidFill>
                <a:latin typeface="Inter Bold"/>
                <a:ea typeface="Inter Bold"/>
                <a:cs typeface="Inter Bold"/>
                <a:sym typeface="Inter Bold"/>
              </a:rPr>
              <a:t>ew payment history </a:t>
            </a:r>
          </a:p>
        </p:txBody>
      </p:sp>
      <p:sp>
        <p:nvSpPr>
          <p:cNvPr name="TextBox 32" id="32"/>
          <p:cNvSpPr txBox="true"/>
          <p:nvPr/>
        </p:nvSpPr>
        <p:spPr>
          <a:xfrm rot="0">
            <a:off x="1028700" y="9584970"/>
            <a:ext cx="4528738" cy="372705"/>
          </a:xfrm>
          <a:prstGeom prst="rect">
            <a:avLst/>
          </a:prstGeom>
        </p:spPr>
        <p:txBody>
          <a:bodyPr anchor="t" rtlCol="false" tIns="0" lIns="0" bIns="0" rIns="0">
            <a:spAutoFit/>
          </a:bodyPr>
          <a:lstStyle/>
          <a:p>
            <a:pPr algn="l" marL="0" indent="0" lvl="0">
              <a:lnSpc>
                <a:spcPts val="3082"/>
              </a:lnSpc>
              <a:spcBef>
                <a:spcPct val="0"/>
              </a:spcBef>
            </a:pPr>
            <a:r>
              <a:rPr lang="en-US" sz="2201" spc="402">
                <a:solidFill>
                  <a:srgbClr val="000000"/>
                </a:solidFill>
                <a:latin typeface="Inter"/>
                <a:ea typeface="Inter"/>
                <a:cs typeface="Inter"/>
                <a:sym typeface="Inter"/>
              </a:rPr>
              <a:t>TT2L GROUP 7</a:t>
            </a:r>
          </a:p>
        </p:txBody>
      </p:sp>
      <p:grpSp>
        <p:nvGrpSpPr>
          <p:cNvPr name="Group 33" id="33"/>
          <p:cNvGrpSpPr/>
          <p:nvPr/>
        </p:nvGrpSpPr>
        <p:grpSpPr>
          <a:xfrm rot="0">
            <a:off x="9420010" y="6046659"/>
            <a:ext cx="1392410" cy="139241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36" id="36"/>
          <p:cNvGrpSpPr/>
          <p:nvPr/>
        </p:nvGrpSpPr>
        <p:grpSpPr>
          <a:xfrm rot="0">
            <a:off x="9542930" y="2290619"/>
            <a:ext cx="1392410" cy="1392410"/>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39" id="39"/>
          <p:cNvGrpSpPr/>
          <p:nvPr/>
        </p:nvGrpSpPr>
        <p:grpSpPr>
          <a:xfrm rot="0">
            <a:off x="1582144" y="6046659"/>
            <a:ext cx="1392410" cy="1392410"/>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41" id="41"/>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42" id="42"/>
          <p:cNvGrpSpPr/>
          <p:nvPr/>
        </p:nvGrpSpPr>
        <p:grpSpPr>
          <a:xfrm rot="0">
            <a:off x="1705063" y="2290619"/>
            <a:ext cx="1392410" cy="1392410"/>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44" id="4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45" id="45"/>
          <p:cNvGrpSpPr/>
          <p:nvPr/>
        </p:nvGrpSpPr>
        <p:grpSpPr>
          <a:xfrm rot="0">
            <a:off x="9665849" y="2413538"/>
            <a:ext cx="1146571" cy="114657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7" id="47"/>
            <p:cNvSpPr txBox="true"/>
            <p:nvPr/>
          </p:nvSpPr>
          <p:spPr>
            <a:xfrm>
              <a:off x="76200" y="9525"/>
              <a:ext cx="660400" cy="727075"/>
            </a:xfrm>
            <a:prstGeom prst="rect">
              <a:avLst/>
            </a:prstGeom>
          </p:spPr>
          <p:txBody>
            <a:bodyPr anchor="ctr" rtlCol="false" tIns="50800" lIns="50800" bIns="50800" rIns="50800"/>
            <a:lstStyle/>
            <a:p>
              <a:pPr algn="ctr">
                <a:lnSpc>
                  <a:spcPts val="4830"/>
                </a:lnSpc>
              </a:pPr>
              <a:r>
                <a:rPr lang="en-US" b="true" sz="3450">
                  <a:solidFill>
                    <a:srgbClr val="000000"/>
                  </a:solidFill>
                  <a:latin typeface="Inter Bold"/>
                  <a:ea typeface="Inter Bold"/>
                  <a:cs typeface="Inter Bold"/>
                  <a:sym typeface="Inter Bold"/>
                </a:rPr>
                <a:t>A</a:t>
              </a:r>
            </a:p>
          </p:txBody>
        </p:sp>
      </p:grpSp>
      <p:grpSp>
        <p:nvGrpSpPr>
          <p:cNvPr name="Group 48" id="48"/>
          <p:cNvGrpSpPr/>
          <p:nvPr/>
        </p:nvGrpSpPr>
        <p:grpSpPr>
          <a:xfrm rot="0">
            <a:off x="9542930" y="6170542"/>
            <a:ext cx="1146571" cy="114657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9525"/>
              <a:ext cx="660400" cy="727075"/>
            </a:xfrm>
            <a:prstGeom prst="rect">
              <a:avLst/>
            </a:prstGeom>
          </p:spPr>
          <p:txBody>
            <a:bodyPr anchor="ctr" rtlCol="false" tIns="50800" lIns="50800" bIns="50800" rIns="50800"/>
            <a:lstStyle/>
            <a:p>
              <a:pPr algn="ctr">
                <a:lnSpc>
                  <a:spcPts val="4830"/>
                </a:lnSpc>
              </a:pPr>
              <a:r>
                <a:rPr lang="en-US" b="true" sz="3450">
                  <a:solidFill>
                    <a:srgbClr val="000000"/>
                  </a:solidFill>
                  <a:latin typeface="Inter Bold"/>
                  <a:ea typeface="Inter Bold"/>
                  <a:cs typeface="Inter Bold"/>
                  <a:sym typeface="Inter Bold"/>
                </a:rPr>
                <a:t>I</a:t>
              </a:r>
            </a:p>
          </p:txBody>
        </p:sp>
      </p:grpSp>
      <p:grpSp>
        <p:nvGrpSpPr>
          <p:cNvPr name="Group 51" id="51"/>
          <p:cNvGrpSpPr/>
          <p:nvPr/>
        </p:nvGrpSpPr>
        <p:grpSpPr>
          <a:xfrm rot="0">
            <a:off x="1827983" y="2414502"/>
            <a:ext cx="1146571" cy="114657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3" id="53"/>
            <p:cNvSpPr txBox="true"/>
            <p:nvPr/>
          </p:nvSpPr>
          <p:spPr>
            <a:xfrm>
              <a:off x="76200" y="9525"/>
              <a:ext cx="660400" cy="727075"/>
            </a:xfrm>
            <a:prstGeom prst="rect">
              <a:avLst/>
            </a:prstGeom>
          </p:spPr>
          <p:txBody>
            <a:bodyPr anchor="ctr" rtlCol="false" tIns="50800" lIns="50800" bIns="50800" rIns="50800"/>
            <a:lstStyle/>
            <a:p>
              <a:pPr algn="ctr">
                <a:lnSpc>
                  <a:spcPts val="4832"/>
                </a:lnSpc>
              </a:pPr>
              <a:r>
                <a:rPr lang="en-US" b="true" sz="3451">
                  <a:solidFill>
                    <a:srgbClr val="000000"/>
                  </a:solidFill>
                  <a:latin typeface="Inter Bold"/>
                  <a:ea typeface="Inter Bold"/>
                  <a:cs typeface="Inter Bold"/>
                  <a:sym typeface="Inter Bold"/>
                </a:rPr>
                <a:t>M</a:t>
              </a:r>
            </a:p>
          </p:txBody>
        </p:sp>
      </p:grpSp>
      <p:grpSp>
        <p:nvGrpSpPr>
          <p:cNvPr name="Group 54" id="54"/>
          <p:cNvGrpSpPr/>
          <p:nvPr/>
        </p:nvGrpSpPr>
        <p:grpSpPr>
          <a:xfrm rot="0">
            <a:off x="1705063" y="6169578"/>
            <a:ext cx="1146571" cy="114657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6" id="56"/>
            <p:cNvSpPr txBox="true"/>
            <p:nvPr/>
          </p:nvSpPr>
          <p:spPr>
            <a:xfrm>
              <a:off x="76200" y="9525"/>
              <a:ext cx="660400" cy="727075"/>
            </a:xfrm>
            <a:prstGeom prst="rect">
              <a:avLst/>
            </a:prstGeom>
          </p:spPr>
          <p:txBody>
            <a:bodyPr anchor="ctr" rtlCol="false" tIns="50800" lIns="50800" bIns="50800" rIns="50800"/>
            <a:lstStyle/>
            <a:p>
              <a:pPr algn="ctr">
                <a:lnSpc>
                  <a:spcPts val="4830"/>
                </a:lnSpc>
              </a:pPr>
              <a:r>
                <a:rPr lang="en-US" b="true" sz="3450">
                  <a:solidFill>
                    <a:srgbClr val="000000"/>
                  </a:solidFill>
                  <a:latin typeface="Inter Bold"/>
                  <a:ea typeface="Inter Bold"/>
                  <a:cs typeface="Inter Bold"/>
                  <a:sym typeface="Inter Bold"/>
                </a:rPr>
                <a:t>P</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38809" y="-476590"/>
            <a:ext cx="14733895" cy="11240179"/>
            <a:chOff x="0" y="0"/>
            <a:chExt cx="3880532" cy="2960376"/>
          </a:xfrm>
        </p:grpSpPr>
        <p:sp>
          <p:nvSpPr>
            <p:cNvPr name="Freeform 3" id="3"/>
            <p:cNvSpPr/>
            <p:nvPr/>
          </p:nvSpPr>
          <p:spPr>
            <a:xfrm flipH="false" flipV="false" rot="0">
              <a:off x="0" y="0"/>
              <a:ext cx="3880532" cy="2960376"/>
            </a:xfrm>
            <a:custGeom>
              <a:avLst/>
              <a:gdLst/>
              <a:ahLst/>
              <a:cxnLst/>
              <a:rect r="r" b="b" t="t" l="l"/>
              <a:pathLst>
                <a:path h="2960376" w="3880532">
                  <a:moveTo>
                    <a:pt x="0" y="0"/>
                  </a:moveTo>
                  <a:lnTo>
                    <a:pt x="3880532" y="0"/>
                  </a:lnTo>
                  <a:lnTo>
                    <a:pt x="3880532" y="2960376"/>
                  </a:lnTo>
                  <a:lnTo>
                    <a:pt x="0" y="2960376"/>
                  </a:lnTo>
                  <a:close/>
                </a:path>
              </a:pathLst>
            </a:custGeom>
            <a:solidFill>
              <a:srgbClr val="EAD6B8"/>
            </a:solidFill>
          </p:spPr>
        </p:sp>
        <p:sp>
          <p:nvSpPr>
            <p:cNvPr name="TextBox 4" id="4"/>
            <p:cNvSpPr txBox="true"/>
            <p:nvPr/>
          </p:nvSpPr>
          <p:spPr>
            <a:xfrm>
              <a:off x="0" y="-47625"/>
              <a:ext cx="3880532" cy="3008001"/>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6662312" y="-869877"/>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3245" y="505157"/>
            <a:ext cx="4813020" cy="981075"/>
          </a:xfrm>
          <a:prstGeom prst="rect">
            <a:avLst/>
          </a:prstGeom>
        </p:spPr>
        <p:txBody>
          <a:bodyPr anchor="t" rtlCol="false" tIns="0" lIns="0" bIns="0" rIns="0">
            <a:spAutoFit/>
          </a:bodyPr>
          <a:lstStyle/>
          <a:p>
            <a:pPr algn="l" marL="0" indent="0" lvl="0">
              <a:lnSpc>
                <a:spcPts val="3866"/>
              </a:lnSpc>
            </a:pPr>
            <a:r>
              <a:rPr lang="en-US" b="true" sz="3222">
                <a:solidFill>
                  <a:srgbClr val="705C40"/>
                </a:solidFill>
                <a:latin typeface="Inter Bold"/>
                <a:ea typeface="Inter Bold"/>
                <a:cs typeface="Inter Bold"/>
                <a:sym typeface="Inter Bold"/>
              </a:rPr>
              <a:t>Summary of Elicitation Outcomes</a:t>
            </a:r>
          </a:p>
        </p:txBody>
      </p:sp>
      <p:sp>
        <p:nvSpPr>
          <p:cNvPr name="TextBox 7" id="7"/>
          <p:cNvSpPr txBox="true"/>
          <p:nvPr/>
        </p:nvSpPr>
        <p:spPr>
          <a:xfrm rot="0">
            <a:off x="5100277" y="395414"/>
            <a:ext cx="10713382" cy="1562844"/>
          </a:xfrm>
          <a:prstGeom prst="rect">
            <a:avLst/>
          </a:prstGeom>
        </p:spPr>
        <p:txBody>
          <a:bodyPr anchor="t" rtlCol="false" tIns="0" lIns="0" bIns="0" rIns="0">
            <a:spAutoFit/>
          </a:bodyPr>
          <a:lstStyle/>
          <a:p>
            <a:pPr algn="l">
              <a:lnSpc>
                <a:spcPts val="4158"/>
              </a:lnSpc>
            </a:pPr>
            <a:r>
              <a:rPr lang="en-US" sz="2970" b="true">
                <a:solidFill>
                  <a:srgbClr val="000000"/>
                </a:solidFill>
                <a:latin typeface="Inter Bold"/>
                <a:ea typeface="Inter Bold"/>
                <a:cs typeface="Inter Bold"/>
                <a:sym typeface="Inter Bold"/>
              </a:rPr>
              <a:t>Objective</a:t>
            </a:r>
            <a:r>
              <a:rPr lang="en-US" sz="2970">
                <a:solidFill>
                  <a:srgbClr val="000000"/>
                </a:solidFill>
                <a:latin typeface="Inter"/>
                <a:ea typeface="Inter"/>
                <a:cs typeface="Inter"/>
                <a:sym typeface="Inter"/>
              </a:rPr>
              <a:t>: Understand stakeholders’ expectations and system feasibility.</a:t>
            </a:r>
          </a:p>
          <a:p>
            <a:pPr algn="l" marL="0" indent="0" lvl="0">
              <a:lnSpc>
                <a:spcPts val="4158"/>
              </a:lnSpc>
              <a:spcBef>
                <a:spcPct val="0"/>
              </a:spcBef>
            </a:pPr>
            <a:r>
              <a:rPr lang="en-US" b="true" sz="2970">
                <a:solidFill>
                  <a:srgbClr val="000000"/>
                </a:solidFill>
                <a:latin typeface="Inter Bold"/>
                <a:ea typeface="Inter Bold"/>
                <a:cs typeface="Inter Bold"/>
                <a:sym typeface="Inter Bold"/>
              </a:rPr>
              <a:t>Stakeholder</a:t>
            </a:r>
            <a:r>
              <a:rPr lang="en-US" sz="2970">
                <a:solidFill>
                  <a:srgbClr val="000000"/>
                </a:solidFill>
                <a:latin typeface="Inter"/>
                <a:ea typeface="Inter"/>
                <a:cs typeface="Inter"/>
                <a:sym typeface="Inter"/>
              </a:rPr>
              <a:t>: Campus IT Department (NICE)</a:t>
            </a:r>
          </a:p>
        </p:txBody>
      </p:sp>
      <p:grpSp>
        <p:nvGrpSpPr>
          <p:cNvPr name="Group 8" id="8"/>
          <p:cNvGrpSpPr/>
          <p:nvPr/>
        </p:nvGrpSpPr>
        <p:grpSpPr>
          <a:xfrm rot="0">
            <a:off x="0" y="1613363"/>
            <a:ext cx="4288595" cy="693799"/>
            <a:chOff x="0" y="0"/>
            <a:chExt cx="1129507" cy="182729"/>
          </a:xfrm>
        </p:grpSpPr>
        <p:sp>
          <p:nvSpPr>
            <p:cNvPr name="Freeform 9" id="9"/>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0" id="10"/>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b="true">
                  <a:solidFill>
                    <a:srgbClr val="000000"/>
                  </a:solidFill>
                  <a:latin typeface="Inter Bold"/>
                  <a:ea typeface="Inter Bold"/>
                  <a:cs typeface="Inter Bold"/>
                  <a:sym typeface="Inter Bold"/>
                </a:rPr>
                <a:t>1.Structured interview</a:t>
              </a:r>
            </a:p>
          </p:txBody>
        </p:sp>
      </p:grpSp>
      <p:grpSp>
        <p:nvGrpSpPr>
          <p:cNvPr name="Group 11" id="11"/>
          <p:cNvGrpSpPr/>
          <p:nvPr/>
        </p:nvGrpSpPr>
        <p:grpSpPr>
          <a:xfrm rot="0">
            <a:off x="4039812" y="1733152"/>
            <a:ext cx="450213" cy="45021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5C40"/>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true" rot="-7513652">
            <a:off x="-674852" y="7844873"/>
            <a:ext cx="2520989" cy="3962261"/>
          </a:xfrm>
          <a:custGeom>
            <a:avLst/>
            <a:gdLst/>
            <a:ahLst/>
            <a:cxnLst/>
            <a:rect r="r" b="b" t="t" l="l"/>
            <a:pathLst>
              <a:path h="3962261" w="2520989">
                <a:moveTo>
                  <a:pt x="0" y="3962262"/>
                </a:moveTo>
                <a:lnTo>
                  <a:pt x="2520989" y="3962262"/>
                </a:lnTo>
                <a:lnTo>
                  <a:pt x="2520989" y="0"/>
                </a:lnTo>
                <a:lnTo>
                  <a:pt x="0" y="0"/>
                </a:lnTo>
                <a:lnTo>
                  <a:pt x="0" y="3962262"/>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0" y="2800486"/>
            <a:ext cx="4288595" cy="693799"/>
            <a:chOff x="0" y="0"/>
            <a:chExt cx="1129507" cy="182729"/>
          </a:xfrm>
        </p:grpSpPr>
        <p:sp>
          <p:nvSpPr>
            <p:cNvPr name="Freeform 16" id="16"/>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7" id="17"/>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2.Questionnaire</a:t>
              </a:r>
            </a:p>
          </p:txBody>
        </p:sp>
      </p:grpSp>
      <p:grpSp>
        <p:nvGrpSpPr>
          <p:cNvPr name="Group 18" id="18"/>
          <p:cNvGrpSpPr/>
          <p:nvPr/>
        </p:nvGrpSpPr>
        <p:grpSpPr>
          <a:xfrm rot="0">
            <a:off x="0" y="3989585"/>
            <a:ext cx="4288595" cy="693799"/>
            <a:chOff x="0" y="0"/>
            <a:chExt cx="1129507" cy="182729"/>
          </a:xfrm>
        </p:grpSpPr>
        <p:sp>
          <p:nvSpPr>
            <p:cNvPr name="Freeform 19" id="19"/>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20" id="20"/>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3.Observation</a:t>
              </a:r>
            </a:p>
          </p:txBody>
        </p:sp>
      </p:grpSp>
      <p:sp>
        <p:nvSpPr>
          <p:cNvPr name="Freeform 21" id="21"/>
          <p:cNvSpPr/>
          <p:nvPr/>
        </p:nvSpPr>
        <p:spPr>
          <a:xfrm flipH="false" flipV="false" rot="-2090968">
            <a:off x="-6309431" y="11893803"/>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2" id="22"/>
          <p:cNvGrpSpPr/>
          <p:nvPr/>
        </p:nvGrpSpPr>
        <p:grpSpPr>
          <a:xfrm rot="0">
            <a:off x="4039812" y="2921263"/>
            <a:ext cx="450213" cy="45021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25" id="25"/>
          <p:cNvGrpSpPr/>
          <p:nvPr/>
        </p:nvGrpSpPr>
        <p:grpSpPr>
          <a:xfrm rot="0">
            <a:off x="4087165" y="4111406"/>
            <a:ext cx="450213" cy="45021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aphicFrame>
        <p:nvGraphicFramePr>
          <p:cNvPr name="Table 28" id="28"/>
          <p:cNvGraphicFramePr>
            <a:graphicFrameLocks noGrp="true"/>
          </p:cNvGraphicFramePr>
          <p:nvPr/>
        </p:nvGraphicFramePr>
        <p:xfrm>
          <a:off x="5100277" y="2307162"/>
          <a:ext cx="12824313" cy="7896278"/>
        </p:xfrm>
        <a:graphic>
          <a:graphicData uri="http://schemas.openxmlformats.org/drawingml/2006/table">
            <a:tbl>
              <a:tblPr/>
              <a:tblGrid>
                <a:gridCol w="3366990"/>
                <a:gridCol w="9457324"/>
              </a:tblGrid>
              <a:tr h="1208605">
                <a:tc>
                  <a:txBody>
                    <a:bodyPr anchor="t" rtlCol="false"/>
                    <a:lstStyle/>
                    <a:p>
                      <a:pPr algn="ctr">
                        <a:lnSpc>
                          <a:spcPts val="3430"/>
                        </a:lnSpc>
                        <a:defRPr/>
                      </a:pPr>
                      <a:r>
                        <a:rPr lang="en-US" sz="2450" b="true">
                          <a:solidFill>
                            <a:srgbClr val="000000"/>
                          </a:solidFill>
                          <a:latin typeface="Poppins Bold"/>
                          <a:ea typeface="Poppins Bold"/>
                          <a:cs typeface="Poppins Bold"/>
                          <a:sym typeface="Poppins Bold"/>
                        </a:rPr>
                        <a:t>Topic</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DCDA0"/>
                    </a:solidFill>
                  </a:tcPr>
                </a:tc>
                <a:tc>
                  <a:txBody>
                    <a:bodyPr anchor="t" rtlCol="false"/>
                    <a:lstStyle/>
                    <a:p>
                      <a:pPr algn="ctr">
                        <a:lnSpc>
                          <a:spcPts val="3847"/>
                        </a:lnSpc>
                        <a:defRPr/>
                      </a:pPr>
                      <a:r>
                        <a:rPr lang="en-US" sz="2748" b="true">
                          <a:solidFill>
                            <a:srgbClr val="000000"/>
                          </a:solidFill>
                          <a:latin typeface="Poppins Bold"/>
                          <a:ea typeface="Poppins Bold"/>
                          <a:cs typeface="Poppins Bold"/>
                          <a:sym typeface="Poppins Bold"/>
                        </a:rPr>
                        <a:t>Key Insights</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AD6B8"/>
                    </a:solidFill>
                  </a:tcPr>
                </a:tc>
              </a:tr>
              <a:tr h="1339538">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Improper Parking Reporting</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Technically possible; needs coordination with security. False reports are a concern, so some kind of verification is needed.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39538">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Parking Reservation</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Possible in selected areas. Short-term reservations (30 mins–2 hours) are preferred. Unused spots should be auto-released.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39538">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Real-Time Parking Tracker</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Can work using sensors or CCTV, but requires funding and may be rolled out in stages.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34530">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Admin Roles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Assigning admins is possible. Should work with existing campus roles.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34530">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MMU ID Integration</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Feasible with proper data privacy measures and internal approval.</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38809" y="-476590"/>
            <a:ext cx="14733895" cy="11240179"/>
            <a:chOff x="0" y="0"/>
            <a:chExt cx="3880532" cy="2960376"/>
          </a:xfrm>
        </p:grpSpPr>
        <p:sp>
          <p:nvSpPr>
            <p:cNvPr name="Freeform 3" id="3"/>
            <p:cNvSpPr/>
            <p:nvPr/>
          </p:nvSpPr>
          <p:spPr>
            <a:xfrm flipH="false" flipV="false" rot="0">
              <a:off x="0" y="0"/>
              <a:ext cx="3880532" cy="2960376"/>
            </a:xfrm>
            <a:custGeom>
              <a:avLst/>
              <a:gdLst/>
              <a:ahLst/>
              <a:cxnLst/>
              <a:rect r="r" b="b" t="t" l="l"/>
              <a:pathLst>
                <a:path h="2960376" w="3880532">
                  <a:moveTo>
                    <a:pt x="0" y="0"/>
                  </a:moveTo>
                  <a:lnTo>
                    <a:pt x="3880532" y="0"/>
                  </a:lnTo>
                  <a:lnTo>
                    <a:pt x="3880532" y="2960376"/>
                  </a:lnTo>
                  <a:lnTo>
                    <a:pt x="0" y="2960376"/>
                  </a:lnTo>
                  <a:close/>
                </a:path>
              </a:pathLst>
            </a:custGeom>
            <a:solidFill>
              <a:srgbClr val="EAD6B8"/>
            </a:solidFill>
          </p:spPr>
        </p:sp>
        <p:sp>
          <p:nvSpPr>
            <p:cNvPr name="TextBox 4" id="4"/>
            <p:cNvSpPr txBox="true"/>
            <p:nvPr/>
          </p:nvSpPr>
          <p:spPr>
            <a:xfrm>
              <a:off x="0" y="-47625"/>
              <a:ext cx="3880532" cy="3008001"/>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6662312" y="-869877"/>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3245" y="505157"/>
            <a:ext cx="4813020" cy="981075"/>
          </a:xfrm>
          <a:prstGeom prst="rect">
            <a:avLst/>
          </a:prstGeom>
        </p:spPr>
        <p:txBody>
          <a:bodyPr anchor="t" rtlCol="false" tIns="0" lIns="0" bIns="0" rIns="0">
            <a:spAutoFit/>
          </a:bodyPr>
          <a:lstStyle/>
          <a:p>
            <a:pPr algn="l" marL="0" indent="0" lvl="0">
              <a:lnSpc>
                <a:spcPts val="3866"/>
              </a:lnSpc>
            </a:pPr>
            <a:r>
              <a:rPr lang="en-US" b="true" sz="3222">
                <a:solidFill>
                  <a:srgbClr val="705C40"/>
                </a:solidFill>
                <a:latin typeface="Inter Bold"/>
                <a:ea typeface="Inter Bold"/>
                <a:cs typeface="Inter Bold"/>
                <a:sym typeface="Inter Bold"/>
              </a:rPr>
              <a:t>Summary of Elicitation Outcomes</a:t>
            </a:r>
          </a:p>
        </p:txBody>
      </p:sp>
      <p:sp>
        <p:nvSpPr>
          <p:cNvPr name="TextBox 7" id="7"/>
          <p:cNvSpPr txBox="true"/>
          <p:nvPr/>
        </p:nvSpPr>
        <p:spPr>
          <a:xfrm rot="0">
            <a:off x="5149706" y="305068"/>
            <a:ext cx="10713382" cy="2086719"/>
          </a:xfrm>
          <a:prstGeom prst="rect">
            <a:avLst/>
          </a:prstGeom>
        </p:spPr>
        <p:txBody>
          <a:bodyPr anchor="t" rtlCol="false" tIns="0" lIns="0" bIns="0" rIns="0">
            <a:spAutoFit/>
          </a:bodyPr>
          <a:lstStyle/>
          <a:p>
            <a:pPr algn="l">
              <a:lnSpc>
                <a:spcPts val="4158"/>
              </a:lnSpc>
            </a:pPr>
            <a:r>
              <a:rPr lang="en-US" sz="2970" b="true">
                <a:solidFill>
                  <a:srgbClr val="000000"/>
                </a:solidFill>
                <a:latin typeface="Inter Bold"/>
                <a:ea typeface="Inter Bold"/>
                <a:cs typeface="Inter Bold"/>
                <a:sym typeface="Inter Bold"/>
              </a:rPr>
              <a:t>Objective</a:t>
            </a:r>
            <a:r>
              <a:rPr lang="en-US" sz="2970">
                <a:solidFill>
                  <a:srgbClr val="000000"/>
                </a:solidFill>
                <a:latin typeface="Inter"/>
                <a:ea typeface="Inter"/>
                <a:cs typeface="Inter"/>
                <a:sym typeface="Inter"/>
              </a:rPr>
              <a:t>: To understand user expectations for design, features, and app performance.</a:t>
            </a:r>
          </a:p>
          <a:p>
            <a:pPr algn="l">
              <a:lnSpc>
                <a:spcPts val="4158"/>
              </a:lnSpc>
            </a:pPr>
            <a:r>
              <a:rPr lang="en-US" sz="2970" b="true">
                <a:solidFill>
                  <a:srgbClr val="000000"/>
                </a:solidFill>
                <a:latin typeface="Inter Bold"/>
                <a:ea typeface="Inter Bold"/>
                <a:cs typeface="Inter Bold"/>
                <a:sym typeface="Inter Bold"/>
              </a:rPr>
              <a:t>Audience</a:t>
            </a:r>
            <a:r>
              <a:rPr lang="en-US" sz="2970">
                <a:solidFill>
                  <a:srgbClr val="000000"/>
                </a:solidFill>
                <a:latin typeface="Inter"/>
                <a:ea typeface="Inter"/>
                <a:cs typeface="Inter"/>
                <a:sym typeface="Inter"/>
              </a:rPr>
              <a:t>: MMU students and staff</a:t>
            </a:r>
          </a:p>
          <a:p>
            <a:pPr algn="l" marL="0" indent="0" lvl="0">
              <a:lnSpc>
                <a:spcPts val="4158"/>
              </a:lnSpc>
              <a:spcBef>
                <a:spcPct val="0"/>
              </a:spcBef>
            </a:pPr>
            <a:r>
              <a:rPr lang="en-US" b="true" sz="2970">
                <a:solidFill>
                  <a:srgbClr val="000000"/>
                </a:solidFill>
                <a:latin typeface="Inter Bold"/>
                <a:ea typeface="Inter Bold"/>
                <a:cs typeface="Inter Bold"/>
                <a:sym typeface="Inter Bold"/>
              </a:rPr>
              <a:t>Method: </a:t>
            </a:r>
            <a:r>
              <a:rPr lang="en-US" sz="2970">
                <a:solidFill>
                  <a:srgbClr val="000000"/>
                </a:solidFill>
                <a:latin typeface="Inter"/>
                <a:ea typeface="Inter"/>
                <a:cs typeface="Inter"/>
                <a:sym typeface="Inter"/>
              </a:rPr>
              <a:t>Google Forms</a:t>
            </a:r>
          </a:p>
        </p:txBody>
      </p:sp>
      <p:grpSp>
        <p:nvGrpSpPr>
          <p:cNvPr name="Group 8" id="8"/>
          <p:cNvGrpSpPr/>
          <p:nvPr/>
        </p:nvGrpSpPr>
        <p:grpSpPr>
          <a:xfrm rot="0">
            <a:off x="0" y="1613363"/>
            <a:ext cx="4288595" cy="693799"/>
            <a:chOff x="0" y="0"/>
            <a:chExt cx="1129507" cy="182729"/>
          </a:xfrm>
        </p:grpSpPr>
        <p:sp>
          <p:nvSpPr>
            <p:cNvPr name="Freeform 9" id="9"/>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0" id="10"/>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1.Structured interview</a:t>
              </a:r>
            </a:p>
          </p:txBody>
        </p:sp>
      </p:grpSp>
      <p:grpSp>
        <p:nvGrpSpPr>
          <p:cNvPr name="Group 11" id="11"/>
          <p:cNvGrpSpPr/>
          <p:nvPr/>
        </p:nvGrpSpPr>
        <p:grpSpPr>
          <a:xfrm rot="0">
            <a:off x="4039812" y="1733152"/>
            <a:ext cx="450213" cy="45021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true" rot="-7513652">
            <a:off x="-674852" y="7844873"/>
            <a:ext cx="2520989" cy="3962261"/>
          </a:xfrm>
          <a:custGeom>
            <a:avLst/>
            <a:gdLst/>
            <a:ahLst/>
            <a:cxnLst/>
            <a:rect r="r" b="b" t="t" l="l"/>
            <a:pathLst>
              <a:path h="3962261" w="2520989">
                <a:moveTo>
                  <a:pt x="0" y="3962262"/>
                </a:moveTo>
                <a:lnTo>
                  <a:pt x="2520989" y="3962262"/>
                </a:lnTo>
                <a:lnTo>
                  <a:pt x="2520989" y="0"/>
                </a:lnTo>
                <a:lnTo>
                  <a:pt x="0" y="0"/>
                </a:lnTo>
                <a:lnTo>
                  <a:pt x="0" y="3962262"/>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0" y="2800486"/>
            <a:ext cx="4288595" cy="693799"/>
            <a:chOff x="0" y="0"/>
            <a:chExt cx="1129507" cy="182729"/>
          </a:xfrm>
        </p:grpSpPr>
        <p:sp>
          <p:nvSpPr>
            <p:cNvPr name="Freeform 16" id="16"/>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7" id="17"/>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b="true">
                  <a:solidFill>
                    <a:srgbClr val="000000"/>
                  </a:solidFill>
                  <a:latin typeface="Inter Bold"/>
                  <a:ea typeface="Inter Bold"/>
                  <a:cs typeface="Inter Bold"/>
                  <a:sym typeface="Inter Bold"/>
                </a:rPr>
                <a:t>2.Questionnaire</a:t>
              </a:r>
            </a:p>
          </p:txBody>
        </p:sp>
      </p:grpSp>
      <p:grpSp>
        <p:nvGrpSpPr>
          <p:cNvPr name="Group 18" id="18"/>
          <p:cNvGrpSpPr/>
          <p:nvPr/>
        </p:nvGrpSpPr>
        <p:grpSpPr>
          <a:xfrm rot="0">
            <a:off x="0" y="3989585"/>
            <a:ext cx="4288595" cy="693799"/>
            <a:chOff x="0" y="0"/>
            <a:chExt cx="1129507" cy="182729"/>
          </a:xfrm>
        </p:grpSpPr>
        <p:sp>
          <p:nvSpPr>
            <p:cNvPr name="Freeform 19" id="19"/>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20" id="20"/>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3.Observation</a:t>
              </a:r>
            </a:p>
          </p:txBody>
        </p:sp>
      </p:grpSp>
      <p:sp>
        <p:nvSpPr>
          <p:cNvPr name="Freeform 21" id="21"/>
          <p:cNvSpPr/>
          <p:nvPr/>
        </p:nvSpPr>
        <p:spPr>
          <a:xfrm flipH="false" flipV="false" rot="-2090968">
            <a:off x="-5925845" y="11697735"/>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2" id="22"/>
          <p:cNvGrpSpPr/>
          <p:nvPr/>
        </p:nvGrpSpPr>
        <p:grpSpPr>
          <a:xfrm rot="0">
            <a:off x="4039812" y="2921263"/>
            <a:ext cx="450213" cy="45021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5C40"/>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25" id="25"/>
          <p:cNvGrpSpPr/>
          <p:nvPr/>
        </p:nvGrpSpPr>
        <p:grpSpPr>
          <a:xfrm rot="0">
            <a:off x="4087165" y="4111406"/>
            <a:ext cx="450213" cy="45021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aphicFrame>
        <p:nvGraphicFramePr>
          <p:cNvPr name="Table 28" id="28"/>
          <p:cNvGraphicFramePr>
            <a:graphicFrameLocks noGrp="true"/>
          </p:cNvGraphicFramePr>
          <p:nvPr/>
        </p:nvGraphicFramePr>
        <p:xfrm>
          <a:off x="5149706" y="2800486"/>
          <a:ext cx="12824313" cy="7322775"/>
        </p:xfrm>
        <a:graphic>
          <a:graphicData uri="http://schemas.openxmlformats.org/drawingml/2006/table">
            <a:tbl>
              <a:tblPr/>
              <a:tblGrid>
                <a:gridCol w="3366990"/>
                <a:gridCol w="9457324"/>
              </a:tblGrid>
              <a:tr h="1214063">
                <a:tc>
                  <a:txBody>
                    <a:bodyPr anchor="t" rtlCol="false"/>
                    <a:lstStyle/>
                    <a:p>
                      <a:pPr algn="ctr">
                        <a:lnSpc>
                          <a:spcPts val="3430"/>
                        </a:lnSpc>
                        <a:defRPr/>
                      </a:pPr>
                      <a:r>
                        <a:rPr lang="en-US" sz="2450" b="true">
                          <a:solidFill>
                            <a:srgbClr val="000000"/>
                          </a:solidFill>
                          <a:latin typeface="Poppins Bold"/>
                          <a:ea typeface="Poppins Bold"/>
                          <a:cs typeface="Poppins Bold"/>
                          <a:sym typeface="Poppins Bold"/>
                        </a:rPr>
                        <a:t>Feature</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DCDA0"/>
                    </a:solidFill>
                  </a:tcPr>
                </a:tc>
                <a:tc>
                  <a:txBody>
                    <a:bodyPr anchor="t" rtlCol="false"/>
                    <a:lstStyle/>
                    <a:p>
                      <a:pPr algn="ctr">
                        <a:lnSpc>
                          <a:spcPts val="3847"/>
                        </a:lnSpc>
                        <a:defRPr/>
                      </a:pPr>
                      <a:r>
                        <a:rPr lang="en-US" sz="2748" b="true">
                          <a:solidFill>
                            <a:srgbClr val="000000"/>
                          </a:solidFill>
                          <a:latin typeface="Poppins Bold"/>
                          <a:ea typeface="Poppins Bold"/>
                          <a:cs typeface="Poppins Bold"/>
                          <a:sym typeface="Poppins Bold"/>
                        </a:rPr>
                        <a:t>User Feedback</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AD6B8"/>
                    </a:solidFill>
                  </a:tcPr>
                </a:tc>
              </a:tr>
              <a:tr h="1035266">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Improper Parking Reporting</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Strongly support. Users want the ability to report issues.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40556">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Live Parking Map</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Highly valued. Considered essential for the system to work well.</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40556">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Parking Reservation</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Mixed opinions. Should be optional and implemented fairly.</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40556">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Ride Booking &amp; Tracking</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Mixed feedback. Tracking is useful but should respect privacy.</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051779">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User Interface</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Users prefer a modern, consistent design without pop-ups.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38809" y="-476590"/>
            <a:ext cx="14733895" cy="11240179"/>
            <a:chOff x="0" y="0"/>
            <a:chExt cx="3880532" cy="2960376"/>
          </a:xfrm>
        </p:grpSpPr>
        <p:sp>
          <p:nvSpPr>
            <p:cNvPr name="Freeform 3" id="3"/>
            <p:cNvSpPr/>
            <p:nvPr/>
          </p:nvSpPr>
          <p:spPr>
            <a:xfrm flipH="false" flipV="false" rot="0">
              <a:off x="0" y="0"/>
              <a:ext cx="3880532" cy="2960376"/>
            </a:xfrm>
            <a:custGeom>
              <a:avLst/>
              <a:gdLst/>
              <a:ahLst/>
              <a:cxnLst/>
              <a:rect r="r" b="b" t="t" l="l"/>
              <a:pathLst>
                <a:path h="2960376" w="3880532">
                  <a:moveTo>
                    <a:pt x="0" y="0"/>
                  </a:moveTo>
                  <a:lnTo>
                    <a:pt x="3880532" y="0"/>
                  </a:lnTo>
                  <a:lnTo>
                    <a:pt x="3880532" y="2960376"/>
                  </a:lnTo>
                  <a:lnTo>
                    <a:pt x="0" y="2960376"/>
                  </a:lnTo>
                  <a:close/>
                </a:path>
              </a:pathLst>
            </a:custGeom>
            <a:solidFill>
              <a:srgbClr val="EAD6B8"/>
            </a:solidFill>
          </p:spPr>
        </p:sp>
        <p:sp>
          <p:nvSpPr>
            <p:cNvPr name="TextBox 4" id="4"/>
            <p:cNvSpPr txBox="true"/>
            <p:nvPr/>
          </p:nvSpPr>
          <p:spPr>
            <a:xfrm>
              <a:off x="0" y="-47625"/>
              <a:ext cx="3880532" cy="3008001"/>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6662312" y="-869877"/>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3245" y="505157"/>
            <a:ext cx="4813020" cy="981075"/>
          </a:xfrm>
          <a:prstGeom prst="rect">
            <a:avLst/>
          </a:prstGeom>
        </p:spPr>
        <p:txBody>
          <a:bodyPr anchor="t" rtlCol="false" tIns="0" lIns="0" bIns="0" rIns="0">
            <a:spAutoFit/>
          </a:bodyPr>
          <a:lstStyle/>
          <a:p>
            <a:pPr algn="l" marL="0" indent="0" lvl="0">
              <a:lnSpc>
                <a:spcPts val="3866"/>
              </a:lnSpc>
            </a:pPr>
            <a:r>
              <a:rPr lang="en-US" b="true" sz="3222">
                <a:solidFill>
                  <a:srgbClr val="705C40"/>
                </a:solidFill>
                <a:latin typeface="Inter Bold"/>
                <a:ea typeface="Inter Bold"/>
                <a:cs typeface="Inter Bold"/>
                <a:sym typeface="Inter Bold"/>
              </a:rPr>
              <a:t>Summary of Elicitation Outcomes</a:t>
            </a:r>
          </a:p>
        </p:txBody>
      </p:sp>
      <p:grpSp>
        <p:nvGrpSpPr>
          <p:cNvPr name="Group 7" id="7"/>
          <p:cNvGrpSpPr/>
          <p:nvPr/>
        </p:nvGrpSpPr>
        <p:grpSpPr>
          <a:xfrm rot="0">
            <a:off x="0" y="1613363"/>
            <a:ext cx="4288595" cy="693799"/>
            <a:chOff x="0" y="0"/>
            <a:chExt cx="1129507" cy="182729"/>
          </a:xfrm>
        </p:grpSpPr>
        <p:sp>
          <p:nvSpPr>
            <p:cNvPr name="Freeform 8" id="8"/>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9" id="9"/>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1.Structured interview</a:t>
              </a:r>
            </a:p>
          </p:txBody>
        </p:sp>
      </p:grpSp>
      <p:grpSp>
        <p:nvGrpSpPr>
          <p:cNvPr name="Group 10" id="10"/>
          <p:cNvGrpSpPr/>
          <p:nvPr/>
        </p:nvGrpSpPr>
        <p:grpSpPr>
          <a:xfrm rot="0">
            <a:off x="4039812" y="1733152"/>
            <a:ext cx="450213" cy="45021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3" id="13"/>
          <p:cNvSpPr/>
          <p:nvPr/>
        </p:nvSpPr>
        <p:spPr>
          <a:xfrm flipH="false" flipV="true" rot="-7513652">
            <a:off x="-674852" y="7844873"/>
            <a:ext cx="2520989" cy="3962261"/>
          </a:xfrm>
          <a:custGeom>
            <a:avLst/>
            <a:gdLst/>
            <a:ahLst/>
            <a:cxnLst/>
            <a:rect r="r" b="b" t="t" l="l"/>
            <a:pathLst>
              <a:path h="3962261" w="2520989">
                <a:moveTo>
                  <a:pt x="0" y="3962262"/>
                </a:moveTo>
                <a:lnTo>
                  <a:pt x="2520989" y="3962262"/>
                </a:lnTo>
                <a:lnTo>
                  <a:pt x="2520989" y="0"/>
                </a:lnTo>
                <a:lnTo>
                  <a:pt x="0" y="0"/>
                </a:lnTo>
                <a:lnTo>
                  <a:pt x="0" y="3962262"/>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0" y="2800486"/>
            <a:ext cx="4288595" cy="693799"/>
            <a:chOff x="0" y="0"/>
            <a:chExt cx="1129507" cy="182729"/>
          </a:xfrm>
        </p:grpSpPr>
        <p:sp>
          <p:nvSpPr>
            <p:cNvPr name="Freeform 15" id="15"/>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6" id="16"/>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b="true">
                  <a:solidFill>
                    <a:srgbClr val="000000"/>
                  </a:solidFill>
                  <a:latin typeface="Inter Bold"/>
                  <a:ea typeface="Inter Bold"/>
                  <a:cs typeface="Inter Bold"/>
                  <a:sym typeface="Inter Bold"/>
                </a:rPr>
                <a:t>2.Questionnaire</a:t>
              </a:r>
            </a:p>
          </p:txBody>
        </p:sp>
      </p:grpSp>
      <p:grpSp>
        <p:nvGrpSpPr>
          <p:cNvPr name="Group 17" id="17"/>
          <p:cNvGrpSpPr/>
          <p:nvPr/>
        </p:nvGrpSpPr>
        <p:grpSpPr>
          <a:xfrm rot="0">
            <a:off x="0" y="3989585"/>
            <a:ext cx="4288595" cy="693799"/>
            <a:chOff x="0" y="0"/>
            <a:chExt cx="1129507" cy="182729"/>
          </a:xfrm>
        </p:grpSpPr>
        <p:sp>
          <p:nvSpPr>
            <p:cNvPr name="Freeform 18" id="18"/>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9" id="19"/>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3.Observation</a:t>
              </a:r>
            </a:p>
          </p:txBody>
        </p:sp>
      </p:grpSp>
      <p:sp>
        <p:nvSpPr>
          <p:cNvPr name="Freeform 20" id="20"/>
          <p:cNvSpPr/>
          <p:nvPr/>
        </p:nvSpPr>
        <p:spPr>
          <a:xfrm flipH="false" flipV="false" rot="-2090968">
            <a:off x="-5925845" y="11697735"/>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4039812" y="2921263"/>
            <a:ext cx="450213" cy="45021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5C40"/>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24" id="24"/>
          <p:cNvGrpSpPr/>
          <p:nvPr/>
        </p:nvGrpSpPr>
        <p:grpSpPr>
          <a:xfrm rot="0">
            <a:off x="4087165" y="4111406"/>
            <a:ext cx="450213" cy="45021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aphicFrame>
        <p:nvGraphicFramePr>
          <p:cNvPr name="Table 27" id="27"/>
          <p:cNvGraphicFramePr>
            <a:graphicFrameLocks noGrp="true"/>
          </p:cNvGraphicFramePr>
          <p:nvPr/>
        </p:nvGraphicFramePr>
        <p:xfrm>
          <a:off x="5213180" y="147898"/>
          <a:ext cx="12786679" cy="10097414"/>
        </p:xfrm>
        <a:graphic>
          <a:graphicData uri="http://schemas.openxmlformats.org/drawingml/2006/table">
            <a:tbl>
              <a:tblPr/>
              <a:tblGrid>
                <a:gridCol w="3357109"/>
                <a:gridCol w="9429570"/>
              </a:tblGrid>
              <a:tr h="134686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App Speed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Pages should load in 1–2 seconds. Parking data should refresh every 3–5 seconds.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23394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Notifications &amp; Chat</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Notifications are important. Chat is helpful but not a must-have.</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23394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In-App Payments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Convenient for frequent users but not critical for everyone.</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23394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Admin Access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Supported for rule enforcement and safety.</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23394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Support &amp; Errors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Clear error messages and helpful guides are important.</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4686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Themes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Consistent look preferred. Option to switch between light and dark modes is appreciated.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23394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Device Support</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Users want both web and mobile access.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233947">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Login Process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Too many logins are annoying. Persistent login is preferred.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38809" y="-476590"/>
            <a:ext cx="14733895" cy="11240179"/>
            <a:chOff x="0" y="0"/>
            <a:chExt cx="3880532" cy="2960376"/>
          </a:xfrm>
        </p:grpSpPr>
        <p:sp>
          <p:nvSpPr>
            <p:cNvPr name="Freeform 3" id="3"/>
            <p:cNvSpPr/>
            <p:nvPr/>
          </p:nvSpPr>
          <p:spPr>
            <a:xfrm flipH="false" flipV="false" rot="0">
              <a:off x="0" y="0"/>
              <a:ext cx="3880532" cy="2960376"/>
            </a:xfrm>
            <a:custGeom>
              <a:avLst/>
              <a:gdLst/>
              <a:ahLst/>
              <a:cxnLst/>
              <a:rect r="r" b="b" t="t" l="l"/>
              <a:pathLst>
                <a:path h="2960376" w="3880532">
                  <a:moveTo>
                    <a:pt x="0" y="0"/>
                  </a:moveTo>
                  <a:lnTo>
                    <a:pt x="3880532" y="0"/>
                  </a:lnTo>
                  <a:lnTo>
                    <a:pt x="3880532" y="2960376"/>
                  </a:lnTo>
                  <a:lnTo>
                    <a:pt x="0" y="2960376"/>
                  </a:lnTo>
                  <a:close/>
                </a:path>
              </a:pathLst>
            </a:custGeom>
            <a:solidFill>
              <a:srgbClr val="EAD6B8"/>
            </a:solidFill>
          </p:spPr>
        </p:sp>
        <p:sp>
          <p:nvSpPr>
            <p:cNvPr name="TextBox 4" id="4"/>
            <p:cNvSpPr txBox="true"/>
            <p:nvPr/>
          </p:nvSpPr>
          <p:spPr>
            <a:xfrm>
              <a:off x="0" y="-47625"/>
              <a:ext cx="3880532" cy="3008001"/>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0">
            <a:off x="16662312" y="-869877"/>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73245" y="505157"/>
            <a:ext cx="4813020" cy="981075"/>
          </a:xfrm>
          <a:prstGeom prst="rect">
            <a:avLst/>
          </a:prstGeom>
        </p:spPr>
        <p:txBody>
          <a:bodyPr anchor="t" rtlCol="false" tIns="0" lIns="0" bIns="0" rIns="0">
            <a:spAutoFit/>
          </a:bodyPr>
          <a:lstStyle/>
          <a:p>
            <a:pPr algn="l" marL="0" indent="0" lvl="0">
              <a:lnSpc>
                <a:spcPts val="3866"/>
              </a:lnSpc>
            </a:pPr>
            <a:r>
              <a:rPr lang="en-US" b="true" sz="3222">
                <a:solidFill>
                  <a:srgbClr val="705C40"/>
                </a:solidFill>
                <a:latin typeface="Inter Bold"/>
                <a:ea typeface="Inter Bold"/>
                <a:cs typeface="Inter Bold"/>
                <a:sym typeface="Inter Bold"/>
              </a:rPr>
              <a:t>Summary of Elicitation Outcomes</a:t>
            </a:r>
          </a:p>
        </p:txBody>
      </p:sp>
      <p:sp>
        <p:nvSpPr>
          <p:cNvPr name="TextBox 7" id="7"/>
          <p:cNvSpPr txBox="true"/>
          <p:nvPr/>
        </p:nvSpPr>
        <p:spPr>
          <a:xfrm rot="0">
            <a:off x="5149706" y="919289"/>
            <a:ext cx="10713382" cy="1038969"/>
          </a:xfrm>
          <a:prstGeom prst="rect">
            <a:avLst/>
          </a:prstGeom>
        </p:spPr>
        <p:txBody>
          <a:bodyPr anchor="t" rtlCol="false" tIns="0" lIns="0" bIns="0" rIns="0">
            <a:spAutoFit/>
          </a:bodyPr>
          <a:lstStyle/>
          <a:p>
            <a:pPr algn="l" marL="0" indent="0" lvl="0">
              <a:lnSpc>
                <a:spcPts val="4158"/>
              </a:lnSpc>
              <a:spcBef>
                <a:spcPct val="0"/>
              </a:spcBef>
            </a:pPr>
            <a:r>
              <a:rPr lang="en-US" b="true" sz="2970">
                <a:solidFill>
                  <a:srgbClr val="000000"/>
                </a:solidFill>
                <a:latin typeface="Inter Bold"/>
                <a:ea typeface="Inter Bold"/>
                <a:cs typeface="Inter Bold"/>
                <a:sym typeface="Inter Bold"/>
              </a:rPr>
              <a:t>Objective</a:t>
            </a:r>
            <a:r>
              <a:rPr lang="en-US" sz="2970">
                <a:solidFill>
                  <a:srgbClr val="000000"/>
                </a:solidFill>
                <a:latin typeface="Inter"/>
                <a:ea typeface="Inter"/>
                <a:cs typeface="Inter"/>
                <a:sym typeface="Inter"/>
              </a:rPr>
              <a:t>: To see how parking and transportation work in real camp</a:t>
            </a:r>
            <a:r>
              <a:rPr lang="en-US" sz="2970">
                <a:solidFill>
                  <a:srgbClr val="000000"/>
                </a:solidFill>
                <a:latin typeface="Inter"/>
                <a:ea typeface="Inter"/>
                <a:cs typeface="Inter"/>
                <a:sym typeface="Inter"/>
              </a:rPr>
              <a:t>u</a:t>
            </a:r>
            <a:r>
              <a:rPr lang="en-US" sz="2970">
                <a:solidFill>
                  <a:srgbClr val="000000"/>
                </a:solidFill>
                <a:latin typeface="Inter"/>
                <a:ea typeface="Inter"/>
                <a:cs typeface="Inter"/>
                <a:sym typeface="Inter"/>
              </a:rPr>
              <a:t>s settings.</a:t>
            </a:r>
          </a:p>
        </p:txBody>
      </p:sp>
      <p:grpSp>
        <p:nvGrpSpPr>
          <p:cNvPr name="Group 8" id="8"/>
          <p:cNvGrpSpPr/>
          <p:nvPr/>
        </p:nvGrpSpPr>
        <p:grpSpPr>
          <a:xfrm rot="0">
            <a:off x="0" y="1613363"/>
            <a:ext cx="4288595" cy="693799"/>
            <a:chOff x="0" y="0"/>
            <a:chExt cx="1129507" cy="182729"/>
          </a:xfrm>
        </p:grpSpPr>
        <p:sp>
          <p:nvSpPr>
            <p:cNvPr name="Freeform 9" id="9"/>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0" id="10"/>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1.Structured interview</a:t>
              </a:r>
            </a:p>
          </p:txBody>
        </p:sp>
      </p:grpSp>
      <p:grpSp>
        <p:nvGrpSpPr>
          <p:cNvPr name="Group 11" id="11"/>
          <p:cNvGrpSpPr/>
          <p:nvPr/>
        </p:nvGrpSpPr>
        <p:grpSpPr>
          <a:xfrm rot="0">
            <a:off x="4039812" y="1733152"/>
            <a:ext cx="450213" cy="45021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true" rot="-7513652">
            <a:off x="-674852" y="7844873"/>
            <a:ext cx="2520989" cy="3962261"/>
          </a:xfrm>
          <a:custGeom>
            <a:avLst/>
            <a:gdLst/>
            <a:ahLst/>
            <a:cxnLst/>
            <a:rect r="r" b="b" t="t" l="l"/>
            <a:pathLst>
              <a:path h="3962261" w="2520989">
                <a:moveTo>
                  <a:pt x="0" y="3962262"/>
                </a:moveTo>
                <a:lnTo>
                  <a:pt x="2520989" y="3962262"/>
                </a:lnTo>
                <a:lnTo>
                  <a:pt x="2520989" y="0"/>
                </a:lnTo>
                <a:lnTo>
                  <a:pt x="0" y="0"/>
                </a:lnTo>
                <a:lnTo>
                  <a:pt x="0" y="3962262"/>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0" y="2800486"/>
            <a:ext cx="4288595" cy="693799"/>
            <a:chOff x="0" y="0"/>
            <a:chExt cx="1129507" cy="182729"/>
          </a:xfrm>
        </p:grpSpPr>
        <p:sp>
          <p:nvSpPr>
            <p:cNvPr name="Freeform 16" id="16"/>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17" id="17"/>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a:solidFill>
                    <a:srgbClr val="FFFFFF"/>
                  </a:solidFill>
                  <a:latin typeface="Inter"/>
                  <a:ea typeface="Inter"/>
                  <a:cs typeface="Inter"/>
                  <a:sym typeface="Inter"/>
                </a:rPr>
                <a:t>2.Questionnaire</a:t>
              </a:r>
            </a:p>
          </p:txBody>
        </p:sp>
      </p:grpSp>
      <p:grpSp>
        <p:nvGrpSpPr>
          <p:cNvPr name="Group 18" id="18"/>
          <p:cNvGrpSpPr/>
          <p:nvPr/>
        </p:nvGrpSpPr>
        <p:grpSpPr>
          <a:xfrm rot="0">
            <a:off x="0" y="3989585"/>
            <a:ext cx="4288595" cy="693799"/>
            <a:chOff x="0" y="0"/>
            <a:chExt cx="1129507" cy="182729"/>
          </a:xfrm>
        </p:grpSpPr>
        <p:sp>
          <p:nvSpPr>
            <p:cNvPr name="Freeform 19" id="19"/>
            <p:cNvSpPr/>
            <p:nvPr/>
          </p:nvSpPr>
          <p:spPr>
            <a:xfrm flipH="false" flipV="false" rot="0">
              <a:off x="0" y="0"/>
              <a:ext cx="1129507" cy="182729"/>
            </a:xfrm>
            <a:custGeom>
              <a:avLst/>
              <a:gdLst/>
              <a:ahLst/>
              <a:cxnLst/>
              <a:rect r="r" b="b" t="t" l="l"/>
              <a:pathLst>
                <a:path h="182729" w="1129507">
                  <a:moveTo>
                    <a:pt x="0" y="0"/>
                  </a:moveTo>
                  <a:lnTo>
                    <a:pt x="1129507" y="0"/>
                  </a:lnTo>
                  <a:lnTo>
                    <a:pt x="1129507" y="182729"/>
                  </a:lnTo>
                  <a:lnTo>
                    <a:pt x="0" y="182729"/>
                  </a:lnTo>
                  <a:close/>
                </a:path>
              </a:pathLst>
            </a:custGeom>
            <a:solidFill>
              <a:srgbClr val="EAD6B8"/>
            </a:solidFill>
          </p:spPr>
        </p:sp>
        <p:sp>
          <p:nvSpPr>
            <p:cNvPr name="TextBox 20" id="20"/>
            <p:cNvSpPr txBox="true"/>
            <p:nvPr/>
          </p:nvSpPr>
          <p:spPr>
            <a:xfrm>
              <a:off x="0" y="-57150"/>
              <a:ext cx="1129507" cy="239879"/>
            </a:xfrm>
            <a:prstGeom prst="rect">
              <a:avLst/>
            </a:prstGeom>
          </p:spPr>
          <p:txBody>
            <a:bodyPr anchor="ctr" rtlCol="false" tIns="50800" lIns="50800" bIns="50800" rIns="50800"/>
            <a:lstStyle/>
            <a:p>
              <a:pPr algn="l">
                <a:lnSpc>
                  <a:spcPts val="3992"/>
                </a:lnSpc>
              </a:pPr>
              <a:r>
                <a:rPr lang="en-US" sz="2851" b="true">
                  <a:solidFill>
                    <a:srgbClr val="000000"/>
                  </a:solidFill>
                  <a:latin typeface="Inter Bold"/>
                  <a:ea typeface="Inter Bold"/>
                  <a:cs typeface="Inter Bold"/>
                  <a:sym typeface="Inter Bold"/>
                </a:rPr>
                <a:t>3.Observation</a:t>
              </a:r>
            </a:p>
          </p:txBody>
        </p:sp>
      </p:grpSp>
      <p:sp>
        <p:nvSpPr>
          <p:cNvPr name="Freeform 21" id="21"/>
          <p:cNvSpPr/>
          <p:nvPr/>
        </p:nvSpPr>
        <p:spPr>
          <a:xfrm flipH="false" flipV="false" rot="-2090968">
            <a:off x="-5567902" y="11439002"/>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2" id="22"/>
          <p:cNvGrpSpPr/>
          <p:nvPr/>
        </p:nvGrpSpPr>
        <p:grpSpPr>
          <a:xfrm rot="0">
            <a:off x="4039812" y="2921263"/>
            <a:ext cx="450213" cy="45021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24" id="2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25" id="25"/>
          <p:cNvGrpSpPr/>
          <p:nvPr/>
        </p:nvGrpSpPr>
        <p:grpSpPr>
          <a:xfrm rot="0">
            <a:off x="4087165" y="4111406"/>
            <a:ext cx="450213" cy="45021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05C40"/>
            </a:solidFill>
          </p:spPr>
        </p:sp>
        <p:sp>
          <p:nvSpPr>
            <p:cNvPr name="TextBox 27" id="27"/>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aphicFrame>
        <p:nvGraphicFramePr>
          <p:cNvPr name="Table 28" id="28"/>
          <p:cNvGraphicFramePr>
            <a:graphicFrameLocks noGrp="true"/>
          </p:cNvGraphicFramePr>
          <p:nvPr/>
        </p:nvGraphicFramePr>
        <p:xfrm>
          <a:off x="5149706" y="2800486"/>
          <a:ext cx="12824313" cy="5562600"/>
        </p:xfrm>
        <a:graphic>
          <a:graphicData uri="http://schemas.openxmlformats.org/drawingml/2006/table">
            <a:tbl>
              <a:tblPr/>
              <a:tblGrid>
                <a:gridCol w="1937889"/>
                <a:gridCol w="5443212"/>
                <a:gridCol w="5443212"/>
              </a:tblGrid>
              <a:tr h="1198406">
                <a:tc>
                  <a:txBody>
                    <a:bodyPr anchor="t" rtlCol="false"/>
                    <a:lstStyle/>
                    <a:p>
                      <a:pPr algn="ctr">
                        <a:lnSpc>
                          <a:spcPts val="3430"/>
                        </a:lnSpc>
                        <a:defRPr/>
                      </a:pPr>
                      <a:r>
                        <a:rPr lang="en-US" sz="2450" b="true">
                          <a:solidFill>
                            <a:srgbClr val="000000"/>
                          </a:solidFill>
                          <a:latin typeface="Poppins Bold"/>
                          <a:ea typeface="Poppins Bold"/>
                          <a:cs typeface="Poppins Bold"/>
                          <a:sym typeface="Poppins Bold"/>
                        </a:rPr>
                        <a:t>Area</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DCDA0"/>
                    </a:solidFill>
                  </a:tcPr>
                </a:tc>
                <a:tc>
                  <a:txBody>
                    <a:bodyPr anchor="t" rtlCol="false"/>
                    <a:lstStyle/>
                    <a:p>
                      <a:pPr algn="ctr">
                        <a:lnSpc>
                          <a:spcPts val="3847"/>
                        </a:lnSpc>
                        <a:defRPr/>
                      </a:pPr>
                      <a:r>
                        <a:rPr lang="en-US" sz="2748" b="true">
                          <a:solidFill>
                            <a:srgbClr val="000000"/>
                          </a:solidFill>
                          <a:latin typeface="Poppins Bold"/>
                          <a:ea typeface="Poppins Bold"/>
                          <a:cs typeface="Poppins Bold"/>
                          <a:sym typeface="Poppins Bold"/>
                        </a:rPr>
                        <a:t>What Was Observed</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AD6B8"/>
                    </a:solidFill>
                  </a:tcPr>
                </a:tc>
                <a:tc>
                  <a:txBody>
                    <a:bodyPr anchor="t" rtlCol="false"/>
                    <a:lstStyle/>
                    <a:p>
                      <a:pPr algn="ctr">
                        <a:lnSpc>
                          <a:spcPts val="3847"/>
                        </a:lnSpc>
                        <a:defRPr/>
                      </a:pPr>
                      <a:r>
                        <a:rPr lang="en-US" sz="2748" b="true">
                          <a:solidFill>
                            <a:srgbClr val="000000"/>
                          </a:solidFill>
                          <a:latin typeface="Poppins Bold"/>
                          <a:ea typeface="Poppins Bold"/>
                          <a:cs typeface="Poppins Bold"/>
                          <a:sym typeface="Poppins Bold"/>
                        </a:rPr>
                        <a:t>Insight</a:t>
                      </a:r>
                      <a:endParaRPr lang="en-US" sz="1100"/>
                    </a:p>
                  </a:txBody>
                  <a:tcPr marL="190500" marR="190500" marT="190500" marB="190500" anchor="ctr">
                    <a:lnL cmpd="sng" algn="ctr" cap="flat" w="38100">
                      <a:solidFill>
                        <a:srgbClr val="BCA37F"/>
                      </a:solidFill>
                      <a:prstDash val="solid"/>
                      <a:round/>
                      <a:headEnd type="none" w="med" len="med"/>
                      <a:tailEnd type="none" w="med" len="med"/>
                    </a:lnL>
                    <a:lnR cmpd="sng" algn="ctr" cap="flat" w="38100">
                      <a:solidFill>
                        <a:srgbClr val="BCA37F"/>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BCA37F"/>
                      </a:solidFill>
                      <a:prstDash val="solid"/>
                      <a:round/>
                      <a:headEnd type="none" w="med" len="med"/>
                      <a:tailEnd type="none" w="med" len="med"/>
                    </a:lnB>
                    <a:solidFill>
                      <a:srgbClr val="EAD6B8"/>
                    </a:solidFill>
                  </a:tcPr>
                </a:tc>
              </a:tr>
              <a:tr h="1328233">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FAIE Parking</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Faculty arrive early and fill up spots. Smaller lots are often ignored.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Staff spots are limited. Small lots are underused.</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707728">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FCI Parking</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Students often take 5–10 minutes to find a space. Staff spaces are empty but off-limits to students.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High demand and stress for students. Good locations for sensors and cameras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r h="1328233">
                <a:tc>
                  <a:txBody>
                    <a:bodyPr anchor="t" rtlCol="false"/>
                    <a:lstStyle/>
                    <a:p>
                      <a:pPr algn="ctr">
                        <a:lnSpc>
                          <a:spcPts val="2167"/>
                        </a:lnSpc>
                        <a:defRPr/>
                      </a:pPr>
                      <a:r>
                        <a:rPr lang="en-US" sz="1548" b="true">
                          <a:solidFill>
                            <a:srgbClr val="000000"/>
                          </a:solidFill>
                          <a:latin typeface="Poppins Bold"/>
                          <a:ea typeface="Poppins Bold"/>
                          <a:cs typeface="Poppins Bold"/>
                          <a:sym typeface="Poppins Bold"/>
                        </a:rPr>
                        <a:t>Back of Library</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Closed most of the time. Used only during events or deliveries.</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c>
                  <a:txBody>
                    <a:bodyPr anchor="t" rtlCol="false"/>
                    <a:lstStyle/>
                    <a:p>
                      <a:pPr algn="l">
                        <a:lnSpc>
                          <a:spcPts val="2867"/>
                        </a:lnSpc>
                        <a:defRPr/>
                      </a:pPr>
                      <a:r>
                        <a:rPr lang="en-US" sz="2048">
                          <a:solidFill>
                            <a:srgbClr val="000000"/>
                          </a:solidFill>
                          <a:latin typeface="Inter"/>
                          <a:ea typeface="Inter"/>
                          <a:cs typeface="Inter"/>
                          <a:sym typeface="Inter"/>
                        </a:rPr>
                        <a:t>Could be used as overflow parking if managed properly.</a:t>
                      </a:r>
                      <a:endParaRPr lang="en-US" sz="1100"/>
                    </a:p>
                  </a:txBody>
                  <a:tcPr marL="190500" marR="190500" marT="190500" marB="190500" anchor="ctr">
                    <a:lnL cmpd="sng" algn="ctr" cap="flat" w="38100">
                      <a:solidFill>
                        <a:srgbClr val="EAD6B8"/>
                      </a:solidFill>
                      <a:prstDash val="solid"/>
                      <a:round/>
                      <a:headEnd type="none" w="med" len="med"/>
                      <a:tailEnd type="none" w="med" len="med"/>
                    </a:lnL>
                    <a:lnR cmpd="sng" algn="ctr" cap="flat" w="38100">
                      <a:solidFill>
                        <a:srgbClr val="EAD6B8"/>
                      </a:solidFill>
                      <a:prstDash val="solid"/>
                      <a:round/>
                      <a:headEnd type="none" w="med" len="med"/>
                      <a:tailEnd type="none" w="med" len="med"/>
                    </a:lnR>
                    <a:lnT cmpd="sng" algn="ctr" cap="flat" w="38100">
                      <a:solidFill>
                        <a:srgbClr val="BCA37F"/>
                      </a:solidFill>
                      <a:prstDash val="solid"/>
                      <a:round/>
                      <a:headEnd type="none" w="med" len="med"/>
                      <a:tailEnd type="none" w="med" len="med"/>
                    </a:lnT>
                    <a:lnB cmpd="sng" algn="ctr" cap="flat" w="38100">
                      <a:solidFill>
                        <a:srgbClr val="EAD6B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471708"/>
            <a:ext cx="20106278" cy="2333004"/>
            <a:chOff x="0" y="0"/>
            <a:chExt cx="5295481" cy="614454"/>
          </a:xfrm>
        </p:grpSpPr>
        <p:sp>
          <p:nvSpPr>
            <p:cNvPr name="Freeform 3" id="3"/>
            <p:cNvSpPr/>
            <p:nvPr/>
          </p:nvSpPr>
          <p:spPr>
            <a:xfrm flipH="false" flipV="false" rot="0">
              <a:off x="0" y="0"/>
              <a:ext cx="5295481" cy="614454"/>
            </a:xfrm>
            <a:custGeom>
              <a:avLst/>
              <a:gdLst/>
              <a:ahLst/>
              <a:cxnLst/>
              <a:rect r="r" b="b" t="t" l="l"/>
              <a:pathLst>
                <a:path h="614454" w="5295481">
                  <a:moveTo>
                    <a:pt x="0" y="0"/>
                  </a:moveTo>
                  <a:lnTo>
                    <a:pt x="5295481" y="0"/>
                  </a:lnTo>
                  <a:lnTo>
                    <a:pt x="5295481" y="614454"/>
                  </a:lnTo>
                  <a:lnTo>
                    <a:pt x="0" y="614454"/>
                  </a:lnTo>
                  <a:close/>
                </a:path>
              </a:pathLst>
            </a:custGeom>
            <a:solidFill>
              <a:srgbClr val="EAD6B8"/>
            </a:solidFill>
          </p:spPr>
        </p:sp>
        <p:sp>
          <p:nvSpPr>
            <p:cNvPr name="TextBox 4" id="4"/>
            <p:cNvSpPr txBox="true"/>
            <p:nvPr/>
          </p:nvSpPr>
          <p:spPr>
            <a:xfrm>
              <a:off x="0" y="-47625"/>
              <a:ext cx="5295481" cy="662079"/>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9693277"/>
            <a:ext cx="15867762" cy="0"/>
          </a:xfrm>
          <a:prstGeom prst="line">
            <a:avLst/>
          </a:prstGeom>
          <a:ln cap="flat" w="38100">
            <a:solidFill>
              <a:srgbClr val="BCA37F"/>
            </a:solidFill>
            <a:prstDash val="solid"/>
            <a:headEnd type="none" len="sm" w="sm"/>
            <a:tailEnd type="none" len="sm" w="sm"/>
          </a:ln>
        </p:spPr>
      </p:sp>
      <p:sp>
        <p:nvSpPr>
          <p:cNvPr name="TextBox 6" id="6"/>
          <p:cNvSpPr txBox="true"/>
          <p:nvPr/>
        </p:nvSpPr>
        <p:spPr>
          <a:xfrm rot="0">
            <a:off x="3295720" y="432349"/>
            <a:ext cx="11696560" cy="2240272"/>
          </a:xfrm>
          <a:prstGeom prst="rect">
            <a:avLst/>
          </a:prstGeom>
        </p:spPr>
        <p:txBody>
          <a:bodyPr anchor="t" rtlCol="false" tIns="0" lIns="0" bIns="0" rIns="0">
            <a:spAutoFit/>
          </a:bodyPr>
          <a:lstStyle/>
          <a:p>
            <a:pPr algn="ctr">
              <a:lnSpc>
                <a:spcPts val="8820"/>
              </a:lnSpc>
            </a:pPr>
            <a:r>
              <a:rPr lang="en-US" sz="6300" b="true">
                <a:solidFill>
                  <a:srgbClr val="000000"/>
                </a:solidFill>
                <a:latin typeface="Poppins Bold"/>
                <a:ea typeface="Poppins Bold"/>
                <a:cs typeface="Poppins Bold"/>
                <a:sym typeface="Poppins Bold"/>
              </a:rPr>
              <a:t>Elicitation Output:</a:t>
            </a:r>
          </a:p>
          <a:p>
            <a:pPr algn="ctr" marL="0" indent="0" lvl="0">
              <a:lnSpc>
                <a:spcPts val="8820"/>
              </a:lnSpc>
              <a:spcBef>
                <a:spcPct val="0"/>
              </a:spcBef>
            </a:pPr>
            <a:r>
              <a:rPr lang="en-US" b="true" sz="6300">
                <a:solidFill>
                  <a:srgbClr val="000000"/>
                </a:solidFill>
                <a:latin typeface="Poppins Bold"/>
                <a:ea typeface="Poppins Bold"/>
                <a:cs typeface="Poppins Bold"/>
                <a:sym typeface="Poppins Bold"/>
              </a:rPr>
              <a:t>Conclusion</a:t>
            </a:r>
          </a:p>
        </p:txBody>
      </p:sp>
      <p:sp>
        <p:nvSpPr>
          <p:cNvPr name="TextBox 7" id="7"/>
          <p:cNvSpPr txBox="true"/>
          <p:nvPr/>
        </p:nvSpPr>
        <p:spPr>
          <a:xfrm rot="0">
            <a:off x="127026" y="3064123"/>
            <a:ext cx="18160974" cy="6835576"/>
          </a:xfrm>
          <a:prstGeom prst="rect">
            <a:avLst/>
          </a:prstGeom>
        </p:spPr>
        <p:txBody>
          <a:bodyPr anchor="t" rtlCol="false" tIns="0" lIns="0" bIns="0" rIns="0">
            <a:spAutoFit/>
          </a:bodyPr>
          <a:lstStyle/>
          <a:p>
            <a:pPr algn="l">
              <a:lnSpc>
                <a:spcPts val="5435"/>
              </a:lnSpc>
            </a:pPr>
            <a:r>
              <a:rPr lang="en-US" sz="3882">
                <a:solidFill>
                  <a:srgbClr val="000000"/>
                </a:solidFill>
                <a:latin typeface="Canva Sans"/>
                <a:ea typeface="Canva Sans"/>
                <a:cs typeface="Canva Sans"/>
                <a:sym typeface="Canva Sans"/>
              </a:rPr>
              <a:t>By using interviews, surveys, an</a:t>
            </a:r>
            <a:r>
              <a:rPr lang="en-US" sz="3882">
                <a:solidFill>
                  <a:srgbClr val="000000"/>
                </a:solidFill>
                <a:latin typeface="Canva Sans"/>
                <a:ea typeface="Canva Sans"/>
                <a:cs typeface="Canva Sans"/>
                <a:sym typeface="Canva Sans"/>
              </a:rPr>
              <a:t>d observation, we gained a clear picture of what MMU really need.</a:t>
            </a:r>
          </a:p>
          <a:p>
            <a:pPr algn="l">
              <a:lnSpc>
                <a:spcPts val="5435"/>
              </a:lnSpc>
            </a:pPr>
            <a:r>
              <a:rPr lang="en-US" sz="3882">
                <a:solidFill>
                  <a:srgbClr val="000000"/>
                </a:solidFill>
                <a:latin typeface="Canva Sans"/>
                <a:ea typeface="Canva Sans"/>
                <a:cs typeface="Canva Sans"/>
                <a:sym typeface="Canva Sans"/>
              </a:rPr>
              <a:t>Each method gave us different insights:</a:t>
            </a:r>
          </a:p>
          <a:p>
            <a:pPr algn="l" marL="838305" indent="-419153" lvl="1">
              <a:lnSpc>
                <a:spcPts val="5435"/>
              </a:lnSpc>
              <a:buFont typeface="Arial"/>
              <a:buChar char="•"/>
            </a:pPr>
            <a:r>
              <a:rPr lang="en-US" sz="3882">
                <a:solidFill>
                  <a:srgbClr val="000000"/>
                </a:solidFill>
                <a:latin typeface="Canva Sans"/>
                <a:ea typeface="Canva Sans"/>
                <a:cs typeface="Canva Sans"/>
                <a:sym typeface="Canva Sans"/>
              </a:rPr>
              <a:t>Interviews showed what’s technically and institutionally possible.</a:t>
            </a:r>
          </a:p>
          <a:p>
            <a:pPr algn="l" marL="838305" indent="-419153" lvl="1">
              <a:lnSpc>
                <a:spcPts val="5435"/>
              </a:lnSpc>
              <a:buFont typeface="Arial"/>
              <a:buChar char="•"/>
            </a:pPr>
            <a:r>
              <a:rPr lang="en-US" sz="3882">
                <a:solidFill>
                  <a:srgbClr val="000000"/>
                </a:solidFill>
                <a:latin typeface="Canva Sans"/>
                <a:ea typeface="Canva Sans"/>
                <a:cs typeface="Canva Sans"/>
                <a:sym typeface="Canva Sans"/>
              </a:rPr>
              <a:t>Surveys highlighted user top priorities.</a:t>
            </a:r>
          </a:p>
          <a:p>
            <a:pPr algn="l" marL="838305" indent="-419153" lvl="1">
              <a:lnSpc>
                <a:spcPts val="5435"/>
              </a:lnSpc>
              <a:buFont typeface="Arial"/>
              <a:buChar char="•"/>
            </a:pPr>
            <a:r>
              <a:rPr lang="en-US" sz="3882">
                <a:solidFill>
                  <a:srgbClr val="000000"/>
                </a:solidFill>
                <a:latin typeface="Canva Sans"/>
                <a:ea typeface="Canva Sans"/>
                <a:cs typeface="Canva Sans"/>
                <a:sym typeface="Canva Sans"/>
              </a:rPr>
              <a:t>Observations confirmed real on-campus behavior.</a:t>
            </a:r>
          </a:p>
          <a:p>
            <a:pPr algn="l">
              <a:lnSpc>
                <a:spcPts val="5435"/>
              </a:lnSpc>
            </a:pPr>
            <a:r>
              <a:rPr lang="en-US" sz="3882" b="true">
                <a:solidFill>
                  <a:srgbClr val="000000"/>
                </a:solidFill>
                <a:latin typeface="Canva Sans Bold"/>
                <a:ea typeface="Canva Sans Bold"/>
                <a:cs typeface="Canva Sans Bold"/>
                <a:sym typeface="Canva Sans Bold"/>
              </a:rPr>
              <a:t>U</a:t>
            </a:r>
            <a:r>
              <a:rPr lang="en-US" sz="3882" b="true">
                <a:solidFill>
                  <a:srgbClr val="000000"/>
                </a:solidFill>
                <a:latin typeface="Canva Sans Bold"/>
                <a:ea typeface="Canva Sans Bold"/>
                <a:cs typeface="Canva Sans Bold"/>
                <a:sym typeface="Canva Sans Bold"/>
              </a:rPr>
              <a:t>ser needs</a:t>
            </a:r>
            <a:r>
              <a:rPr lang="en-US" sz="3882">
                <a:solidFill>
                  <a:srgbClr val="000000"/>
                </a:solidFill>
                <a:latin typeface="Canva Sans"/>
                <a:ea typeface="Canva Sans"/>
                <a:cs typeface="Canva Sans"/>
                <a:sym typeface="Canva Sans"/>
              </a:rPr>
              <a:t>:</a:t>
            </a:r>
          </a:p>
          <a:p>
            <a:pPr algn="l">
              <a:lnSpc>
                <a:spcPts val="5435"/>
              </a:lnSpc>
            </a:pPr>
            <a:r>
              <a:rPr lang="en-US" sz="3882">
                <a:solidFill>
                  <a:srgbClr val="000000"/>
                </a:solidFill>
                <a:latin typeface="Canva Sans"/>
                <a:ea typeface="Canva Sans"/>
                <a:cs typeface="Canva Sans"/>
                <a:sym typeface="Canva Sans"/>
              </a:rPr>
              <a:t> Live parking updates, fair reservations, carpool options, and a fast, easy-to-use app.</a:t>
            </a:r>
          </a:p>
          <a:p>
            <a:pPr algn="l">
              <a:lnSpc>
                <a:spcPts val="5435"/>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29847" y="-531680"/>
            <a:ext cx="6123364" cy="11222921"/>
            <a:chOff x="0" y="0"/>
            <a:chExt cx="948669" cy="1738724"/>
          </a:xfrm>
        </p:grpSpPr>
        <p:sp>
          <p:nvSpPr>
            <p:cNvPr name="Freeform 3" id="3"/>
            <p:cNvSpPr/>
            <p:nvPr/>
          </p:nvSpPr>
          <p:spPr>
            <a:xfrm flipH="false" flipV="false" rot="0">
              <a:off x="0" y="0"/>
              <a:ext cx="948669" cy="1738724"/>
            </a:xfrm>
            <a:custGeom>
              <a:avLst/>
              <a:gdLst/>
              <a:ahLst/>
              <a:cxnLst/>
              <a:rect r="r" b="b" t="t" l="l"/>
              <a:pathLst>
                <a:path h="1738724" w="948669">
                  <a:moveTo>
                    <a:pt x="0" y="0"/>
                  </a:moveTo>
                  <a:lnTo>
                    <a:pt x="948669" y="0"/>
                  </a:lnTo>
                  <a:lnTo>
                    <a:pt x="948669" y="1738724"/>
                  </a:lnTo>
                  <a:lnTo>
                    <a:pt x="0" y="1738724"/>
                  </a:lnTo>
                  <a:close/>
                </a:path>
              </a:pathLst>
            </a:custGeom>
            <a:blipFill>
              <a:blip r:embed="rId2"/>
              <a:stretch>
                <a:fillRect l="-58295" t="0" r="-116282" b="0"/>
              </a:stretch>
            </a:blipFill>
          </p:spPr>
        </p:sp>
      </p:grpSp>
      <p:grpSp>
        <p:nvGrpSpPr>
          <p:cNvPr name="Group 4" id="4"/>
          <p:cNvGrpSpPr/>
          <p:nvPr/>
        </p:nvGrpSpPr>
        <p:grpSpPr>
          <a:xfrm rot="0">
            <a:off x="1028700" y="2845971"/>
            <a:ext cx="5067457" cy="6412329"/>
            <a:chOff x="0" y="0"/>
            <a:chExt cx="1334639" cy="1688844"/>
          </a:xfrm>
        </p:grpSpPr>
        <p:sp>
          <p:nvSpPr>
            <p:cNvPr name="Freeform 5" id="5"/>
            <p:cNvSpPr/>
            <p:nvPr/>
          </p:nvSpPr>
          <p:spPr>
            <a:xfrm flipH="false" flipV="false" rot="0">
              <a:off x="0" y="0"/>
              <a:ext cx="1334639" cy="1688844"/>
            </a:xfrm>
            <a:custGeom>
              <a:avLst/>
              <a:gdLst/>
              <a:ahLst/>
              <a:cxnLst/>
              <a:rect r="r" b="b" t="t" l="l"/>
              <a:pathLst>
                <a:path h="1688844" w="1334639">
                  <a:moveTo>
                    <a:pt x="0" y="0"/>
                  </a:moveTo>
                  <a:lnTo>
                    <a:pt x="1334639" y="0"/>
                  </a:lnTo>
                  <a:lnTo>
                    <a:pt x="1334639" y="1688844"/>
                  </a:lnTo>
                  <a:lnTo>
                    <a:pt x="0" y="1688844"/>
                  </a:lnTo>
                  <a:close/>
                </a:path>
              </a:pathLst>
            </a:custGeom>
            <a:solidFill>
              <a:srgbClr val="EAD6B8"/>
            </a:solidFill>
          </p:spPr>
        </p:sp>
        <p:sp>
          <p:nvSpPr>
            <p:cNvPr name="TextBox 6" id="6"/>
            <p:cNvSpPr txBox="true"/>
            <p:nvPr/>
          </p:nvSpPr>
          <p:spPr>
            <a:xfrm>
              <a:off x="0" y="-47625"/>
              <a:ext cx="1334639" cy="1736469"/>
            </a:xfrm>
            <a:prstGeom prst="rect">
              <a:avLst/>
            </a:prstGeom>
          </p:spPr>
          <p:txBody>
            <a:bodyPr anchor="ctr" rtlCol="false" tIns="50800" lIns="50800" bIns="50800" rIns="50800"/>
            <a:lstStyle/>
            <a:p>
              <a:pPr algn="ctr">
                <a:lnSpc>
                  <a:spcPts val="3012"/>
                </a:lnSpc>
              </a:pPr>
            </a:p>
          </p:txBody>
        </p:sp>
      </p:grpSp>
      <p:grpSp>
        <p:nvGrpSpPr>
          <p:cNvPr name="Group 7" id="7"/>
          <p:cNvGrpSpPr/>
          <p:nvPr/>
        </p:nvGrpSpPr>
        <p:grpSpPr>
          <a:xfrm rot="0">
            <a:off x="6779274" y="2845971"/>
            <a:ext cx="5067457" cy="6412329"/>
            <a:chOff x="0" y="0"/>
            <a:chExt cx="1334639" cy="1688844"/>
          </a:xfrm>
        </p:grpSpPr>
        <p:sp>
          <p:nvSpPr>
            <p:cNvPr name="Freeform 8" id="8"/>
            <p:cNvSpPr/>
            <p:nvPr/>
          </p:nvSpPr>
          <p:spPr>
            <a:xfrm flipH="false" flipV="false" rot="0">
              <a:off x="0" y="0"/>
              <a:ext cx="1334639" cy="1688844"/>
            </a:xfrm>
            <a:custGeom>
              <a:avLst/>
              <a:gdLst/>
              <a:ahLst/>
              <a:cxnLst/>
              <a:rect r="r" b="b" t="t" l="l"/>
              <a:pathLst>
                <a:path h="1688844" w="1334639">
                  <a:moveTo>
                    <a:pt x="0" y="0"/>
                  </a:moveTo>
                  <a:lnTo>
                    <a:pt x="1334639" y="0"/>
                  </a:lnTo>
                  <a:lnTo>
                    <a:pt x="1334639" y="1688844"/>
                  </a:lnTo>
                  <a:lnTo>
                    <a:pt x="0" y="1688844"/>
                  </a:lnTo>
                  <a:close/>
                </a:path>
              </a:pathLst>
            </a:custGeom>
            <a:solidFill>
              <a:srgbClr val="BCA37F"/>
            </a:solidFill>
          </p:spPr>
        </p:sp>
        <p:sp>
          <p:nvSpPr>
            <p:cNvPr name="TextBox 9" id="9"/>
            <p:cNvSpPr txBox="true"/>
            <p:nvPr/>
          </p:nvSpPr>
          <p:spPr>
            <a:xfrm>
              <a:off x="0" y="-47625"/>
              <a:ext cx="1334639" cy="1736469"/>
            </a:xfrm>
            <a:prstGeom prst="rect">
              <a:avLst/>
            </a:prstGeom>
          </p:spPr>
          <p:txBody>
            <a:bodyPr anchor="ctr" rtlCol="false" tIns="50800" lIns="50800" bIns="50800" rIns="50800"/>
            <a:lstStyle/>
            <a:p>
              <a:pPr algn="ctr">
                <a:lnSpc>
                  <a:spcPts val="3012"/>
                </a:lnSpc>
              </a:pPr>
            </a:p>
          </p:txBody>
        </p:sp>
      </p:grpSp>
      <p:grpSp>
        <p:nvGrpSpPr>
          <p:cNvPr name="Group 10" id="10"/>
          <p:cNvGrpSpPr/>
          <p:nvPr/>
        </p:nvGrpSpPr>
        <p:grpSpPr>
          <a:xfrm rot="0">
            <a:off x="-989667" y="954218"/>
            <a:ext cx="3086100" cy="1178743"/>
            <a:chOff x="0" y="0"/>
            <a:chExt cx="812800" cy="310451"/>
          </a:xfrm>
        </p:grpSpPr>
        <p:sp>
          <p:nvSpPr>
            <p:cNvPr name="Freeform 11" id="11"/>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12" id="12"/>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Freeform 13" id="13"/>
          <p:cNvSpPr/>
          <p:nvPr/>
        </p:nvSpPr>
        <p:spPr>
          <a:xfrm flipH="false" flipV="false" rot="0">
            <a:off x="10904159" y="-531680"/>
            <a:ext cx="3251377" cy="2483239"/>
          </a:xfrm>
          <a:custGeom>
            <a:avLst/>
            <a:gdLst/>
            <a:ahLst/>
            <a:cxnLst/>
            <a:rect r="r" b="b" t="t" l="l"/>
            <a:pathLst>
              <a:path h="2483239" w="3251377">
                <a:moveTo>
                  <a:pt x="0" y="0"/>
                </a:moveTo>
                <a:lnTo>
                  <a:pt x="3251377" y="0"/>
                </a:lnTo>
                <a:lnTo>
                  <a:pt x="3251377" y="2483239"/>
                </a:lnTo>
                <a:lnTo>
                  <a:pt x="0" y="24832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28700" y="979374"/>
            <a:ext cx="9191291" cy="816610"/>
          </a:xfrm>
          <a:prstGeom prst="rect">
            <a:avLst/>
          </a:prstGeom>
        </p:spPr>
        <p:txBody>
          <a:bodyPr anchor="t" rtlCol="false" tIns="0" lIns="0" bIns="0" rIns="0">
            <a:spAutoFit/>
          </a:bodyPr>
          <a:lstStyle/>
          <a:p>
            <a:pPr algn="l" marL="0" indent="0" lvl="0">
              <a:lnSpc>
                <a:spcPts val="6439"/>
              </a:lnSpc>
              <a:spcBef>
                <a:spcPct val="0"/>
              </a:spcBef>
            </a:pPr>
            <a:r>
              <a:rPr lang="en-US" b="true" sz="4599">
                <a:solidFill>
                  <a:srgbClr val="000000"/>
                </a:solidFill>
                <a:latin typeface="Poppins Bold"/>
                <a:ea typeface="Poppins Bold"/>
                <a:cs typeface="Poppins Bold"/>
                <a:sym typeface="Poppins Bold"/>
              </a:rPr>
              <a:t>Task 5: SRS Part 1 Introduction</a:t>
            </a:r>
          </a:p>
        </p:txBody>
      </p:sp>
      <p:sp>
        <p:nvSpPr>
          <p:cNvPr name="TextBox 15" id="15"/>
          <p:cNvSpPr txBox="true"/>
          <p:nvPr/>
        </p:nvSpPr>
        <p:spPr>
          <a:xfrm rot="0">
            <a:off x="1500511" y="4625824"/>
            <a:ext cx="4123834" cy="3758565"/>
          </a:xfrm>
          <a:prstGeom prst="rect">
            <a:avLst/>
          </a:prstGeom>
        </p:spPr>
        <p:txBody>
          <a:bodyPr anchor="t" rtlCol="false" tIns="0" lIns="0" bIns="0" rIns="0">
            <a:spAutoFit/>
          </a:bodyPr>
          <a:lstStyle/>
          <a:p>
            <a:pPr algn="ctr" marL="518160" indent="-259080" lvl="1">
              <a:lnSpc>
                <a:spcPts val="3359"/>
              </a:lnSpc>
              <a:buFont typeface="Arial"/>
              <a:buChar char="•"/>
            </a:pPr>
            <a:r>
              <a:rPr lang="en-US" sz="2400">
                <a:solidFill>
                  <a:srgbClr val="000000"/>
                </a:solidFill>
                <a:latin typeface="Inter"/>
                <a:ea typeface="Inter"/>
                <a:cs typeface="Inter"/>
                <a:sym typeface="Inter"/>
              </a:rPr>
              <a:t>Create a secure and efficient application for the university community.</a:t>
            </a:r>
          </a:p>
          <a:p>
            <a:pPr algn="ctr" marL="518160" indent="-259080" lvl="1">
              <a:lnSpc>
                <a:spcPts val="3359"/>
              </a:lnSpc>
              <a:buFont typeface="Arial"/>
              <a:buChar char="•"/>
            </a:pPr>
            <a:r>
              <a:rPr lang="en-US" sz="2400" strike="noStrike" u="none">
                <a:solidFill>
                  <a:srgbClr val="000000"/>
                </a:solidFill>
                <a:latin typeface="Inter"/>
                <a:ea typeface="Inter"/>
                <a:cs typeface="Inter"/>
                <a:sym typeface="Inter"/>
              </a:rPr>
              <a:t>enhance user safety through integration with the university’s identity verification and parking management systems.</a:t>
            </a:r>
          </a:p>
        </p:txBody>
      </p:sp>
      <p:sp>
        <p:nvSpPr>
          <p:cNvPr name="TextBox 16" id="16"/>
          <p:cNvSpPr txBox="true"/>
          <p:nvPr/>
        </p:nvSpPr>
        <p:spPr>
          <a:xfrm rot="0">
            <a:off x="7251085" y="4625824"/>
            <a:ext cx="4123834" cy="2920365"/>
          </a:xfrm>
          <a:prstGeom prst="rect">
            <a:avLst/>
          </a:prstGeom>
        </p:spPr>
        <p:txBody>
          <a:bodyPr anchor="t" rtlCol="false" tIns="0" lIns="0" bIns="0" rIns="0">
            <a:spAutoFit/>
          </a:bodyPr>
          <a:lstStyle/>
          <a:p>
            <a:pPr algn="ctr" marL="518160" indent="-259080" lvl="1">
              <a:lnSpc>
                <a:spcPts val="3359"/>
              </a:lnSpc>
              <a:buFont typeface="Arial"/>
              <a:buChar char="•"/>
            </a:pPr>
            <a:r>
              <a:rPr lang="en-US" sz="2400">
                <a:solidFill>
                  <a:srgbClr val="FFFFFF"/>
                </a:solidFill>
                <a:latin typeface="Inter"/>
                <a:ea typeface="Inter"/>
                <a:cs typeface="Inter"/>
                <a:sym typeface="Inter"/>
              </a:rPr>
              <a:t>Mobile and web-based platform that integrates with MMU’s existing systems.</a:t>
            </a:r>
          </a:p>
          <a:p>
            <a:pPr algn="ctr" marL="518160" indent="-259080" lvl="1">
              <a:lnSpc>
                <a:spcPts val="3359"/>
              </a:lnSpc>
              <a:buFont typeface="Arial"/>
              <a:buChar char="•"/>
            </a:pPr>
            <a:r>
              <a:rPr lang="en-US" sz="2400">
                <a:solidFill>
                  <a:srgbClr val="FFFFFF"/>
                </a:solidFill>
                <a:latin typeface="Inter"/>
                <a:ea typeface="Inter"/>
                <a:cs typeface="Inter"/>
                <a:sym typeface="Inter"/>
              </a:rPr>
              <a:t>Supports core functions of the requirements. </a:t>
            </a:r>
          </a:p>
          <a:p>
            <a:pPr algn="ctr" marL="518160" indent="-259080" lvl="1">
              <a:lnSpc>
                <a:spcPts val="3359"/>
              </a:lnSpc>
              <a:buFont typeface="Arial"/>
              <a:buChar char="•"/>
            </a:pPr>
            <a:r>
              <a:rPr lang="en-US" sz="2400" strike="noStrike" u="none">
                <a:solidFill>
                  <a:srgbClr val="FFFFFF"/>
                </a:solidFill>
                <a:latin typeface="Inter"/>
                <a:ea typeface="Inter"/>
                <a:cs typeface="Inter"/>
                <a:sym typeface="Inter"/>
              </a:rPr>
              <a:t>Campus-specific system</a:t>
            </a:r>
          </a:p>
        </p:txBody>
      </p:sp>
      <p:sp>
        <p:nvSpPr>
          <p:cNvPr name="TextBox 17" id="17"/>
          <p:cNvSpPr txBox="true"/>
          <p:nvPr/>
        </p:nvSpPr>
        <p:spPr>
          <a:xfrm rot="0">
            <a:off x="1500511" y="3392172"/>
            <a:ext cx="4123834" cy="664559"/>
          </a:xfrm>
          <a:prstGeom prst="rect">
            <a:avLst/>
          </a:prstGeom>
        </p:spPr>
        <p:txBody>
          <a:bodyPr anchor="t" rtlCol="false" tIns="0" lIns="0" bIns="0" rIns="0">
            <a:spAutoFit/>
          </a:bodyPr>
          <a:lstStyle/>
          <a:p>
            <a:pPr algn="ctr" marL="0" indent="0" lvl="0">
              <a:lnSpc>
                <a:spcPts val="5370"/>
              </a:lnSpc>
              <a:spcBef>
                <a:spcPct val="0"/>
              </a:spcBef>
            </a:pPr>
            <a:r>
              <a:rPr lang="en-US" b="true" sz="3836">
                <a:solidFill>
                  <a:srgbClr val="000000"/>
                </a:solidFill>
                <a:latin typeface="Inter Bold"/>
                <a:ea typeface="Inter Bold"/>
                <a:cs typeface="Inter Bold"/>
                <a:sym typeface="Inter Bold"/>
              </a:rPr>
              <a:t>Purpose</a:t>
            </a:r>
          </a:p>
        </p:txBody>
      </p:sp>
      <p:sp>
        <p:nvSpPr>
          <p:cNvPr name="TextBox 18" id="18"/>
          <p:cNvSpPr txBox="true"/>
          <p:nvPr/>
        </p:nvSpPr>
        <p:spPr>
          <a:xfrm rot="0">
            <a:off x="7251085" y="3392172"/>
            <a:ext cx="4123834" cy="664559"/>
          </a:xfrm>
          <a:prstGeom prst="rect">
            <a:avLst/>
          </a:prstGeom>
        </p:spPr>
        <p:txBody>
          <a:bodyPr anchor="t" rtlCol="false" tIns="0" lIns="0" bIns="0" rIns="0">
            <a:spAutoFit/>
          </a:bodyPr>
          <a:lstStyle/>
          <a:p>
            <a:pPr algn="ctr" marL="0" indent="0" lvl="0">
              <a:lnSpc>
                <a:spcPts val="5370"/>
              </a:lnSpc>
              <a:spcBef>
                <a:spcPct val="0"/>
              </a:spcBef>
            </a:pPr>
            <a:r>
              <a:rPr lang="en-US" b="true" sz="3836">
                <a:solidFill>
                  <a:srgbClr val="FFFFFF"/>
                </a:solidFill>
                <a:latin typeface="Inter Bold"/>
                <a:ea typeface="Inter Bold"/>
                <a:cs typeface="Inter Bold"/>
                <a:sym typeface="Inter Bold"/>
              </a:rPr>
              <a:t>scope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982200" y="-476590"/>
            <a:ext cx="9490503" cy="11240179"/>
            <a:chOff x="0" y="0"/>
            <a:chExt cx="2499556" cy="2960376"/>
          </a:xfrm>
        </p:grpSpPr>
        <p:sp>
          <p:nvSpPr>
            <p:cNvPr name="Freeform 3" id="3"/>
            <p:cNvSpPr/>
            <p:nvPr/>
          </p:nvSpPr>
          <p:spPr>
            <a:xfrm flipH="false" flipV="false" rot="0">
              <a:off x="0" y="0"/>
              <a:ext cx="2499557" cy="2960376"/>
            </a:xfrm>
            <a:custGeom>
              <a:avLst/>
              <a:gdLst/>
              <a:ahLst/>
              <a:cxnLst/>
              <a:rect r="r" b="b" t="t" l="l"/>
              <a:pathLst>
                <a:path h="2960376" w="2499557">
                  <a:moveTo>
                    <a:pt x="0" y="0"/>
                  </a:moveTo>
                  <a:lnTo>
                    <a:pt x="2499557" y="0"/>
                  </a:lnTo>
                  <a:lnTo>
                    <a:pt x="2499557" y="2960376"/>
                  </a:lnTo>
                  <a:lnTo>
                    <a:pt x="0" y="2960376"/>
                  </a:lnTo>
                  <a:close/>
                </a:path>
              </a:pathLst>
            </a:custGeom>
            <a:solidFill>
              <a:srgbClr val="EAD6B8"/>
            </a:solidFill>
          </p:spPr>
        </p:sp>
        <p:sp>
          <p:nvSpPr>
            <p:cNvPr name="TextBox 4" id="4"/>
            <p:cNvSpPr txBox="true"/>
            <p:nvPr/>
          </p:nvSpPr>
          <p:spPr>
            <a:xfrm>
              <a:off x="0" y="-47625"/>
              <a:ext cx="2499556" cy="3008001"/>
            </a:xfrm>
            <a:prstGeom prst="rect">
              <a:avLst/>
            </a:prstGeom>
          </p:spPr>
          <p:txBody>
            <a:bodyPr anchor="ctr" rtlCol="false" tIns="50800" lIns="50800" bIns="50800" rIns="50800"/>
            <a:lstStyle/>
            <a:p>
              <a:pPr algn="ctr">
                <a:lnSpc>
                  <a:spcPts val="3012"/>
                </a:lnSpc>
              </a:pPr>
            </a:p>
          </p:txBody>
        </p:sp>
      </p:grpSp>
      <p:sp>
        <p:nvSpPr>
          <p:cNvPr name="Freeform 5" id="5"/>
          <p:cNvSpPr/>
          <p:nvPr/>
        </p:nvSpPr>
        <p:spPr>
          <a:xfrm flipH="false" flipV="false" rot="5400000">
            <a:off x="-3055246" y="7815037"/>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662312" y="-869877"/>
            <a:ext cx="3251377" cy="2483239"/>
          </a:xfrm>
          <a:custGeom>
            <a:avLst/>
            <a:gdLst/>
            <a:ahLst/>
            <a:cxnLst/>
            <a:rect r="r" b="b" t="t" l="l"/>
            <a:pathLst>
              <a:path h="2483239" w="3251377">
                <a:moveTo>
                  <a:pt x="0" y="0"/>
                </a:moveTo>
                <a:lnTo>
                  <a:pt x="3251376" y="0"/>
                </a:lnTo>
                <a:lnTo>
                  <a:pt x="3251376" y="2483240"/>
                </a:lnTo>
                <a:lnTo>
                  <a:pt x="0" y="2483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9757093" y="3405123"/>
            <a:ext cx="450213" cy="45021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10" id="10"/>
          <p:cNvGrpSpPr/>
          <p:nvPr/>
        </p:nvGrpSpPr>
        <p:grpSpPr>
          <a:xfrm rot="0">
            <a:off x="9747568" y="5300357"/>
            <a:ext cx="450213" cy="45021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grpSp>
        <p:nvGrpSpPr>
          <p:cNvPr name="Group 13" id="13"/>
          <p:cNvGrpSpPr/>
          <p:nvPr/>
        </p:nvGrpSpPr>
        <p:grpSpPr>
          <a:xfrm rot="0">
            <a:off x="9757093" y="7306397"/>
            <a:ext cx="450213" cy="450213"/>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99470"/>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6" id="16"/>
          <p:cNvSpPr/>
          <p:nvPr/>
        </p:nvSpPr>
        <p:spPr>
          <a:xfrm flipH="false" flipV="false" rot="0">
            <a:off x="388810" y="3300348"/>
            <a:ext cx="9006333" cy="5580336"/>
          </a:xfrm>
          <a:custGeom>
            <a:avLst/>
            <a:gdLst/>
            <a:ahLst/>
            <a:cxnLst/>
            <a:rect r="r" b="b" t="t" l="l"/>
            <a:pathLst>
              <a:path h="5580336" w="9006333">
                <a:moveTo>
                  <a:pt x="0" y="0"/>
                </a:moveTo>
                <a:lnTo>
                  <a:pt x="9006333" y="0"/>
                </a:lnTo>
                <a:lnTo>
                  <a:pt x="9006333" y="5580336"/>
                </a:lnTo>
                <a:lnTo>
                  <a:pt x="0" y="5580336"/>
                </a:lnTo>
                <a:lnTo>
                  <a:pt x="0" y="0"/>
                </a:lnTo>
                <a:close/>
              </a:path>
            </a:pathLst>
          </a:custGeom>
          <a:blipFill>
            <a:blip r:embed="rId6"/>
            <a:stretch>
              <a:fillRect l="0" t="0" r="0" b="0"/>
            </a:stretch>
          </a:blipFill>
        </p:spPr>
      </p:sp>
      <p:sp>
        <p:nvSpPr>
          <p:cNvPr name="TextBox 17" id="17"/>
          <p:cNvSpPr txBox="true"/>
          <p:nvPr/>
        </p:nvSpPr>
        <p:spPr>
          <a:xfrm rot="0">
            <a:off x="10557691" y="3344940"/>
            <a:ext cx="8235134" cy="513429"/>
          </a:xfrm>
          <a:prstGeom prst="rect">
            <a:avLst/>
          </a:prstGeom>
        </p:spPr>
        <p:txBody>
          <a:bodyPr anchor="t" rtlCol="false" tIns="0" lIns="0" bIns="0" rIns="0">
            <a:spAutoFit/>
          </a:bodyPr>
          <a:lstStyle/>
          <a:p>
            <a:pPr algn="l" marL="0" indent="0" lvl="0">
              <a:lnSpc>
                <a:spcPts val="4250"/>
              </a:lnSpc>
              <a:spcBef>
                <a:spcPct val="0"/>
              </a:spcBef>
            </a:pPr>
            <a:r>
              <a:rPr lang="en-US" b="true" sz="3036">
                <a:solidFill>
                  <a:srgbClr val="705C40"/>
                </a:solidFill>
                <a:latin typeface="Inter Bold"/>
                <a:ea typeface="Inter Bold"/>
                <a:cs typeface="Inter Bold"/>
                <a:sym typeface="Inter Bold"/>
              </a:rPr>
              <a:t>Acts as centralized middlewire</a:t>
            </a:r>
          </a:p>
        </p:txBody>
      </p:sp>
      <p:sp>
        <p:nvSpPr>
          <p:cNvPr name="TextBox 18" id="18"/>
          <p:cNvSpPr txBox="true"/>
          <p:nvPr/>
        </p:nvSpPr>
        <p:spPr>
          <a:xfrm rot="0">
            <a:off x="10557691" y="5237141"/>
            <a:ext cx="8235134" cy="513429"/>
          </a:xfrm>
          <a:prstGeom prst="rect">
            <a:avLst/>
          </a:prstGeom>
        </p:spPr>
        <p:txBody>
          <a:bodyPr anchor="t" rtlCol="false" tIns="0" lIns="0" bIns="0" rIns="0">
            <a:spAutoFit/>
          </a:bodyPr>
          <a:lstStyle/>
          <a:p>
            <a:pPr algn="l" marL="0" indent="0" lvl="0">
              <a:lnSpc>
                <a:spcPts val="4250"/>
              </a:lnSpc>
              <a:spcBef>
                <a:spcPct val="0"/>
              </a:spcBef>
            </a:pPr>
            <a:r>
              <a:rPr lang="en-US" b="true" sz="3036">
                <a:solidFill>
                  <a:srgbClr val="705C40"/>
                </a:solidFill>
                <a:latin typeface="Inter Bold"/>
                <a:ea typeface="Inter Bold"/>
                <a:cs typeface="Inter Bold"/>
                <a:sym typeface="Inter Bold"/>
              </a:rPr>
              <a:t>Connects external systems</a:t>
            </a:r>
          </a:p>
        </p:txBody>
      </p:sp>
      <p:sp>
        <p:nvSpPr>
          <p:cNvPr name="TextBox 19" id="19"/>
          <p:cNvSpPr txBox="true"/>
          <p:nvPr/>
        </p:nvSpPr>
        <p:spPr>
          <a:xfrm rot="0">
            <a:off x="10557691" y="7246214"/>
            <a:ext cx="8235134" cy="513429"/>
          </a:xfrm>
          <a:prstGeom prst="rect">
            <a:avLst/>
          </a:prstGeom>
        </p:spPr>
        <p:txBody>
          <a:bodyPr anchor="t" rtlCol="false" tIns="0" lIns="0" bIns="0" rIns="0">
            <a:spAutoFit/>
          </a:bodyPr>
          <a:lstStyle/>
          <a:p>
            <a:pPr algn="l" marL="0" indent="0" lvl="0">
              <a:lnSpc>
                <a:spcPts val="4250"/>
              </a:lnSpc>
              <a:spcBef>
                <a:spcPct val="0"/>
              </a:spcBef>
            </a:pPr>
            <a:r>
              <a:rPr lang="en-US" b="true" sz="3036">
                <a:solidFill>
                  <a:srgbClr val="705C40"/>
                </a:solidFill>
                <a:latin typeface="Inter Bold"/>
                <a:ea typeface="Inter Bold"/>
                <a:cs typeface="Inter Bold"/>
                <a:sym typeface="Inter Bold"/>
              </a:rPr>
              <a:t>Secure connection and interactions</a:t>
            </a:r>
          </a:p>
        </p:txBody>
      </p:sp>
      <p:sp>
        <p:nvSpPr>
          <p:cNvPr name="TextBox 20" id="20"/>
          <p:cNvSpPr txBox="true"/>
          <p:nvPr/>
        </p:nvSpPr>
        <p:spPr>
          <a:xfrm rot="0">
            <a:off x="1288550" y="685506"/>
            <a:ext cx="5979701" cy="2381250"/>
          </a:xfrm>
          <a:prstGeom prst="rect">
            <a:avLst/>
          </a:prstGeom>
        </p:spPr>
        <p:txBody>
          <a:bodyPr anchor="t" rtlCol="false" tIns="0" lIns="0" bIns="0" rIns="0">
            <a:spAutoFit/>
          </a:bodyPr>
          <a:lstStyle/>
          <a:p>
            <a:pPr algn="l" marL="0" indent="0" lvl="0">
              <a:lnSpc>
                <a:spcPts val="9386"/>
              </a:lnSpc>
            </a:pPr>
            <a:r>
              <a:rPr lang="en-US" b="true" sz="7822">
                <a:solidFill>
                  <a:srgbClr val="705C40"/>
                </a:solidFill>
                <a:latin typeface="Inter Bold"/>
                <a:ea typeface="Inter Bold"/>
                <a:cs typeface="Inter Bold"/>
                <a:sym typeface="Inter Bold"/>
              </a:rPr>
              <a:t>Product overview</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438108" y="8736881"/>
            <a:ext cx="618357" cy="579596"/>
          </a:xfrm>
          <a:custGeom>
            <a:avLst/>
            <a:gdLst/>
            <a:ahLst/>
            <a:cxnLst/>
            <a:rect r="r" b="b" t="t" l="l"/>
            <a:pathLst>
              <a:path h="579596" w="618357">
                <a:moveTo>
                  <a:pt x="0" y="0"/>
                </a:moveTo>
                <a:lnTo>
                  <a:pt x="618357" y="0"/>
                </a:lnTo>
                <a:lnTo>
                  <a:pt x="618357" y="579596"/>
                </a:lnTo>
                <a:lnTo>
                  <a:pt x="0" y="579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43050" y="-476590"/>
            <a:ext cx="9628733" cy="11240179"/>
            <a:chOff x="0" y="0"/>
            <a:chExt cx="2535963" cy="2960376"/>
          </a:xfrm>
        </p:grpSpPr>
        <p:sp>
          <p:nvSpPr>
            <p:cNvPr name="Freeform 4" id="4"/>
            <p:cNvSpPr/>
            <p:nvPr/>
          </p:nvSpPr>
          <p:spPr>
            <a:xfrm flipH="false" flipV="false" rot="0">
              <a:off x="0" y="0"/>
              <a:ext cx="2535963" cy="2960376"/>
            </a:xfrm>
            <a:custGeom>
              <a:avLst/>
              <a:gdLst/>
              <a:ahLst/>
              <a:cxnLst/>
              <a:rect r="r" b="b" t="t" l="l"/>
              <a:pathLst>
                <a:path h="2960376" w="2535963">
                  <a:moveTo>
                    <a:pt x="0" y="0"/>
                  </a:moveTo>
                  <a:lnTo>
                    <a:pt x="2535963" y="0"/>
                  </a:lnTo>
                  <a:lnTo>
                    <a:pt x="2535963" y="2960376"/>
                  </a:lnTo>
                  <a:lnTo>
                    <a:pt x="0" y="2960376"/>
                  </a:lnTo>
                  <a:close/>
                </a:path>
              </a:pathLst>
            </a:custGeom>
            <a:solidFill>
              <a:srgbClr val="EAD6B8"/>
            </a:solidFill>
          </p:spPr>
        </p:sp>
        <p:sp>
          <p:nvSpPr>
            <p:cNvPr name="TextBox 5" id="5"/>
            <p:cNvSpPr txBox="true"/>
            <p:nvPr/>
          </p:nvSpPr>
          <p:spPr>
            <a:xfrm>
              <a:off x="0" y="-47625"/>
              <a:ext cx="2535963" cy="3008001"/>
            </a:xfrm>
            <a:prstGeom prst="rect">
              <a:avLst/>
            </a:prstGeom>
          </p:spPr>
          <p:txBody>
            <a:bodyPr anchor="ctr" rtlCol="false" tIns="50800" lIns="50800" bIns="50800" rIns="50800"/>
            <a:lstStyle/>
            <a:p>
              <a:pPr algn="ctr">
                <a:lnSpc>
                  <a:spcPts val="3012"/>
                </a:lnSpc>
              </a:pPr>
            </a:p>
          </p:txBody>
        </p:sp>
      </p:grpSp>
      <p:grpSp>
        <p:nvGrpSpPr>
          <p:cNvPr name="Group 6" id="6"/>
          <p:cNvGrpSpPr/>
          <p:nvPr/>
        </p:nvGrpSpPr>
        <p:grpSpPr>
          <a:xfrm rot="0">
            <a:off x="17176175" y="8629924"/>
            <a:ext cx="865220" cy="86522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15982142" y="9001360"/>
            <a:ext cx="1902376" cy="2989982"/>
          </a:xfrm>
          <a:custGeom>
            <a:avLst/>
            <a:gdLst/>
            <a:ahLst/>
            <a:cxnLst/>
            <a:rect r="r" b="b" t="t" l="l"/>
            <a:pathLst>
              <a:path h="2989982" w="1902376">
                <a:moveTo>
                  <a:pt x="0" y="0"/>
                </a:moveTo>
                <a:lnTo>
                  <a:pt x="1902376" y="0"/>
                </a:lnTo>
                <a:lnTo>
                  <a:pt x="1902376" y="2989981"/>
                </a:lnTo>
                <a:lnTo>
                  <a:pt x="0" y="29899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14075172" y="2158589"/>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8688187" y="748182"/>
            <a:ext cx="8318095" cy="7972660"/>
          </a:xfrm>
          <a:custGeom>
            <a:avLst/>
            <a:gdLst/>
            <a:ahLst/>
            <a:cxnLst/>
            <a:rect r="r" b="b" t="t" l="l"/>
            <a:pathLst>
              <a:path h="7972660" w="8318095">
                <a:moveTo>
                  <a:pt x="0" y="0"/>
                </a:moveTo>
                <a:lnTo>
                  <a:pt x="8318095" y="0"/>
                </a:lnTo>
                <a:lnTo>
                  <a:pt x="8318095" y="7972659"/>
                </a:lnTo>
                <a:lnTo>
                  <a:pt x="0" y="7972659"/>
                </a:lnTo>
                <a:lnTo>
                  <a:pt x="0" y="0"/>
                </a:lnTo>
                <a:close/>
              </a:path>
            </a:pathLst>
          </a:custGeom>
          <a:blipFill>
            <a:blip r:embed="rId8"/>
            <a:stretch>
              <a:fillRect l="0" t="0" r="0" b="0"/>
            </a:stretch>
          </a:blipFill>
        </p:spPr>
      </p:sp>
      <p:sp>
        <p:nvSpPr>
          <p:cNvPr name="TextBox 12" id="12"/>
          <p:cNvSpPr txBox="true"/>
          <p:nvPr/>
        </p:nvSpPr>
        <p:spPr>
          <a:xfrm rot="0">
            <a:off x="876300" y="586257"/>
            <a:ext cx="11340400" cy="2835835"/>
          </a:xfrm>
          <a:prstGeom prst="rect">
            <a:avLst/>
          </a:prstGeom>
        </p:spPr>
        <p:txBody>
          <a:bodyPr anchor="t" rtlCol="false" tIns="0" lIns="0" bIns="0" rIns="0">
            <a:spAutoFit/>
          </a:bodyPr>
          <a:lstStyle/>
          <a:p>
            <a:pPr algn="l">
              <a:lnSpc>
                <a:spcPts val="10992"/>
              </a:lnSpc>
            </a:pPr>
            <a:r>
              <a:rPr lang="en-US" sz="8455" b="true">
                <a:solidFill>
                  <a:srgbClr val="000000"/>
                </a:solidFill>
                <a:latin typeface="Poppins Bold"/>
                <a:ea typeface="Poppins Bold"/>
                <a:cs typeface="Poppins Bold"/>
                <a:sym typeface="Poppins Bold"/>
              </a:rPr>
              <a:t>Product </a:t>
            </a:r>
          </a:p>
          <a:p>
            <a:pPr algn="l" marL="0" indent="0" lvl="0">
              <a:lnSpc>
                <a:spcPts val="10992"/>
              </a:lnSpc>
            </a:pPr>
            <a:r>
              <a:rPr lang="en-US" b="true" sz="8455">
                <a:solidFill>
                  <a:srgbClr val="000000"/>
                </a:solidFill>
                <a:latin typeface="Poppins Bold"/>
                <a:ea typeface="Poppins Bold"/>
                <a:cs typeface="Poppins Bold"/>
                <a:sym typeface="Poppins Bold"/>
              </a:rPr>
              <a:t>perspective</a:t>
            </a:r>
          </a:p>
        </p:txBody>
      </p:sp>
      <p:sp>
        <p:nvSpPr>
          <p:cNvPr name="TextBox 13" id="13"/>
          <p:cNvSpPr txBox="true"/>
          <p:nvPr/>
        </p:nvSpPr>
        <p:spPr>
          <a:xfrm rot="0">
            <a:off x="733425" y="4452259"/>
            <a:ext cx="6875962" cy="41776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Inter"/>
                <a:ea typeface="Inter"/>
                <a:cs typeface="Inter"/>
                <a:sym typeface="Inter"/>
              </a:rPr>
              <a:t>Students, faculty, and staff provide inputs to the system.</a:t>
            </a:r>
          </a:p>
          <a:p>
            <a:pPr algn="l" marL="518160" indent="-259080" lvl="1">
              <a:lnSpc>
                <a:spcPts val="3359"/>
              </a:lnSpc>
              <a:buFont typeface="Arial"/>
              <a:buChar char="•"/>
            </a:pPr>
            <a:r>
              <a:rPr lang="en-US" sz="2400">
                <a:solidFill>
                  <a:srgbClr val="000000"/>
                </a:solidFill>
                <a:latin typeface="Inter"/>
                <a:ea typeface="Inter"/>
                <a:cs typeface="Inter"/>
                <a:sym typeface="Inter"/>
              </a:rPr>
              <a:t>The system processes these requests through modules.</a:t>
            </a:r>
          </a:p>
          <a:p>
            <a:pPr algn="l" marL="518160" indent="-259080" lvl="1">
              <a:lnSpc>
                <a:spcPts val="3359"/>
              </a:lnSpc>
              <a:buFont typeface="Arial"/>
              <a:buChar char="•"/>
            </a:pPr>
            <a:r>
              <a:rPr lang="en-US" sz="2400">
                <a:solidFill>
                  <a:srgbClr val="000000"/>
                </a:solidFill>
                <a:latin typeface="Inter"/>
                <a:ea typeface="Inter"/>
                <a:cs typeface="Inter"/>
                <a:sym typeface="Inter"/>
              </a:rPr>
              <a:t>The system returns the result of the input using the module.</a:t>
            </a:r>
          </a:p>
          <a:p>
            <a:pPr algn="l" marL="518160" indent="-259080" lvl="1">
              <a:lnSpc>
                <a:spcPts val="3359"/>
              </a:lnSpc>
              <a:buFont typeface="Arial"/>
              <a:buChar char="•"/>
            </a:pPr>
            <a:r>
              <a:rPr lang="en-US" sz="2400" strike="noStrike" u="none">
                <a:solidFill>
                  <a:srgbClr val="000000"/>
                </a:solidFill>
                <a:latin typeface="Inter"/>
                <a:ea typeface="Inter"/>
                <a:cs typeface="Inter"/>
                <a:sym typeface="Inter"/>
              </a:rPr>
              <a:t>Admins log in through a secure panel to access data.</a:t>
            </a:r>
          </a:p>
          <a:p>
            <a:pPr algn="l" marL="518160" indent="-259080" lvl="1">
              <a:lnSpc>
                <a:spcPts val="3359"/>
              </a:lnSpc>
              <a:buFont typeface="Arial"/>
              <a:buChar char="•"/>
            </a:pPr>
            <a:r>
              <a:rPr lang="en-US" sz="2400" strike="noStrike" u="none">
                <a:solidFill>
                  <a:srgbClr val="000000"/>
                </a:solidFill>
                <a:latin typeface="Inter"/>
                <a:ea typeface="Inter"/>
                <a:cs typeface="Inter"/>
                <a:sym typeface="Inter"/>
              </a:rPr>
              <a:t>For the verification the IDM verifies identity..</a:t>
            </a:r>
          </a:p>
        </p:txBody>
      </p:sp>
      <p:sp>
        <p:nvSpPr>
          <p:cNvPr name="TextBox 14" id="14"/>
          <p:cNvSpPr txBox="true"/>
          <p:nvPr/>
        </p:nvSpPr>
        <p:spPr>
          <a:xfrm rot="0">
            <a:off x="9144000" y="8753212"/>
            <a:ext cx="4528738" cy="489806"/>
          </a:xfrm>
          <a:prstGeom prst="rect">
            <a:avLst/>
          </a:prstGeom>
        </p:spPr>
        <p:txBody>
          <a:bodyPr anchor="t" rtlCol="false" tIns="0" lIns="0" bIns="0" rIns="0">
            <a:spAutoFit/>
          </a:bodyPr>
          <a:lstStyle/>
          <a:p>
            <a:pPr algn="l" marL="0" indent="0" lvl="0">
              <a:lnSpc>
                <a:spcPts val="3977"/>
              </a:lnSpc>
              <a:spcBef>
                <a:spcPct val="0"/>
              </a:spcBef>
            </a:pPr>
            <a:r>
              <a:rPr lang="en-US" sz="2841">
                <a:solidFill>
                  <a:srgbClr val="705C40"/>
                </a:solidFill>
                <a:latin typeface="Inter"/>
                <a:ea typeface="Inter"/>
                <a:cs typeface="Inter"/>
                <a:sym typeface="Inter"/>
              </a:rPr>
              <a:t>Context diagram</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37148" y="-531680"/>
            <a:ext cx="6123364" cy="11222921"/>
            <a:chOff x="0" y="0"/>
            <a:chExt cx="948669" cy="1738724"/>
          </a:xfrm>
        </p:grpSpPr>
        <p:sp>
          <p:nvSpPr>
            <p:cNvPr name="Freeform 3" id="3"/>
            <p:cNvSpPr/>
            <p:nvPr/>
          </p:nvSpPr>
          <p:spPr>
            <a:xfrm flipH="false" flipV="false" rot="0">
              <a:off x="0" y="0"/>
              <a:ext cx="948669" cy="1738724"/>
            </a:xfrm>
            <a:custGeom>
              <a:avLst/>
              <a:gdLst/>
              <a:ahLst/>
              <a:cxnLst/>
              <a:rect r="r" b="b" t="t" l="l"/>
              <a:pathLst>
                <a:path h="1738724" w="948669">
                  <a:moveTo>
                    <a:pt x="0" y="0"/>
                  </a:moveTo>
                  <a:lnTo>
                    <a:pt x="948669" y="0"/>
                  </a:lnTo>
                  <a:lnTo>
                    <a:pt x="948669" y="1738724"/>
                  </a:lnTo>
                  <a:lnTo>
                    <a:pt x="0" y="1738724"/>
                  </a:lnTo>
                  <a:close/>
                </a:path>
              </a:pathLst>
            </a:custGeom>
            <a:blipFill>
              <a:blip r:embed="rId2"/>
              <a:stretch>
                <a:fillRect l="-87804" t="0" r="-87804" b="0"/>
              </a:stretch>
            </a:blipFill>
          </p:spPr>
        </p:sp>
      </p:grpSp>
      <p:grpSp>
        <p:nvGrpSpPr>
          <p:cNvPr name="Group 4" id="4"/>
          <p:cNvGrpSpPr/>
          <p:nvPr/>
        </p:nvGrpSpPr>
        <p:grpSpPr>
          <a:xfrm rot="0">
            <a:off x="1028700" y="3407204"/>
            <a:ext cx="5067457" cy="5755846"/>
            <a:chOff x="0" y="0"/>
            <a:chExt cx="1334639" cy="1515943"/>
          </a:xfrm>
        </p:grpSpPr>
        <p:sp>
          <p:nvSpPr>
            <p:cNvPr name="Freeform 5" id="5"/>
            <p:cNvSpPr/>
            <p:nvPr/>
          </p:nvSpPr>
          <p:spPr>
            <a:xfrm flipH="false" flipV="false" rot="0">
              <a:off x="0" y="0"/>
              <a:ext cx="1334639" cy="1515943"/>
            </a:xfrm>
            <a:custGeom>
              <a:avLst/>
              <a:gdLst/>
              <a:ahLst/>
              <a:cxnLst/>
              <a:rect r="r" b="b" t="t" l="l"/>
              <a:pathLst>
                <a:path h="1515943" w="1334639">
                  <a:moveTo>
                    <a:pt x="0" y="0"/>
                  </a:moveTo>
                  <a:lnTo>
                    <a:pt x="1334639" y="0"/>
                  </a:lnTo>
                  <a:lnTo>
                    <a:pt x="1334639" y="1515943"/>
                  </a:lnTo>
                  <a:lnTo>
                    <a:pt x="0" y="1515943"/>
                  </a:lnTo>
                  <a:close/>
                </a:path>
              </a:pathLst>
            </a:custGeom>
            <a:solidFill>
              <a:srgbClr val="EAD6B8"/>
            </a:solidFill>
          </p:spPr>
        </p:sp>
        <p:sp>
          <p:nvSpPr>
            <p:cNvPr name="TextBox 6" id="6"/>
            <p:cNvSpPr txBox="true"/>
            <p:nvPr/>
          </p:nvSpPr>
          <p:spPr>
            <a:xfrm>
              <a:off x="0" y="-47625"/>
              <a:ext cx="1334639" cy="1563568"/>
            </a:xfrm>
            <a:prstGeom prst="rect">
              <a:avLst/>
            </a:prstGeom>
          </p:spPr>
          <p:txBody>
            <a:bodyPr anchor="ctr" rtlCol="false" tIns="50800" lIns="50800" bIns="50800" rIns="50800"/>
            <a:lstStyle/>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User signup</a:t>
              </a:r>
            </a:p>
            <a:p>
              <a:pPr algn="ctr">
                <a:lnSpc>
                  <a:spcPts val="3012"/>
                </a:lnSpc>
              </a:pPr>
            </a:p>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User login &amp; logout</a:t>
              </a:r>
            </a:p>
            <a:p>
              <a:pPr algn="ctr">
                <a:lnSpc>
                  <a:spcPts val="3012"/>
                </a:lnSpc>
              </a:pPr>
            </a:p>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Request &amp; offer ride</a:t>
              </a:r>
            </a:p>
            <a:p>
              <a:pPr algn="ctr">
                <a:lnSpc>
                  <a:spcPts val="3012"/>
                </a:lnSpc>
              </a:pPr>
            </a:p>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View ride details</a:t>
              </a:r>
            </a:p>
            <a:p>
              <a:pPr algn="ctr">
                <a:lnSpc>
                  <a:spcPts val="3012"/>
                </a:lnSpc>
              </a:pPr>
            </a:p>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In-app messaging</a:t>
              </a:r>
            </a:p>
            <a:p>
              <a:pPr algn="ctr">
                <a:lnSpc>
                  <a:spcPts val="3012"/>
                </a:lnSpc>
              </a:pPr>
            </a:p>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Admin Login &amp; Logout</a:t>
              </a:r>
            </a:p>
            <a:p>
              <a:pPr algn="ctr">
                <a:lnSpc>
                  <a:spcPts val="3012"/>
                </a:lnSpc>
              </a:pPr>
            </a:p>
            <a:p>
              <a:pPr algn="ctr" marL="464603" indent="-232302" lvl="1">
                <a:lnSpc>
                  <a:spcPts val="3012"/>
                </a:lnSpc>
                <a:buFont typeface="Arial"/>
                <a:buChar char="•"/>
              </a:pPr>
              <a:r>
                <a:rPr lang="en-US" b="true" sz="2151">
                  <a:solidFill>
                    <a:srgbClr val="000000"/>
                  </a:solidFill>
                  <a:latin typeface="Inter Bold"/>
                  <a:ea typeface="Inter Bold"/>
                  <a:cs typeface="Inter Bold"/>
                  <a:sym typeface="Inter Bold"/>
                </a:rPr>
                <a:t>View user information</a:t>
              </a:r>
            </a:p>
          </p:txBody>
        </p:sp>
      </p:grpSp>
      <p:grpSp>
        <p:nvGrpSpPr>
          <p:cNvPr name="Group 7" id="7"/>
          <p:cNvGrpSpPr/>
          <p:nvPr/>
        </p:nvGrpSpPr>
        <p:grpSpPr>
          <a:xfrm rot="0">
            <a:off x="6779274" y="3407204"/>
            <a:ext cx="5067457" cy="5755846"/>
            <a:chOff x="0" y="0"/>
            <a:chExt cx="1334639" cy="1515943"/>
          </a:xfrm>
        </p:grpSpPr>
        <p:sp>
          <p:nvSpPr>
            <p:cNvPr name="Freeform 8" id="8"/>
            <p:cNvSpPr/>
            <p:nvPr/>
          </p:nvSpPr>
          <p:spPr>
            <a:xfrm flipH="false" flipV="false" rot="0">
              <a:off x="0" y="0"/>
              <a:ext cx="1334639" cy="1515943"/>
            </a:xfrm>
            <a:custGeom>
              <a:avLst/>
              <a:gdLst/>
              <a:ahLst/>
              <a:cxnLst/>
              <a:rect r="r" b="b" t="t" l="l"/>
              <a:pathLst>
                <a:path h="1515943" w="1334639">
                  <a:moveTo>
                    <a:pt x="0" y="0"/>
                  </a:moveTo>
                  <a:lnTo>
                    <a:pt x="1334639" y="0"/>
                  </a:lnTo>
                  <a:lnTo>
                    <a:pt x="1334639" y="1515943"/>
                  </a:lnTo>
                  <a:lnTo>
                    <a:pt x="0" y="1515943"/>
                  </a:lnTo>
                  <a:close/>
                </a:path>
              </a:pathLst>
            </a:custGeom>
            <a:solidFill>
              <a:srgbClr val="BCA37F"/>
            </a:solidFill>
          </p:spPr>
        </p:sp>
        <p:sp>
          <p:nvSpPr>
            <p:cNvPr name="TextBox 9" id="9"/>
            <p:cNvSpPr txBox="true"/>
            <p:nvPr/>
          </p:nvSpPr>
          <p:spPr>
            <a:xfrm>
              <a:off x="0" y="-47625"/>
              <a:ext cx="1334639" cy="1563568"/>
            </a:xfrm>
            <a:prstGeom prst="rect">
              <a:avLst/>
            </a:prstGeom>
          </p:spPr>
          <p:txBody>
            <a:bodyPr anchor="ctr" rtlCol="false" tIns="50800" lIns="50800" bIns="50800" rIns="50800"/>
            <a:lstStyle/>
            <a:p>
              <a:pPr algn="ctr">
                <a:lnSpc>
                  <a:spcPts val="3012"/>
                </a:lnSpc>
              </a:pPr>
            </a:p>
          </p:txBody>
        </p:sp>
      </p:grpSp>
      <p:grpSp>
        <p:nvGrpSpPr>
          <p:cNvPr name="Group 10" id="10"/>
          <p:cNvGrpSpPr/>
          <p:nvPr/>
        </p:nvGrpSpPr>
        <p:grpSpPr>
          <a:xfrm rot="0">
            <a:off x="-989667" y="954218"/>
            <a:ext cx="3086100" cy="1178743"/>
            <a:chOff x="0" y="0"/>
            <a:chExt cx="812800" cy="310451"/>
          </a:xfrm>
        </p:grpSpPr>
        <p:sp>
          <p:nvSpPr>
            <p:cNvPr name="Freeform 11" id="11"/>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12" id="12"/>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Freeform 13" id="13"/>
          <p:cNvSpPr/>
          <p:nvPr/>
        </p:nvSpPr>
        <p:spPr>
          <a:xfrm flipH="false" flipV="false" rot="0">
            <a:off x="10904159" y="-531680"/>
            <a:ext cx="3251377" cy="2483239"/>
          </a:xfrm>
          <a:custGeom>
            <a:avLst/>
            <a:gdLst/>
            <a:ahLst/>
            <a:cxnLst/>
            <a:rect r="r" b="b" t="t" l="l"/>
            <a:pathLst>
              <a:path h="2483239" w="3251377">
                <a:moveTo>
                  <a:pt x="0" y="0"/>
                </a:moveTo>
                <a:lnTo>
                  <a:pt x="3251377" y="0"/>
                </a:lnTo>
                <a:lnTo>
                  <a:pt x="3251377" y="2483239"/>
                </a:lnTo>
                <a:lnTo>
                  <a:pt x="0" y="24832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4" id="14"/>
          <p:cNvGraphicFramePr>
            <a:graphicFrameLocks noGrp="true"/>
          </p:cNvGraphicFramePr>
          <p:nvPr/>
        </p:nvGraphicFramePr>
        <p:xfrm>
          <a:off x="6933246" y="3490911"/>
          <a:ext cx="4759513" cy="5619750"/>
        </p:xfrm>
        <a:graphic>
          <a:graphicData uri="http://schemas.openxmlformats.org/drawingml/2006/table">
            <a:tbl>
              <a:tblPr/>
              <a:tblGrid>
                <a:gridCol w="2224542"/>
                <a:gridCol w="2534971"/>
              </a:tblGrid>
              <a:tr h="978182">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User role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079"/>
                        </a:lnSpc>
                        <a:defRPr/>
                      </a:pPr>
                      <a:r>
                        <a:rPr lang="en-US" sz="2199" b="true">
                          <a:solidFill>
                            <a:srgbClr val="000000"/>
                          </a:solidFill>
                          <a:latin typeface="Poppins Bold"/>
                          <a:ea typeface="Poppins Bold"/>
                          <a:cs typeface="Poppins Bold"/>
                          <a:sym typeface="Poppins Bold"/>
                        </a:rPr>
                        <a:t>Technical Skill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242">
                <a:tc>
                  <a:txBody>
                    <a:bodyPr anchor="t" rtlCol="false"/>
                    <a:lstStyle/>
                    <a:p>
                      <a:pPr algn="ctr">
                        <a:lnSpc>
                          <a:spcPts val="3079"/>
                        </a:lnSpc>
                        <a:defRPr/>
                      </a:pPr>
                      <a:r>
                        <a:rPr lang="en-US" sz="2199">
                          <a:solidFill>
                            <a:srgbClr val="000000"/>
                          </a:solidFill>
                          <a:latin typeface="Poppins"/>
                          <a:ea typeface="Poppins"/>
                          <a:cs typeface="Poppins"/>
                          <a:sym typeface="Poppins"/>
                        </a:rPr>
                        <a:t>Students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Basic computer literacy</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68663">
                <a:tc>
                  <a:txBody>
                    <a:bodyPr anchor="t" rtlCol="false"/>
                    <a:lstStyle/>
                    <a:p>
                      <a:pPr algn="ctr">
                        <a:lnSpc>
                          <a:spcPts val="2867"/>
                        </a:lnSpc>
                        <a:defRPr/>
                      </a:pPr>
                      <a:r>
                        <a:rPr lang="en-US" sz="2048">
                          <a:solidFill>
                            <a:srgbClr val="000000"/>
                          </a:solidFill>
                          <a:latin typeface="Poppins"/>
                          <a:ea typeface="Poppins"/>
                          <a:cs typeface="Poppins"/>
                          <a:sym typeface="Poppins"/>
                        </a:rPr>
                        <a:t>Faculty/Staff</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Moderate computer profieciency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68663">
                <a:tc>
                  <a:txBody>
                    <a:bodyPr anchor="t" rtlCol="false"/>
                    <a:lstStyle/>
                    <a:p>
                      <a:pPr algn="ctr">
                        <a:lnSpc>
                          <a:spcPts val="2867"/>
                        </a:lnSpc>
                        <a:defRPr/>
                      </a:pPr>
                      <a:r>
                        <a:rPr lang="en-US" sz="2048">
                          <a:solidFill>
                            <a:srgbClr val="000000"/>
                          </a:solidFill>
                          <a:latin typeface="Poppins"/>
                          <a:ea typeface="Poppins"/>
                          <a:cs typeface="Poppins"/>
                          <a:sym typeface="Poppins"/>
                        </a:rPr>
                        <a:t>Admin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867"/>
                        </a:lnSpc>
                        <a:defRPr/>
                      </a:pPr>
                      <a:r>
                        <a:rPr lang="en-US" sz="2048">
                          <a:solidFill>
                            <a:srgbClr val="000000"/>
                          </a:solidFill>
                          <a:latin typeface="Poppins"/>
                          <a:ea typeface="Poppins"/>
                          <a:cs typeface="Poppins"/>
                          <a:sym typeface="Poppins"/>
                        </a:rPr>
                        <a:t>Advanced IT dashboard usage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5" id="15"/>
          <p:cNvSpPr txBox="true"/>
          <p:nvPr/>
        </p:nvSpPr>
        <p:spPr>
          <a:xfrm rot="0">
            <a:off x="1028700" y="2320606"/>
            <a:ext cx="5133792" cy="717550"/>
          </a:xfrm>
          <a:prstGeom prst="rect">
            <a:avLst/>
          </a:prstGeom>
        </p:spPr>
        <p:txBody>
          <a:bodyPr anchor="t" rtlCol="false" tIns="0" lIns="0" bIns="0" rIns="0">
            <a:spAutoFit/>
          </a:bodyPr>
          <a:lstStyle/>
          <a:p>
            <a:pPr algn="l" marL="0" indent="0" lvl="0">
              <a:lnSpc>
                <a:spcPts val="5599"/>
              </a:lnSpc>
              <a:spcBef>
                <a:spcPct val="0"/>
              </a:spcBef>
            </a:pPr>
            <a:r>
              <a:rPr lang="en-US" b="true" sz="3999">
                <a:solidFill>
                  <a:srgbClr val="000000"/>
                </a:solidFill>
                <a:latin typeface="Poppins Bold"/>
                <a:ea typeface="Poppins Bold"/>
                <a:cs typeface="Poppins Bold"/>
                <a:sym typeface="Poppins Bold"/>
              </a:rPr>
              <a:t>Product Functions</a:t>
            </a:r>
          </a:p>
        </p:txBody>
      </p:sp>
      <p:sp>
        <p:nvSpPr>
          <p:cNvPr name="TextBox 16" id="16"/>
          <p:cNvSpPr txBox="true"/>
          <p:nvPr/>
        </p:nvSpPr>
        <p:spPr>
          <a:xfrm rot="0">
            <a:off x="6765156" y="2320606"/>
            <a:ext cx="5133792" cy="684530"/>
          </a:xfrm>
          <a:prstGeom prst="rect">
            <a:avLst/>
          </a:prstGeom>
        </p:spPr>
        <p:txBody>
          <a:bodyPr anchor="t" rtlCol="false" tIns="0" lIns="0" bIns="0" rIns="0">
            <a:spAutoFit/>
          </a:bodyPr>
          <a:lstStyle/>
          <a:p>
            <a:pPr algn="l" marL="0" indent="0" lvl="0">
              <a:lnSpc>
                <a:spcPts val="5320"/>
              </a:lnSpc>
              <a:spcBef>
                <a:spcPct val="0"/>
              </a:spcBef>
            </a:pPr>
            <a:r>
              <a:rPr lang="en-US" b="true" sz="3800">
                <a:solidFill>
                  <a:srgbClr val="000000"/>
                </a:solidFill>
                <a:latin typeface="Poppins Bold"/>
                <a:ea typeface="Poppins Bold"/>
                <a:cs typeface="Poppins Bold"/>
                <a:sym typeface="Poppins Bold"/>
              </a:rPr>
              <a:t>User Characteristics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3050" y="2537599"/>
            <a:ext cx="8661823" cy="5155320"/>
            <a:chOff x="0" y="0"/>
            <a:chExt cx="2281303" cy="1357780"/>
          </a:xfrm>
        </p:grpSpPr>
        <p:sp>
          <p:nvSpPr>
            <p:cNvPr name="Freeform 3" id="3"/>
            <p:cNvSpPr/>
            <p:nvPr/>
          </p:nvSpPr>
          <p:spPr>
            <a:xfrm flipH="false" flipV="false" rot="0">
              <a:off x="0" y="0"/>
              <a:ext cx="2281303" cy="1357780"/>
            </a:xfrm>
            <a:custGeom>
              <a:avLst/>
              <a:gdLst/>
              <a:ahLst/>
              <a:cxnLst/>
              <a:rect r="r" b="b" t="t" l="l"/>
              <a:pathLst>
                <a:path h="1357780" w="2281303">
                  <a:moveTo>
                    <a:pt x="0" y="0"/>
                  </a:moveTo>
                  <a:lnTo>
                    <a:pt x="2281303" y="0"/>
                  </a:lnTo>
                  <a:lnTo>
                    <a:pt x="2281303" y="1357780"/>
                  </a:lnTo>
                  <a:lnTo>
                    <a:pt x="0" y="1357780"/>
                  </a:lnTo>
                  <a:close/>
                </a:path>
              </a:pathLst>
            </a:custGeom>
            <a:solidFill>
              <a:srgbClr val="EAD6B8"/>
            </a:solidFill>
          </p:spPr>
        </p:sp>
        <p:sp>
          <p:nvSpPr>
            <p:cNvPr name="TextBox 4" id="4"/>
            <p:cNvSpPr txBox="true"/>
            <p:nvPr/>
          </p:nvSpPr>
          <p:spPr>
            <a:xfrm>
              <a:off x="0" y="-47625"/>
              <a:ext cx="2281303" cy="1405405"/>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7955697" y="3656430"/>
            <a:ext cx="2376606" cy="237660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p:spPr>
        </p:sp>
      </p:grpSp>
      <p:grpSp>
        <p:nvGrpSpPr>
          <p:cNvPr name="Group 7" id="7"/>
          <p:cNvGrpSpPr/>
          <p:nvPr/>
        </p:nvGrpSpPr>
        <p:grpSpPr>
          <a:xfrm rot="0">
            <a:off x="11587895" y="3656430"/>
            <a:ext cx="2376606" cy="237660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2585" t="0" r="-37414" b="0"/>
              </a:stretch>
            </a:blipFill>
          </p:spPr>
        </p:sp>
      </p:grpSp>
      <p:sp>
        <p:nvSpPr>
          <p:cNvPr name="Freeform 9" id="9"/>
          <p:cNvSpPr/>
          <p:nvPr/>
        </p:nvSpPr>
        <p:spPr>
          <a:xfrm flipH="false" flipV="false" rot="0">
            <a:off x="1280343" y="8797819"/>
            <a:ext cx="732467" cy="686553"/>
          </a:xfrm>
          <a:custGeom>
            <a:avLst/>
            <a:gdLst/>
            <a:ahLst/>
            <a:cxnLst/>
            <a:rect r="r" b="b" t="t" l="l"/>
            <a:pathLst>
              <a:path h="686553" w="732467">
                <a:moveTo>
                  <a:pt x="0" y="0"/>
                </a:moveTo>
                <a:lnTo>
                  <a:pt x="732467" y="0"/>
                </a:lnTo>
                <a:lnTo>
                  <a:pt x="732467" y="686553"/>
                </a:lnTo>
                <a:lnTo>
                  <a:pt x="0" y="6865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154374" y="8847626"/>
            <a:ext cx="5600620" cy="529811"/>
          </a:xfrm>
          <a:prstGeom prst="rect">
            <a:avLst/>
          </a:prstGeom>
        </p:spPr>
        <p:txBody>
          <a:bodyPr anchor="t" rtlCol="false" tIns="0" lIns="0" bIns="0" rIns="0">
            <a:spAutoFit/>
          </a:bodyPr>
          <a:lstStyle/>
          <a:p>
            <a:pPr algn="l" marL="0" indent="0" lvl="0">
              <a:lnSpc>
                <a:spcPts val="4397"/>
              </a:lnSpc>
              <a:spcBef>
                <a:spcPct val="0"/>
              </a:spcBef>
            </a:pPr>
            <a:r>
              <a:rPr lang="en-US" sz="3141">
                <a:solidFill>
                  <a:srgbClr val="705C40"/>
                </a:solidFill>
                <a:latin typeface="Inter"/>
                <a:ea typeface="Inter"/>
                <a:cs typeface="Inter"/>
                <a:sym typeface="Inter"/>
              </a:rPr>
              <a:t>Limitations to consider</a:t>
            </a:r>
          </a:p>
        </p:txBody>
      </p:sp>
      <p:sp>
        <p:nvSpPr>
          <p:cNvPr name="AutoShape 11" id="11"/>
          <p:cNvSpPr/>
          <p:nvPr/>
        </p:nvSpPr>
        <p:spPr>
          <a:xfrm>
            <a:off x="6783460" y="9141096"/>
            <a:ext cx="10475840" cy="0"/>
          </a:xfrm>
          <a:prstGeom prst="line">
            <a:avLst/>
          </a:prstGeom>
          <a:ln cap="flat" w="38100">
            <a:solidFill>
              <a:srgbClr val="BCA37F"/>
            </a:solidFill>
            <a:prstDash val="solid"/>
            <a:headEnd type="none" len="sm" w="sm"/>
            <a:tailEnd type="none" len="sm" w="sm"/>
          </a:ln>
        </p:spPr>
      </p:sp>
      <p:grpSp>
        <p:nvGrpSpPr>
          <p:cNvPr name="Group 12" id="12"/>
          <p:cNvGrpSpPr/>
          <p:nvPr/>
        </p:nvGrpSpPr>
        <p:grpSpPr>
          <a:xfrm rot="0">
            <a:off x="16722081" y="1458500"/>
            <a:ext cx="1190712" cy="1190712"/>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5" id="15"/>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15207460" y="3656430"/>
            <a:ext cx="2376606" cy="2376606"/>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41824" t="0" r="-37816" b="0"/>
              </a:stretch>
            </a:blipFill>
          </p:spPr>
        </p:sp>
      </p:grpSp>
      <p:sp>
        <p:nvSpPr>
          <p:cNvPr name="TextBox 18" id="18"/>
          <p:cNvSpPr txBox="true"/>
          <p:nvPr/>
        </p:nvSpPr>
        <p:spPr>
          <a:xfrm rot="0">
            <a:off x="1028700" y="800100"/>
            <a:ext cx="6090073" cy="1395753"/>
          </a:xfrm>
          <a:prstGeom prst="rect">
            <a:avLst/>
          </a:prstGeom>
        </p:spPr>
        <p:txBody>
          <a:bodyPr anchor="t" rtlCol="false" tIns="0" lIns="0" bIns="0" rIns="0">
            <a:spAutoFit/>
          </a:bodyPr>
          <a:lstStyle/>
          <a:p>
            <a:pPr algn="l" marL="0" indent="0" lvl="0">
              <a:lnSpc>
                <a:spcPts val="10743"/>
              </a:lnSpc>
              <a:spcBef>
                <a:spcPct val="0"/>
              </a:spcBef>
            </a:pPr>
            <a:r>
              <a:rPr lang="en-US" b="true" sz="7674">
                <a:solidFill>
                  <a:srgbClr val="000000"/>
                </a:solidFill>
                <a:latin typeface="Poppins Bold"/>
                <a:ea typeface="Poppins Bold"/>
                <a:cs typeface="Poppins Bold"/>
                <a:sym typeface="Poppins Bold"/>
              </a:rPr>
              <a:t>Limitations</a:t>
            </a:r>
          </a:p>
        </p:txBody>
      </p:sp>
      <p:sp>
        <p:nvSpPr>
          <p:cNvPr name="TextBox 19" id="19"/>
          <p:cNvSpPr txBox="true"/>
          <p:nvPr/>
        </p:nvSpPr>
        <p:spPr>
          <a:xfrm rot="0">
            <a:off x="742941" y="3589755"/>
            <a:ext cx="6375831" cy="3947509"/>
          </a:xfrm>
          <a:prstGeom prst="rect">
            <a:avLst/>
          </a:prstGeom>
        </p:spPr>
        <p:txBody>
          <a:bodyPr anchor="t" rtlCol="false" tIns="0" lIns="0" bIns="0" rIns="0">
            <a:spAutoFit/>
          </a:bodyPr>
          <a:lstStyle/>
          <a:p>
            <a:pPr algn="l">
              <a:lnSpc>
                <a:spcPts val="3970"/>
              </a:lnSpc>
            </a:pPr>
            <a:r>
              <a:rPr lang="en-US" sz="2836">
                <a:solidFill>
                  <a:srgbClr val="000000"/>
                </a:solidFill>
                <a:latin typeface="Inter"/>
                <a:ea typeface="Inter"/>
                <a:cs typeface="Inter"/>
                <a:sym typeface="Inter"/>
              </a:rPr>
              <a:t>When developing a platform that integrates a campus ride-sharing application with a university parking system and identity management system, several limitations must be considered to ensure operational efficiency, legal compliance, and system reliability.</a:t>
            </a:r>
          </a:p>
        </p:txBody>
      </p:sp>
      <p:sp>
        <p:nvSpPr>
          <p:cNvPr name="TextBox 20" id="20"/>
          <p:cNvSpPr txBox="true"/>
          <p:nvPr/>
        </p:nvSpPr>
        <p:spPr>
          <a:xfrm rot="0">
            <a:off x="1028700" y="2619191"/>
            <a:ext cx="6090073" cy="780064"/>
          </a:xfrm>
          <a:prstGeom prst="rect">
            <a:avLst/>
          </a:prstGeom>
        </p:spPr>
        <p:txBody>
          <a:bodyPr anchor="t" rtlCol="false" tIns="0" lIns="0" bIns="0" rIns="0">
            <a:spAutoFit/>
          </a:bodyPr>
          <a:lstStyle/>
          <a:p>
            <a:pPr algn="l" marL="0" indent="0" lvl="0">
              <a:lnSpc>
                <a:spcPts val="6350"/>
              </a:lnSpc>
              <a:spcBef>
                <a:spcPct val="0"/>
              </a:spcBef>
            </a:pPr>
            <a:r>
              <a:rPr lang="en-US" b="true" sz="4536">
                <a:solidFill>
                  <a:srgbClr val="000000"/>
                </a:solidFill>
                <a:latin typeface="Inter Bold"/>
                <a:ea typeface="Inter Bold"/>
                <a:cs typeface="Inter Bold"/>
                <a:sym typeface="Inter Bold"/>
              </a:rPr>
              <a:t>Overview</a:t>
            </a:r>
          </a:p>
        </p:txBody>
      </p:sp>
      <p:sp>
        <p:nvSpPr>
          <p:cNvPr name="TextBox 21" id="21"/>
          <p:cNvSpPr txBox="true"/>
          <p:nvPr/>
        </p:nvSpPr>
        <p:spPr>
          <a:xfrm rot="0">
            <a:off x="10368252" y="2202983"/>
            <a:ext cx="4815890" cy="768700"/>
          </a:xfrm>
          <a:prstGeom prst="rect">
            <a:avLst/>
          </a:prstGeom>
        </p:spPr>
        <p:txBody>
          <a:bodyPr anchor="t" rtlCol="false" tIns="0" lIns="0" bIns="0" rIns="0">
            <a:spAutoFit/>
          </a:bodyPr>
          <a:lstStyle/>
          <a:p>
            <a:pPr algn="ctr" marL="0" indent="0" lvl="0">
              <a:lnSpc>
                <a:spcPts val="5930"/>
              </a:lnSpc>
              <a:spcBef>
                <a:spcPct val="0"/>
              </a:spcBef>
            </a:pPr>
            <a:r>
              <a:rPr lang="en-US" b="true" sz="4236">
                <a:solidFill>
                  <a:srgbClr val="705C40"/>
                </a:solidFill>
                <a:latin typeface="Poppins Bold"/>
                <a:ea typeface="Poppins Bold"/>
                <a:cs typeface="Poppins Bold"/>
                <a:sym typeface="Poppins Bold"/>
              </a:rPr>
              <a:t>components</a:t>
            </a:r>
          </a:p>
        </p:txBody>
      </p:sp>
      <p:sp>
        <p:nvSpPr>
          <p:cNvPr name="TextBox 22" id="22"/>
          <p:cNvSpPr txBox="true"/>
          <p:nvPr/>
        </p:nvSpPr>
        <p:spPr>
          <a:xfrm rot="0">
            <a:off x="7920817" y="6342881"/>
            <a:ext cx="2446366" cy="367078"/>
          </a:xfrm>
          <a:prstGeom prst="rect">
            <a:avLst/>
          </a:prstGeom>
        </p:spPr>
        <p:txBody>
          <a:bodyPr anchor="t" rtlCol="false" tIns="0" lIns="0" bIns="0" rIns="0">
            <a:spAutoFit/>
          </a:bodyPr>
          <a:lstStyle/>
          <a:p>
            <a:pPr algn="ctr" marL="0" indent="0" lvl="0">
              <a:lnSpc>
                <a:spcPts val="2867"/>
              </a:lnSpc>
              <a:spcBef>
                <a:spcPct val="0"/>
              </a:spcBef>
            </a:pPr>
            <a:r>
              <a:rPr lang="en-US" b="true" sz="2048">
                <a:solidFill>
                  <a:srgbClr val="000000"/>
                </a:solidFill>
                <a:latin typeface="Poppins Bold"/>
                <a:ea typeface="Poppins Bold"/>
                <a:cs typeface="Poppins Bold"/>
                <a:sym typeface="Poppins Bold"/>
              </a:rPr>
              <a:t>PDPA</a:t>
            </a:r>
          </a:p>
        </p:txBody>
      </p:sp>
      <p:sp>
        <p:nvSpPr>
          <p:cNvPr name="TextBox 23" id="23"/>
          <p:cNvSpPr txBox="true"/>
          <p:nvPr/>
        </p:nvSpPr>
        <p:spPr>
          <a:xfrm rot="0">
            <a:off x="11553015" y="6342881"/>
            <a:ext cx="2446366" cy="729028"/>
          </a:xfrm>
          <a:prstGeom prst="rect">
            <a:avLst/>
          </a:prstGeom>
        </p:spPr>
        <p:txBody>
          <a:bodyPr anchor="t" rtlCol="false" tIns="0" lIns="0" bIns="0" rIns="0">
            <a:spAutoFit/>
          </a:bodyPr>
          <a:lstStyle/>
          <a:p>
            <a:pPr algn="ctr" marL="0" indent="0" lvl="0">
              <a:lnSpc>
                <a:spcPts val="2867"/>
              </a:lnSpc>
              <a:spcBef>
                <a:spcPct val="0"/>
              </a:spcBef>
            </a:pPr>
            <a:r>
              <a:rPr lang="en-US" b="true" sz="2048">
                <a:solidFill>
                  <a:srgbClr val="000000"/>
                </a:solidFill>
                <a:latin typeface="Poppins Bold"/>
                <a:ea typeface="Poppins Bold"/>
                <a:cs typeface="Poppins Bold"/>
                <a:sym typeface="Poppins Bold"/>
              </a:rPr>
              <a:t>Hardware limitations</a:t>
            </a:r>
          </a:p>
        </p:txBody>
      </p:sp>
      <p:sp>
        <p:nvSpPr>
          <p:cNvPr name="TextBox 24" id="24"/>
          <p:cNvSpPr txBox="true"/>
          <p:nvPr/>
        </p:nvSpPr>
        <p:spPr>
          <a:xfrm rot="0">
            <a:off x="15185212" y="6342881"/>
            <a:ext cx="2446366" cy="729028"/>
          </a:xfrm>
          <a:prstGeom prst="rect">
            <a:avLst/>
          </a:prstGeom>
        </p:spPr>
        <p:txBody>
          <a:bodyPr anchor="t" rtlCol="false" tIns="0" lIns="0" bIns="0" rIns="0">
            <a:spAutoFit/>
          </a:bodyPr>
          <a:lstStyle/>
          <a:p>
            <a:pPr algn="ctr" marL="0" indent="0" lvl="0">
              <a:lnSpc>
                <a:spcPts val="2867"/>
              </a:lnSpc>
              <a:spcBef>
                <a:spcPct val="0"/>
              </a:spcBef>
            </a:pPr>
            <a:r>
              <a:rPr lang="en-US" b="true" sz="2048">
                <a:solidFill>
                  <a:srgbClr val="000000"/>
                </a:solidFill>
                <a:latin typeface="Poppins Bold"/>
                <a:ea typeface="Poppins Bold"/>
                <a:cs typeface="Poppins Bold"/>
                <a:sym typeface="Poppins Bold"/>
              </a:rPr>
              <a:t>Dependency on third party API</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06085" y="1458500"/>
            <a:ext cx="8661823" cy="7433741"/>
            <a:chOff x="0" y="0"/>
            <a:chExt cx="2281303" cy="1957858"/>
          </a:xfrm>
        </p:grpSpPr>
        <p:sp>
          <p:nvSpPr>
            <p:cNvPr name="Freeform 3" id="3"/>
            <p:cNvSpPr/>
            <p:nvPr/>
          </p:nvSpPr>
          <p:spPr>
            <a:xfrm flipH="false" flipV="false" rot="0">
              <a:off x="0" y="0"/>
              <a:ext cx="2281303" cy="1957858"/>
            </a:xfrm>
            <a:custGeom>
              <a:avLst/>
              <a:gdLst/>
              <a:ahLst/>
              <a:cxnLst/>
              <a:rect r="r" b="b" t="t" l="l"/>
              <a:pathLst>
                <a:path h="1957858" w="2281303">
                  <a:moveTo>
                    <a:pt x="0" y="0"/>
                  </a:moveTo>
                  <a:lnTo>
                    <a:pt x="2281303" y="0"/>
                  </a:lnTo>
                  <a:lnTo>
                    <a:pt x="2281303" y="1957858"/>
                  </a:lnTo>
                  <a:lnTo>
                    <a:pt x="0" y="1957858"/>
                  </a:lnTo>
                  <a:close/>
                </a:path>
              </a:pathLst>
            </a:custGeom>
            <a:solidFill>
              <a:srgbClr val="EAD6B8"/>
            </a:solidFill>
          </p:spPr>
        </p:sp>
        <p:sp>
          <p:nvSpPr>
            <p:cNvPr name="TextBox 4" id="4"/>
            <p:cNvSpPr txBox="true"/>
            <p:nvPr/>
          </p:nvSpPr>
          <p:spPr>
            <a:xfrm>
              <a:off x="0" y="-47625"/>
              <a:ext cx="2281303" cy="200548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16722081" y="1458500"/>
            <a:ext cx="1190712" cy="119071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7834255" y="2174200"/>
            <a:ext cx="7986190" cy="7517639"/>
          </a:xfrm>
          <a:custGeom>
            <a:avLst/>
            <a:gdLst/>
            <a:ahLst/>
            <a:cxnLst/>
            <a:rect r="r" b="b" t="t" l="l"/>
            <a:pathLst>
              <a:path h="7517639" w="7986190">
                <a:moveTo>
                  <a:pt x="0" y="0"/>
                </a:moveTo>
                <a:lnTo>
                  <a:pt x="7986191" y="0"/>
                </a:lnTo>
                <a:lnTo>
                  <a:pt x="7986191" y="7517639"/>
                </a:lnTo>
                <a:lnTo>
                  <a:pt x="0" y="7517639"/>
                </a:lnTo>
                <a:lnTo>
                  <a:pt x="0" y="0"/>
                </a:lnTo>
                <a:close/>
              </a:path>
            </a:pathLst>
          </a:custGeom>
          <a:blipFill>
            <a:blip r:embed="rId4"/>
            <a:stretch>
              <a:fillRect l="0" t="0" r="0" b="0"/>
            </a:stretch>
          </a:blipFill>
        </p:spPr>
      </p:sp>
      <p:sp>
        <p:nvSpPr>
          <p:cNvPr name="TextBox 11" id="11"/>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sp>
        <p:nvSpPr>
          <p:cNvPr name="TextBox 12" id="12"/>
          <p:cNvSpPr txBox="true"/>
          <p:nvPr/>
        </p:nvSpPr>
        <p:spPr>
          <a:xfrm rot="0">
            <a:off x="444437" y="2469801"/>
            <a:ext cx="5898866" cy="6302724"/>
          </a:xfrm>
          <a:prstGeom prst="rect">
            <a:avLst/>
          </a:prstGeom>
        </p:spPr>
        <p:txBody>
          <a:bodyPr anchor="t" rtlCol="false" tIns="0" lIns="0" bIns="0" rIns="0">
            <a:spAutoFit/>
          </a:bodyPr>
          <a:lstStyle/>
          <a:p>
            <a:pPr algn="l">
              <a:lnSpc>
                <a:spcPts val="3830"/>
              </a:lnSpc>
            </a:pPr>
            <a:r>
              <a:rPr lang="en-US" sz="2736">
                <a:solidFill>
                  <a:srgbClr val="000000"/>
                </a:solidFill>
                <a:latin typeface="Inter"/>
                <a:ea typeface="Inter"/>
                <a:cs typeface="Inter"/>
                <a:sym typeface="Inter"/>
              </a:rPr>
              <a:t>3.1 Functions</a:t>
            </a:r>
          </a:p>
          <a:p>
            <a:pPr algn="l">
              <a:lnSpc>
                <a:spcPts val="3830"/>
              </a:lnSpc>
            </a:pPr>
            <a:r>
              <a:rPr lang="en-US" sz="2736">
                <a:solidFill>
                  <a:srgbClr val="000000"/>
                </a:solidFill>
                <a:latin typeface="Inter"/>
                <a:ea typeface="Inter"/>
                <a:cs typeface="Inter"/>
                <a:sym typeface="Inter"/>
              </a:rPr>
              <a:t>3.2 Performance Requirements</a:t>
            </a:r>
          </a:p>
          <a:p>
            <a:pPr algn="l">
              <a:lnSpc>
                <a:spcPts val="3830"/>
              </a:lnSpc>
            </a:pPr>
            <a:r>
              <a:rPr lang="en-US" sz="2736">
                <a:solidFill>
                  <a:srgbClr val="000000"/>
                </a:solidFill>
                <a:latin typeface="Inter"/>
                <a:ea typeface="Inter"/>
                <a:cs typeface="Inter"/>
                <a:sym typeface="Inter"/>
              </a:rPr>
              <a:t>3.3 Usability Requirements</a:t>
            </a:r>
          </a:p>
          <a:p>
            <a:pPr algn="l">
              <a:lnSpc>
                <a:spcPts val="3830"/>
              </a:lnSpc>
            </a:pPr>
            <a:r>
              <a:rPr lang="en-US" sz="2736">
                <a:solidFill>
                  <a:srgbClr val="000000"/>
                </a:solidFill>
                <a:latin typeface="Inter"/>
                <a:ea typeface="Inter"/>
                <a:cs typeface="Inter"/>
                <a:sym typeface="Inter"/>
              </a:rPr>
              <a:t>3.4 Interface Requirements</a:t>
            </a:r>
          </a:p>
          <a:p>
            <a:pPr algn="l">
              <a:lnSpc>
                <a:spcPts val="3830"/>
              </a:lnSpc>
            </a:pPr>
            <a:r>
              <a:rPr lang="en-US" sz="2736">
                <a:solidFill>
                  <a:srgbClr val="000000"/>
                </a:solidFill>
                <a:latin typeface="Inter"/>
                <a:ea typeface="Inter"/>
                <a:cs typeface="Inter"/>
                <a:sym typeface="Inter"/>
              </a:rPr>
              <a:t>3.4.1 System Interfaces</a:t>
            </a:r>
          </a:p>
          <a:p>
            <a:pPr algn="l">
              <a:lnSpc>
                <a:spcPts val="3830"/>
              </a:lnSpc>
            </a:pPr>
            <a:r>
              <a:rPr lang="en-US" sz="2736">
                <a:solidFill>
                  <a:srgbClr val="000000"/>
                </a:solidFill>
                <a:latin typeface="Inter"/>
                <a:ea typeface="Inter"/>
                <a:cs typeface="Inter"/>
                <a:sym typeface="Inter"/>
              </a:rPr>
              <a:t>3.4.2 User Interfaces</a:t>
            </a:r>
          </a:p>
          <a:p>
            <a:pPr algn="l">
              <a:lnSpc>
                <a:spcPts val="3830"/>
              </a:lnSpc>
            </a:pPr>
            <a:r>
              <a:rPr lang="en-US" sz="2736">
                <a:solidFill>
                  <a:srgbClr val="000000"/>
                </a:solidFill>
                <a:latin typeface="Inter"/>
                <a:ea typeface="Inter"/>
                <a:cs typeface="Inter"/>
                <a:sym typeface="Inter"/>
              </a:rPr>
              <a:t>3.4.3 Hardware Interfaces</a:t>
            </a:r>
          </a:p>
          <a:p>
            <a:pPr algn="l">
              <a:lnSpc>
                <a:spcPts val="3830"/>
              </a:lnSpc>
            </a:pPr>
            <a:r>
              <a:rPr lang="en-US" sz="2736">
                <a:solidFill>
                  <a:srgbClr val="000000"/>
                </a:solidFill>
                <a:latin typeface="Inter"/>
                <a:ea typeface="Inter"/>
                <a:cs typeface="Inter"/>
                <a:sym typeface="Inter"/>
              </a:rPr>
              <a:t>3.4.4 Software Interfaces</a:t>
            </a:r>
          </a:p>
          <a:p>
            <a:pPr algn="l">
              <a:lnSpc>
                <a:spcPts val="3830"/>
              </a:lnSpc>
            </a:pPr>
            <a:r>
              <a:rPr lang="en-US" sz="2736">
                <a:solidFill>
                  <a:srgbClr val="000000"/>
                </a:solidFill>
                <a:latin typeface="Inter"/>
                <a:ea typeface="Inter"/>
                <a:cs typeface="Inter"/>
                <a:sym typeface="Inter"/>
              </a:rPr>
              <a:t>3.4.5 Communication Interfaces</a:t>
            </a:r>
          </a:p>
          <a:p>
            <a:pPr algn="l">
              <a:lnSpc>
                <a:spcPts val="3830"/>
              </a:lnSpc>
            </a:pPr>
            <a:r>
              <a:rPr lang="en-US" sz="2736">
                <a:solidFill>
                  <a:srgbClr val="000000"/>
                </a:solidFill>
                <a:latin typeface="Inter"/>
                <a:ea typeface="Inter"/>
                <a:cs typeface="Inter"/>
                <a:sym typeface="Inter"/>
              </a:rPr>
              <a:t>3.5 Logical Database Requirements</a:t>
            </a:r>
          </a:p>
          <a:p>
            <a:pPr algn="l">
              <a:lnSpc>
                <a:spcPts val="3830"/>
              </a:lnSpc>
            </a:pPr>
            <a:r>
              <a:rPr lang="en-US" sz="2736">
                <a:solidFill>
                  <a:srgbClr val="000000"/>
                </a:solidFill>
                <a:latin typeface="Inter"/>
                <a:ea typeface="Inter"/>
                <a:cs typeface="Inter"/>
                <a:sym typeface="Inter"/>
              </a:rPr>
              <a:t>3.6 Design Constraints</a:t>
            </a:r>
          </a:p>
          <a:p>
            <a:pPr algn="l">
              <a:lnSpc>
                <a:spcPts val="3830"/>
              </a:lnSpc>
            </a:pPr>
            <a:r>
              <a:rPr lang="en-US" sz="2736">
                <a:solidFill>
                  <a:srgbClr val="000000"/>
                </a:solidFill>
                <a:latin typeface="Inter"/>
                <a:ea typeface="Inter"/>
                <a:cs typeface="Inter"/>
                <a:sym typeface="Inter"/>
              </a:rPr>
              <a:t>3.7 Software System Attributes</a:t>
            </a:r>
          </a:p>
          <a:p>
            <a:pPr algn="l">
              <a:lnSpc>
                <a:spcPts val="3830"/>
              </a:lnSpc>
              <a:spcBef>
                <a:spcPct val="0"/>
              </a:spcBef>
            </a:pPr>
          </a:p>
        </p:txBody>
      </p:sp>
      <p:sp>
        <p:nvSpPr>
          <p:cNvPr name="TextBox 13" id="13"/>
          <p:cNvSpPr txBox="true"/>
          <p:nvPr/>
        </p:nvSpPr>
        <p:spPr>
          <a:xfrm rot="0">
            <a:off x="444437" y="1590564"/>
            <a:ext cx="6090073" cy="780130"/>
          </a:xfrm>
          <a:prstGeom prst="rect">
            <a:avLst/>
          </a:prstGeom>
        </p:spPr>
        <p:txBody>
          <a:bodyPr anchor="t" rtlCol="false" tIns="0" lIns="0" bIns="0" rIns="0">
            <a:spAutoFit/>
          </a:bodyPr>
          <a:lstStyle/>
          <a:p>
            <a:pPr algn="l" marL="0" indent="0" lvl="0">
              <a:lnSpc>
                <a:spcPts val="6350"/>
              </a:lnSpc>
              <a:spcBef>
                <a:spcPct val="0"/>
              </a:spcBef>
            </a:pPr>
            <a:r>
              <a:rPr lang="en-US" b="true" sz="4536">
                <a:solidFill>
                  <a:srgbClr val="000000"/>
                </a:solidFill>
                <a:latin typeface="Inter Bold"/>
                <a:ea typeface="Inter Bold"/>
                <a:cs typeface="Inter Bold"/>
                <a:sym typeface="Inter Bold"/>
              </a:rPr>
              <a:t>Overview</a:t>
            </a:r>
          </a:p>
        </p:txBody>
      </p:sp>
      <p:sp>
        <p:nvSpPr>
          <p:cNvPr name="TextBox 14" id="14"/>
          <p:cNvSpPr txBox="true"/>
          <p:nvPr/>
        </p:nvSpPr>
        <p:spPr>
          <a:xfrm rot="0">
            <a:off x="7155738" y="1356638"/>
            <a:ext cx="4858881" cy="768700"/>
          </a:xfrm>
          <a:prstGeom prst="rect">
            <a:avLst/>
          </a:prstGeom>
        </p:spPr>
        <p:txBody>
          <a:bodyPr anchor="t" rtlCol="false" tIns="0" lIns="0" bIns="0" rIns="0">
            <a:spAutoFit/>
          </a:bodyPr>
          <a:lstStyle/>
          <a:p>
            <a:pPr algn="ctr" marL="0" indent="0" lvl="0">
              <a:lnSpc>
                <a:spcPts val="5930"/>
              </a:lnSpc>
              <a:spcBef>
                <a:spcPct val="0"/>
              </a:spcBef>
            </a:pPr>
            <a:r>
              <a:rPr lang="en-US" b="true" sz="4236">
                <a:solidFill>
                  <a:srgbClr val="705C40"/>
                </a:solidFill>
                <a:latin typeface="Poppins Bold"/>
                <a:ea typeface="Poppins Bold"/>
                <a:cs typeface="Poppins Bold"/>
                <a:sym typeface="Poppins Bold"/>
              </a:rPr>
              <a:t>3.1 Functions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37699" y="4781175"/>
            <a:ext cx="12287621" cy="3030519"/>
          </a:xfrm>
          <a:prstGeom prst="rect">
            <a:avLst/>
          </a:prstGeom>
        </p:spPr>
        <p:txBody>
          <a:bodyPr anchor="t" rtlCol="false" tIns="0" lIns="0" bIns="0" rIns="0">
            <a:spAutoFit/>
          </a:bodyPr>
          <a:lstStyle/>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take </a:t>
            </a:r>
            <a:r>
              <a:rPr lang="en-US" b="true" sz="2188">
                <a:solidFill>
                  <a:srgbClr val="000000"/>
                </a:solidFill>
                <a:latin typeface="Inter Bold"/>
                <a:ea typeface="Inter Bold"/>
                <a:cs typeface="Inter Bold"/>
                <a:sym typeface="Inter Bold"/>
              </a:rPr>
              <a:t>initial load time</a:t>
            </a:r>
            <a:r>
              <a:rPr lang="en-US" sz="2188">
                <a:solidFill>
                  <a:srgbClr val="000000"/>
                </a:solidFill>
                <a:latin typeface="Inter"/>
                <a:ea typeface="Inter"/>
                <a:cs typeface="Inter"/>
                <a:sym typeface="Inter"/>
              </a:rPr>
              <a:t> depending on internet connection strength which also depends on the media from which the product is run, but is capped at a </a:t>
            </a:r>
            <a:r>
              <a:rPr lang="en-US" b="true" sz="2188">
                <a:solidFill>
                  <a:srgbClr val="000000"/>
                </a:solidFill>
                <a:latin typeface="Inter Bold"/>
                <a:ea typeface="Inter Bold"/>
                <a:cs typeface="Inter Bold"/>
                <a:sym typeface="Inter Bold"/>
              </a:rPr>
              <a:t>maximum of 2 seconds.</a:t>
            </a:r>
          </a:p>
          <a:p>
            <a:pPr algn="l" marL="472437" indent="-236219" lvl="1">
              <a:lnSpc>
                <a:spcPts val="3063"/>
              </a:lnSpc>
              <a:buFont typeface="Arial"/>
              <a:buChar char="•"/>
            </a:pPr>
            <a:r>
              <a:rPr lang="en-US" sz="2188">
                <a:solidFill>
                  <a:srgbClr val="000000"/>
                </a:solidFill>
                <a:latin typeface="Inter"/>
                <a:ea typeface="Inter"/>
                <a:cs typeface="Inter"/>
                <a:sym typeface="Inter"/>
              </a:rPr>
              <a:t>The users shall have their ride request accepted within a timeframe depending on the number of active drivers at the time, but capped at a </a:t>
            </a:r>
            <a:r>
              <a:rPr lang="en-US" b="true" sz="2188">
                <a:solidFill>
                  <a:srgbClr val="000000"/>
                </a:solidFill>
                <a:latin typeface="Inter Bold"/>
                <a:ea typeface="Inter Bold"/>
                <a:cs typeface="Inter Bold"/>
                <a:sym typeface="Inter Bold"/>
              </a:rPr>
              <a:t>maximum of 1 minute. </a:t>
            </a:r>
          </a:p>
          <a:p>
            <a:pPr algn="l" marL="472437" indent="-236219" lvl="1">
              <a:lnSpc>
                <a:spcPts val="3063"/>
              </a:lnSpc>
              <a:buFont typeface="Arial"/>
              <a:buChar char="•"/>
            </a:pPr>
            <a:r>
              <a:rPr lang="en-US" sz="2188">
                <a:solidFill>
                  <a:srgbClr val="000000"/>
                </a:solidFill>
                <a:latin typeface="Inter"/>
                <a:ea typeface="Inter"/>
                <a:cs typeface="Inter"/>
                <a:sym typeface="Inter"/>
              </a:rPr>
              <a:t>The maximum acceptable real-time parking availability update period shall be capped at </a:t>
            </a:r>
            <a:r>
              <a:rPr lang="en-US" b="true" sz="2188">
                <a:solidFill>
                  <a:srgbClr val="000000"/>
                </a:solidFill>
                <a:latin typeface="Inter Bold"/>
                <a:ea typeface="Inter Bold"/>
                <a:cs typeface="Inter Bold"/>
                <a:sym typeface="Inter Bold"/>
              </a:rPr>
              <a:t>10 seconds.</a:t>
            </a:r>
          </a:p>
          <a:p>
            <a:pPr algn="l">
              <a:lnSpc>
                <a:spcPts val="3063"/>
              </a:lnSpc>
              <a:spcBef>
                <a:spcPct val="0"/>
              </a:spcBef>
            </a:pPr>
          </a:p>
        </p:txBody>
      </p:sp>
      <p:sp>
        <p:nvSpPr>
          <p:cNvPr name="TextBox 16" id="16"/>
          <p:cNvSpPr txBox="true"/>
          <p:nvPr/>
        </p:nvSpPr>
        <p:spPr>
          <a:xfrm rot="0">
            <a:off x="1028700" y="2822969"/>
            <a:ext cx="3535734"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Performance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37699" y="4781175"/>
            <a:ext cx="11985036" cy="2649519"/>
          </a:xfrm>
          <a:prstGeom prst="rect">
            <a:avLst/>
          </a:prstGeom>
        </p:spPr>
        <p:txBody>
          <a:bodyPr anchor="t" rtlCol="false" tIns="0" lIns="0" bIns="0" rIns="0">
            <a:spAutoFit/>
          </a:bodyPr>
          <a:lstStyle/>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include helpful, clear, comprehensible and accessible </a:t>
            </a:r>
            <a:r>
              <a:rPr lang="en-US" b="true" sz="2188">
                <a:solidFill>
                  <a:srgbClr val="000000"/>
                </a:solidFill>
                <a:latin typeface="Inter Bold"/>
                <a:ea typeface="Inter Bold"/>
                <a:cs typeface="Inter Bold"/>
                <a:sym typeface="Inter Bold"/>
              </a:rPr>
              <a:t>help menus</a:t>
            </a:r>
            <a:r>
              <a:rPr lang="en-US" sz="2188">
                <a:solidFill>
                  <a:srgbClr val="000000"/>
                </a:solidFill>
                <a:latin typeface="Inter"/>
                <a:ea typeface="Inter"/>
                <a:cs typeface="Inter"/>
                <a:sym typeface="Inter"/>
              </a:rPr>
              <a:t> for the functions the product provides.</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include helpful, clean, clear and comprehensible </a:t>
            </a:r>
            <a:r>
              <a:rPr lang="en-US" b="true" sz="2188">
                <a:solidFill>
                  <a:srgbClr val="000000"/>
                </a:solidFill>
                <a:latin typeface="Inter Bold"/>
                <a:ea typeface="Inter Bold"/>
                <a:cs typeface="Inter Bold"/>
                <a:sym typeface="Inter Bold"/>
              </a:rPr>
              <a:t>error messages </a:t>
            </a:r>
            <a:r>
              <a:rPr lang="en-US" sz="2188">
                <a:solidFill>
                  <a:srgbClr val="000000"/>
                </a:solidFill>
                <a:latin typeface="Inter"/>
                <a:ea typeface="Inter"/>
                <a:cs typeface="Inter"/>
                <a:sym typeface="Inter"/>
              </a:rPr>
              <a:t>that are shown when errors occur.</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should be </a:t>
            </a:r>
            <a:r>
              <a:rPr lang="en-US" b="true" sz="2188">
                <a:solidFill>
                  <a:srgbClr val="000000"/>
                </a:solidFill>
                <a:latin typeface="Inter Bold"/>
                <a:ea typeface="Inter Bold"/>
                <a:cs typeface="Inter Bold"/>
                <a:sym typeface="Inter Bold"/>
              </a:rPr>
              <a:t>accessible on mobile platforms</a:t>
            </a:r>
            <a:r>
              <a:rPr lang="en-US" sz="2188">
                <a:solidFill>
                  <a:srgbClr val="000000"/>
                </a:solidFill>
                <a:latin typeface="Inter"/>
                <a:ea typeface="Inter"/>
                <a:cs typeface="Inter"/>
                <a:sym typeface="Inter"/>
              </a:rPr>
              <a:t> in the form of an application on both android and iOS.</a:t>
            </a:r>
          </a:p>
          <a:p>
            <a:pPr algn="l">
              <a:lnSpc>
                <a:spcPts val="3063"/>
              </a:lnSpc>
              <a:spcBef>
                <a:spcPct val="0"/>
              </a:spcBef>
            </a:pPr>
          </a:p>
        </p:txBody>
      </p:sp>
      <p:sp>
        <p:nvSpPr>
          <p:cNvPr name="TextBox 16" id="16"/>
          <p:cNvSpPr txBox="true"/>
          <p:nvPr/>
        </p:nvSpPr>
        <p:spPr>
          <a:xfrm rot="0">
            <a:off x="1028700" y="2822969"/>
            <a:ext cx="3535734"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Usability</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37699" y="4296847"/>
            <a:ext cx="12287621" cy="3885229"/>
          </a:xfrm>
          <a:prstGeom prst="rect">
            <a:avLst/>
          </a:prstGeom>
        </p:spPr>
        <p:txBody>
          <a:bodyPr anchor="t" rtlCol="false" tIns="0" lIns="0" bIns="0" rIns="0">
            <a:spAutoFit/>
          </a:bodyPr>
          <a:lstStyle/>
          <a:p>
            <a:pPr algn="l">
              <a:lnSpc>
                <a:spcPts val="3343"/>
              </a:lnSpc>
            </a:pPr>
            <a:r>
              <a:rPr lang="en-US" sz="2388" b="true">
                <a:solidFill>
                  <a:srgbClr val="000000"/>
                </a:solidFill>
                <a:latin typeface="Inter Bold"/>
                <a:ea typeface="Inter Bold"/>
                <a:cs typeface="Inter Bold"/>
                <a:sym typeface="Inter Bold"/>
              </a:rPr>
              <a:t>W</a:t>
            </a:r>
            <a:r>
              <a:rPr lang="en-US" b="true" sz="2388">
                <a:solidFill>
                  <a:srgbClr val="000000"/>
                </a:solidFill>
                <a:latin typeface="Inter Bold"/>
                <a:ea typeface="Inter Bold"/>
                <a:cs typeface="Inter Bold"/>
                <a:sym typeface="Inter Bold"/>
              </a:rPr>
              <a:t>eb browser compatibility</a:t>
            </a:r>
          </a:p>
          <a:p>
            <a:pPr algn="l" marL="472437" indent="-236219" lvl="1">
              <a:lnSpc>
                <a:spcPts val="3063"/>
              </a:lnSpc>
              <a:buFont typeface="Arial"/>
              <a:buChar char="•"/>
            </a:pPr>
            <a:r>
              <a:rPr lang="en-US" sz="2188">
                <a:solidFill>
                  <a:srgbClr val="000000"/>
                </a:solidFill>
                <a:latin typeface="Inter"/>
                <a:ea typeface="Inter"/>
                <a:cs typeface="Inter"/>
                <a:sym typeface="Inter"/>
              </a:rPr>
              <a:t>User interface will be rendered on compatible web browsers.</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be compatible with the latest stable version of major browsers like Google Chrome, Microsoft Edge, Mozilla Firefox and Brave Browser.</a:t>
            </a:r>
          </a:p>
          <a:p>
            <a:pPr algn="l">
              <a:lnSpc>
                <a:spcPts val="3063"/>
              </a:lnSpc>
            </a:pPr>
          </a:p>
          <a:p>
            <a:pPr algn="l">
              <a:lnSpc>
                <a:spcPts val="3343"/>
              </a:lnSpc>
            </a:pPr>
            <a:r>
              <a:rPr lang="en-US" b="true" sz="2388">
                <a:solidFill>
                  <a:srgbClr val="000000"/>
                </a:solidFill>
                <a:latin typeface="Inter Bold"/>
                <a:ea typeface="Inter Bold"/>
                <a:cs typeface="Inter Bold"/>
                <a:sym typeface="Inter Bold"/>
              </a:rPr>
              <a:t>Platform compatibility</a:t>
            </a:r>
          </a:p>
          <a:p>
            <a:pPr algn="l" marL="472437" indent="-236219" lvl="1">
              <a:lnSpc>
                <a:spcPts val="3063"/>
              </a:lnSpc>
              <a:buFont typeface="Arial"/>
              <a:buChar char="•"/>
            </a:pPr>
            <a:r>
              <a:rPr lang="en-US" sz="2188">
                <a:solidFill>
                  <a:srgbClr val="000000"/>
                </a:solidFill>
                <a:latin typeface="Inter"/>
                <a:ea typeface="Inter"/>
                <a:cs typeface="Inter"/>
                <a:sym typeface="Inter"/>
              </a:rPr>
              <a:t>Product shall run on all major mobile platforms and desktop operating systems.</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be compatible with mobile platforms like Android (10 +), iOS(13 +) and available on desktop operating systems like Windows (10/11) and macOS (Big Sur 11.0+).</a:t>
            </a:r>
          </a:p>
          <a:p>
            <a:pPr algn="l">
              <a:lnSpc>
                <a:spcPts val="3063"/>
              </a:lnSpc>
              <a:spcBef>
                <a:spcPct val="0"/>
              </a:spcBef>
            </a:pPr>
          </a:p>
        </p:txBody>
      </p:sp>
      <p:sp>
        <p:nvSpPr>
          <p:cNvPr name="TextBox 16" id="16"/>
          <p:cNvSpPr txBox="true"/>
          <p:nvPr/>
        </p:nvSpPr>
        <p:spPr>
          <a:xfrm rot="0">
            <a:off x="1028700" y="2822969"/>
            <a:ext cx="628810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System interface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37699" y="4296847"/>
            <a:ext cx="12287621" cy="5485429"/>
          </a:xfrm>
          <a:prstGeom prst="rect">
            <a:avLst/>
          </a:prstGeom>
        </p:spPr>
        <p:txBody>
          <a:bodyPr anchor="t" rtlCol="false" tIns="0" lIns="0" bIns="0" rIns="0">
            <a:spAutoFit/>
          </a:bodyPr>
          <a:lstStyle/>
          <a:p>
            <a:pPr algn="l">
              <a:lnSpc>
                <a:spcPts val="3343"/>
              </a:lnSpc>
            </a:pPr>
            <a:r>
              <a:rPr lang="en-US" sz="2388" b="true">
                <a:solidFill>
                  <a:srgbClr val="000000"/>
                </a:solidFill>
                <a:latin typeface="Inter Bold"/>
                <a:ea typeface="Inter Bold"/>
                <a:cs typeface="Inter Bold"/>
                <a:sym typeface="Inter Bold"/>
              </a:rPr>
              <a:t>U</a:t>
            </a:r>
            <a:r>
              <a:rPr lang="en-US" b="true" sz="2388">
                <a:solidFill>
                  <a:srgbClr val="000000"/>
                </a:solidFill>
                <a:latin typeface="Inter Bold"/>
                <a:ea typeface="Inter Bold"/>
                <a:cs typeface="Inter Bold"/>
                <a:sym typeface="Inter Bold"/>
              </a:rPr>
              <a:t>tilisa</a:t>
            </a:r>
            <a:r>
              <a:rPr lang="en-US" b="true" sz="2388">
                <a:solidFill>
                  <a:srgbClr val="000000"/>
                </a:solidFill>
                <a:latin typeface="Inter Bold"/>
                <a:ea typeface="Inter Bold"/>
                <a:cs typeface="Inter Bold"/>
                <a:sym typeface="Inter Bold"/>
              </a:rPr>
              <a:t>tion of icons and toolbars</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provide the use of icons and toolbars for ease of navigation.</a:t>
            </a:r>
          </a:p>
          <a:p>
            <a:pPr algn="l" marL="472437" indent="-236219" lvl="1">
              <a:lnSpc>
                <a:spcPts val="3063"/>
              </a:lnSpc>
              <a:buFont typeface="Arial"/>
              <a:buChar char="•"/>
            </a:pPr>
            <a:r>
              <a:rPr lang="en-US" sz="2188">
                <a:solidFill>
                  <a:srgbClr val="000000"/>
                </a:solidFill>
                <a:latin typeface="Inter"/>
                <a:ea typeface="Inter"/>
                <a:cs typeface="Inter"/>
                <a:sym typeface="Inter"/>
              </a:rPr>
              <a:t>Interactable elements shall have icons and tooltips to provide clarity on their functions.</a:t>
            </a:r>
          </a:p>
          <a:p>
            <a:pPr algn="l">
              <a:lnSpc>
                <a:spcPts val="3343"/>
              </a:lnSpc>
            </a:pPr>
          </a:p>
          <a:p>
            <a:pPr algn="l">
              <a:lnSpc>
                <a:spcPts val="3343"/>
              </a:lnSpc>
            </a:pPr>
            <a:r>
              <a:rPr lang="en-US" b="true" sz="2388">
                <a:solidFill>
                  <a:srgbClr val="000000"/>
                </a:solidFill>
                <a:latin typeface="Inter Bold"/>
                <a:ea typeface="Inter Bold"/>
                <a:cs typeface="Inter Bold"/>
                <a:sym typeface="Inter Bold"/>
              </a:rPr>
              <a:t>Theme switching</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allow users to switch between light and dark themes.</a:t>
            </a:r>
          </a:p>
          <a:p>
            <a:pPr algn="l" marL="472437" indent="-236219" lvl="1">
              <a:lnSpc>
                <a:spcPts val="3063"/>
              </a:lnSpc>
              <a:buFont typeface="Arial"/>
              <a:buChar char="•"/>
            </a:pPr>
            <a:r>
              <a:rPr lang="en-US" sz="2188">
                <a:solidFill>
                  <a:srgbClr val="000000"/>
                </a:solidFill>
                <a:latin typeface="Inter"/>
                <a:ea typeface="Inter"/>
                <a:cs typeface="Inter"/>
                <a:sym typeface="Inter"/>
              </a:rPr>
              <a:t>The default theme shall follow the device preference of the users.</a:t>
            </a:r>
          </a:p>
          <a:p>
            <a:pPr algn="l">
              <a:lnSpc>
                <a:spcPts val="3063"/>
              </a:lnSpc>
            </a:pPr>
          </a:p>
          <a:p>
            <a:pPr algn="l">
              <a:lnSpc>
                <a:spcPts val="3343"/>
              </a:lnSpc>
            </a:pPr>
            <a:r>
              <a:rPr lang="en-US" b="true" sz="2388">
                <a:solidFill>
                  <a:srgbClr val="000000"/>
                </a:solidFill>
                <a:latin typeface="Inter Bold"/>
                <a:ea typeface="Inter Bold"/>
                <a:cs typeface="Inter Bold"/>
                <a:sym typeface="Inter Bold"/>
              </a:rPr>
              <a:t>Layout structure</a:t>
            </a:r>
          </a:p>
          <a:p>
            <a:pPr algn="l" marL="472437" indent="-236219" lvl="1">
              <a:lnSpc>
                <a:spcPts val="3063"/>
              </a:lnSpc>
              <a:buFont typeface="Arial"/>
              <a:buChar char="•"/>
            </a:pPr>
            <a:r>
              <a:rPr lang="en-US" sz="2188">
                <a:solidFill>
                  <a:srgbClr val="000000"/>
                </a:solidFill>
                <a:latin typeface="Inter"/>
                <a:ea typeface="Inter"/>
                <a:cs typeface="Inter"/>
                <a:sym typeface="Inter"/>
              </a:rPr>
              <a:t>The product shall have a well-structured and consistent layout where the menus and buttons are organised and intuitively placed.</a:t>
            </a:r>
          </a:p>
          <a:p>
            <a:pPr algn="l" marL="472437" indent="-236219" lvl="1">
              <a:lnSpc>
                <a:spcPts val="3063"/>
              </a:lnSpc>
              <a:buFont typeface="Arial"/>
              <a:buChar char="•"/>
            </a:pPr>
            <a:r>
              <a:rPr lang="en-US" sz="2188">
                <a:solidFill>
                  <a:srgbClr val="000000"/>
                </a:solidFill>
                <a:latin typeface="Inter"/>
                <a:ea typeface="Inter"/>
                <a:cs typeface="Inter"/>
                <a:sym typeface="Inter"/>
              </a:rPr>
              <a:t>Buttons with related functionalities shall be placed together.</a:t>
            </a:r>
          </a:p>
          <a:p>
            <a:pPr algn="l" marL="472437" indent="-236219" lvl="1">
              <a:lnSpc>
                <a:spcPts val="3063"/>
              </a:lnSpc>
              <a:buFont typeface="Arial"/>
              <a:buChar char="•"/>
            </a:pPr>
            <a:r>
              <a:rPr lang="en-US" sz="2188">
                <a:solidFill>
                  <a:srgbClr val="000000"/>
                </a:solidFill>
                <a:latin typeface="Inter"/>
                <a:ea typeface="Inter"/>
                <a:cs typeface="Inter"/>
                <a:sym typeface="Inter"/>
              </a:rPr>
              <a:t>Users shall be able to use the product with minimal help.</a:t>
            </a:r>
          </a:p>
          <a:p>
            <a:pPr algn="l">
              <a:lnSpc>
                <a:spcPts val="3063"/>
              </a:lnSpc>
            </a:pPr>
          </a:p>
        </p:txBody>
      </p:sp>
      <p:sp>
        <p:nvSpPr>
          <p:cNvPr name="TextBox 16" id="16"/>
          <p:cNvSpPr txBox="true"/>
          <p:nvPr/>
        </p:nvSpPr>
        <p:spPr>
          <a:xfrm rot="0">
            <a:off x="1028700" y="2822969"/>
            <a:ext cx="628810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User Interface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737699" y="4296847"/>
            <a:ext cx="10275457" cy="3923329"/>
          </a:xfrm>
          <a:prstGeom prst="rect">
            <a:avLst/>
          </a:prstGeom>
        </p:spPr>
        <p:txBody>
          <a:bodyPr anchor="t" rtlCol="false" tIns="0" lIns="0" bIns="0" rIns="0">
            <a:spAutoFit/>
          </a:bodyPr>
          <a:lstStyle/>
          <a:p>
            <a:pPr algn="l">
              <a:lnSpc>
                <a:spcPts val="3343"/>
              </a:lnSpc>
            </a:pPr>
            <a:r>
              <a:rPr lang="en-US" sz="2388" b="true">
                <a:solidFill>
                  <a:srgbClr val="000000"/>
                </a:solidFill>
                <a:latin typeface="Inter Bold"/>
                <a:ea typeface="Inter Bold"/>
                <a:cs typeface="Inter Bold"/>
                <a:sym typeface="Inter Bold"/>
              </a:rPr>
              <a:t>Hardw</a:t>
            </a:r>
            <a:r>
              <a:rPr lang="en-US" b="true" sz="2388">
                <a:solidFill>
                  <a:srgbClr val="000000"/>
                </a:solidFill>
                <a:latin typeface="Inter Bold"/>
                <a:ea typeface="Inter Bold"/>
                <a:cs typeface="Inter Bold"/>
                <a:sym typeface="Inter Bold"/>
              </a:rPr>
              <a:t>are requ</a:t>
            </a:r>
            <a:r>
              <a:rPr lang="en-US" b="true" sz="2388">
                <a:solidFill>
                  <a:srgbClr val="000000"/>
                </a:solidFill>
                <a:latin typeface="Inter Bold"/>
                <a:ea typeface="Inter Bold"/>
                <a:cs typeface="Inter Bold"/>
                <a:sym typeface="Inter Bold"/>
              </a:rPr>
              <a:t>irements for hosting:</a:t>
            </a:r>
          </a:p>
          <a:p>
            <a:pPr algn="l" marL="472437" indent="-236219" lvl="1">
              <a:lnSpc>
                <a:spcPts val="3063"/>
              </a:lnSpc>
              <a:buFont typeface="Arial"/>
              <a:buChar char="•"/>
            </a:pPr>
            <a:r>
              <a:rPr lang="en-US" sz="2188">
                <a:solidFill>
                  <a:srgbClr val="000000"/>
                </a:solidFill>
                <a:latin typeface="Inter"/>
                <a:ea typeface="Inter"/>
                <a:cs typeface="Inter"/>
                <a:sym typeface="Inter"/>
              </a:rPr>
              <a:t>Have NodeJS runtime environment (v18 +) installed.</a:t>
            </a:r>
          </a:p>
          <a:p>
            <a:pPr algn="l" marL="472437" indent="-236219" lvl="1">
              <a:lnSpc>
                <a:spcPts val="3063"/>
              </a:lnSpc>
              <a:buFont typeface="Arial"/>
              <a:buChar char="•"/>
            </a:pPr>
            <a:r>
              <a:rPr lang="en-US" sz="2188">
                <a:solidFill>
                  <a:srgbClr val="000000"/>
                </a:solidFill>
                <a:latin typeface="Inter"/>
                <a:ea typeface="Inter"/>
                <a:cs typeface="Inter"/>
                <a:sym typeface="Inter"/>
              </a:rPr>
              <a:t>Minimally 1GB of free hardware space.</a:t>
            </a:r>
          </a:p>
          <a:p>
            <a:pPr algn="l" marL="472437" indent="-236219" lvl="1">
              <a:lnSpc>
                <a:spcPts val="3063"/>
              </a:lnSpc>
              <a:buFont typeface="Arial"/>
              <a:buChar char="•"/>
            </a:pPr>
            <a:r>
              <a:rPr lang="en-US" sz="2188">
                <a:solidFill>
                  <a:srgbClr val="000000"/>
                </a:solidFill>
                <a:latin typeface="Inter"/>
                <a:ea typeface="Inter"/>
                <a:cs typeface="Inter"/>
                <a:sym typeface="Inter"/>
              </a:rPr>
              <a:t>Minimally 2GB of RAM</a:t>
            </a:r>
          </a:p>
          <a:p>
            <a:pPr algn="l">
              <a:lnSpc>
                <a:spcPts val="3343"/>
              </a:lnSpc>
            </a:pPr>
            <a:r>
              <a:rPr lang="en-US" b="true" sz="2388">
                <a:solidFill>
                  <a:srgbClr val="000000"/>
                </a:solidFill>
                <a:latin typeface="Inter Bold"/>
                <a:ea typeface="Inter Bold"/>
                <a:cs typeface="Inter Bold"/>
                <a:sym typeface="Inter Bold"/>
              </a:rPr>
              <a:t> </a:t>
            </a:r>
          </a:p>
          <a:p>
            <a:pPr algn="l">
              <a:lnSpc>
                <a:spcPts val="3343"/>
              </a:lnSpc>
            </a:pPr>
            <a:r>
              <a:rPr lang="en-US" b="true" sz="2388">
                <a:solidFill>
                  <a:srgbClr val="000000"/>
                </a:solidFill>
                <a:latin typeface="Inter Bold"/>
                <a:ea typeface="Inter Bold"/>
                <a:cs typeface="Inter Bold"/>
                <a:sym typeface="Inter Bold"/>
              </a:rPr>
              <a:t>Hardware requirement for end-user devices:</a:t>
            </a:r>
          </a:p>
          <a:p>
            <a:pPr algn="l" marL="472437" indent="-236219" lvl="1">
              <a:lnSpc>
                <a:spcPts val="3063"/>
              </a:lnSpc>
              <a:buFont typeface="Arial"/>
              <a:buChar char="•"/>
            </a:pPr>
            <a:r>
              <a:rPr lang="en-US" sz="2188">
                <a:solidFill>
                  <a:srgbClr val="000000"/>
                </a:solidFill>
                <a:latin typeface="Inter"/>
                <a:ea typeface="Inter"/>
                <a:cs typeface="Inter"/>
                <a:sym typeface="Inter"/>
              </a:rPr>
              <a:t>with Pentium 4 processor or higher</a:t>
            </a:r>
          </a:p>
          <a:p>
            <a:pPr algn="l" marL="472437" indent="-236219" lvl="1">
              <a:lnSpc>
                <a:spcPts val="3063"/>
              </a:lnSpc>
              <a:buFont typeface="Arial"/>
              <a:buChar char="•"/>
            </a:pPr>
            <a:r>
              <a:rPr lang="en-US" sz="2188">
                <a:solidFill>
                  <a:srgbClr val="000000"/>
                </a:solidFill>
                <a:latin typeface="Inter"/>
                <a:ea typeface="Inter"/>
                <a:cs typeface="Inter"/>
                <a:sym typeface="Inter"/>
              </a:rPr>
              <a:t>with minimally 256MB of RAM.</a:t>
            </a:r>
          </a:p>
          <a:p>
            <a:pPr algn="l" marL="472437" indent="-236219" lvl="1">
              <a:lnSpc>
                <a:spcPts val="3063"/>
              </a:lnSpc>
              <a:buFont typeface="Arial"/>
              <a:buChar char="•"/>
            </a:pPr>
            <a:r>
              <a:rPr lang="en-US" sz="2188">
                <a:solidFill>
                  <a:srgbClr val="000000"/>
                </a:solidFill>
                <a:latin typeface="Inter"/>
                <a:ea typeface="Inter"/>
                <a:cs typeface="Inter"/>
                <a:sym typeface="Inter"/>
              </a:rPr>
              <a:t>with minimally 128MB of free space </a:t>
            </a:r>
          </a:p>
          <a:p>
            <a:pPr algn="l" marL="472437" indent="-236219" lvl="1">
              <a:lnSpc>
                <a:spcPts val="3063"/>
              </a:lnSpc>
              <a:buFont typeface="Arial"/>
              <a:buChar char="•"/>
            </a:pPr>
            <a:r>
              <a:rPr lang="en-US" sz="2188">
                <a:solidFill>
                  <a:srgbClr val="000000"/>
                </a:solidFill>
                <a:latin typeface="Inter"/>
                <a:ea typeface="Inter"/>
                <a:cs typeface="Inter"/>
                <a:sym typeface="Inter"/>
              </a:rPr>
              <a:t>that has an active internet connection.</a:t>
            </a:r>
          </a:p>
        </p:txBody>
      </p:sp>
      <p:sp>
        <p:nvSpPr>
          <p:cNvPr name="TextBox 16" id="16"/>
          <p:cNvSpPr txBox="true"/>
          <p:nvPr/>
        </p:nvSpPr>
        <p:spPr>
          <a:xfrm rot="0">
            <a:off x="1028700" y="2822969"/>
            <a:ext cx="628810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Hardware Interface</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818092" y="3632473"/>
            <a:ext cx="14946072" cy="6273439"/>
          </a:xfrm>
          <a:prstGeom prst="rect">
            <a:avLst/>
          </a:prstGeom>
        </p:spPr>
        <p:txBody>
          <a:bodyPr anchor="t" rtlCol="false" tIns="0" lIns="0" bIns="0" rIns="0">
            <a:spAutoFit/>
          </a:bodyPr>
          <a:lstStyle/>
          <a:p>
            <a:pPr algn="l">
              <a:lnSpc>
                <a:spcPts val="2961"/>
              </a:lnSpc>
            </a:pPr>
            <a:r>
              <a:rPr lang="en-US" sz="2115" b="true">
                <a:solidFill>
                  <a:srgbClr val="000000"/>
                </a:solidFill>
                <a:latin typeface="Inter Bold"/>
                <a:ea typeface="Inter Bold"/>
                <a:cs typeface="Inter Bold"/>
                <a:sym typeface="Inter Bold"/>
              </a:rPr>
              <a:t>MMU D</a:t>
            </a:r>
            <a:r>
              <a:rPr lang="en-US" b="true" sz="2115">
                <a:solidFill>
                  <a:srgbClr val="000000"/>
                </a:solidFill>
                <a:latin typeface="Inter Bold"/>
                <a:ea typeface="Inter Bold"/>
                <a:cs typeface="Inter Bold"/>
                <a:sym typeface="Inter Bold"/>
              </a:rPr>
              <a:t>igi</a:t>
            </a:r>
            <a:r>
              <a:rPr lang="en-US" b="true" sz="2115">
                <a:solidFill>
                  <a:srgbClr val="000000"/>
                </a:solidFill>
                <a:latin typeface="Inter Bold"/>
                <a:ea typeface="Inter Bold"/>
                <a:cs typeface="Inter Bold"/>
                <a:sym typeface="Inter Bold"/>
              </a:rPr>
              <a:t>tal ID Database</a:t>
            </a:r>
          </a:p>
          <a:p>
            <a:pPr algn="l" marL="418484" indent="-209242" lvl="1">
              <a:lnSpc>
                <a:spcPts val="2713"/>
              </a:lnSpc>
              <a:buFont typeface="Arial"/>
              <a:buChar char="•"/>
            </a:pPr>
            <a:r>
              <a:rPr lang="en-US" sz="1938">
                <a:solidFill>
                  <a:srgbClr val="000000"/>
                </a:solidFill>
                <a:latin typeface="Inter"/>
                <a:ea typeface="Inter"/>
                <a:cs typeface="Inter"/>
                <a:sym typeface="Inter"/>
              </a:rPr>
              <a:t>The product shall communicate with the MMU Digital ID Database for authentication.</a:t>
            </a:r>
          </a:p>
          <a:p>
            <a:pPr algn="l">
              <a:lnSpc>
                <a:spcPts val="2713"/>
              </a:lnSpc>
            </a:pPr>
          </a:p>
          <a:p>
            <a:pPr algn="l">
              <a:lnSpc>
                <a:spcPts val="2961"/>
              </a:lnSpc>
            </a:pPr>
            <a:r>
              <a:rPr lang="en-US" b="true" sz="2115">
                <a:solidFill>
                  <a:srgbClr val="000000"/>
                </a:solidFill>
                <a:latin typeface="Inter Bold"/>
                <a:ea typeface="Inter Bold"/>
                <a:cs typeface="Inter Bold"/>
                <a:sym typeface="Inter Bold"/>
              </a:rPr>
              <a:t>Parking Sensor Management System</a:t>
            </a:r>
          </a:p>
          <a:p>
            <a:pPr algn="l" marL="418484" indent="-209242" lvl="1">
              <a:lnSpc>
                <a:spcPts val="2713"/>
              </a:lnSpc>
              <a:buFont typeface="Arial"/>
              <a:buChar char="•"/>
            </a:pPr>
            <a:r>
              <a:rPr lang="en-US" sz="1938">
                <a:solidFill>
                  <a:srgbClr val="000000"/>
                </a:solidFill>
                <a:latin typeface="Inter"/>
                <a:ea typeface="Inter"/>
                <a:cs typeface="Inter"/>
                <a:sym typeface="Inter"/>
              </a:rPr>
              <a:t>The product shall communicate with the parking sensor management system for parking availability.</a:t>
            </a:r>
          </a:p>
          <a:p>
            <a:pPr algn="l">
              <a:lnSpc>
                <a:spcPts val="2713"/>
              </a:lnSpc>
            </a:pPr>
          </a:p>
          <a:p>
            <a:pPr algn="l">
              <a:lnSpc>
                <a:spcPts val="2961"/>
              </a:lnSpc>
            </a:pPr>
            <a:r>
              <a:rPr lang="en-US" b="true" sz="2115">
                <a:solidFill>
                  <a:srgbClr val="000000"/>
                </a:solidFill>
                <a:latin typeface="Inter Bold"/>
                <a:ea typeface="Inter Bold"/>
                <a:cs typeface="Inter Bold"/>
                <a:sym typeface="Inter Bold"/>
              </a:rPr>
              <a:t>User Management System</a:t>
            </a:r>
          </a:p>
          <a:p>
            <a:pPr algn="l" marL="418484" indent="-209242" lvl="1">
              <a:lnSpc>
                <a:spcPts val="2713"/>
              </a:lnSpc>
              <a:buFont typeface="Arial"/>
              <a:buChar char="•"/>
            </a:pPr>
            <a:r>
              <a:rPr lang="en-US" sz="1938">
                <a:solidFill>
                  <a:srgbClr val="000000"/>
                </a:solidFill>
                <a:latin typeface="Inter"/>
                <a:ea typeface="Inter"/>
                <a:cs typeface="Inter"/>
                <a:sym typeface="Inter"/>
              </a:rPr>
              <a:t>The product shall communicate with the user management system to get, update or delete the details of users and their vehicles.</a:t>
            </a:r>
          </a:p>
          <a:p>
            <a:pPr algn="l">
              <a:lnSpc>
                <a:spcPts val="2713"/>
              </a:lnSpc>
            </a:pPr>
          </a:p>
          <a:p>
            <a:pPr algn="l">
              <a:lnSpc>
                <a:spcPts val="2961"/>
              </a:lnSpc>
            </a:pPr>
            <a:r>
              <a:rPr lang="en-US" b="true" sz="2115">
                <a:solidFill>
                  <a:srgbClr val="000000"/>
                </a:solidFill>
                <a:latin typeface="Inter Bold"/>
                <a:ea typeface="Inter Bold"/>
                <a:cs typeface="Inter Bold"/>
                <a:sym typeface="Inter Bold"/>
              </a:rPr>
              <a:t>E-hailing System</a:t>
            </a:r>
          </a:p>
          <a:p>
            <a:pPr algn="l" marL="418484" indent="-209242" lvl="1">
              <a:lnSpc>
                <a:spcPts val="2713"/>
              </a:lnSpc>
              <a:buFont typeface="Arial"/>
              <a:buChar char="•"/>
            </a:pPr>
            <a:r>
              <a:rPr lang="en-US" sz="1938">
                <a:solidFill>
                  <a:srgbClr val="000000"/>
                </a:solidFill>
                <a:latin typeface="Inter"/>
                <a:ea typeface="Inter"/>
                <a:cs typeface="Inter"/>
                <a:sym typeface="Inter"/>
              </a:rPr>
              <a:t>The product shall communicate with the e-hailing system to submit and get ride requests.</a:t>
            </a:r>
          </a:p>
          <a:p>
            <a:pPr algn="l">
              <a:lnSpc>
                <a:spcPts val="2713"/>
              </a:lnSpc>
            </a:pPr>
          </a:p>
          <a:p>
            <a:pPr algn="l">
              <a:lnSpc>
                <a:spcPts val="2961"/>
              </a:lnSpc>
            </a:pPr>
            <a:r>
              <a:rPr lang="en-US" b="true" sz="2115">
                <a:solidFill>
                  <a:srgbClr val="000000"/>
                </a:solidFill>
                <a:latin typeface="Inter Bold"/>
                <a:ea typeface="Inter Bold"/>
                <a:cs typeface="Inter Bold"/>
                <a:sym typeface="Inter Bold"/>
              </a:rPr>
              <a:t>GPS System</a:t>
            </a:r>
          </a:p>
          <a:p>
            <a:pPr algn="l" marL="418484" indent="-209242" lvl="1">
              <a:lnSpc>
                <a:spcPts val="2713"/>
              </a:lnSpc>
              <a:buFont typeface="Arial"/>
              <a:buChar char="•"/>
            </a:pPr>
            <a:r>
              <a:rPr lang="en-US" sz="1938">
                <a:solidFill>
                  <a:srgbClr val="000000"/>
                </a:solidFill>
                <a:latin typeface="Inter"/>
                <a:ea typeface="Inter"/>
                <a:cs typeface="Inter"/>
                <a:sym typeface="Inter"/>
              </a:rPr>
              <a:t>The product shall communicate with the GPS system to get real-time driver’s location.</a:t>
            </a:r>
          </a:p>
          <a:p>
            <a:pPr algn="l">
              <a:lnSpc>
                <a:spcPts val="2713"/>
              </a:lnSpc>
            </a:pPr>
          </a:p>
          <a:p>
            <a:pPr algn="l">
              <a:lnSpc>
                <a:spcPts val="2961"/>
              </a:lnSpc>
            </a:pPr>
            <a:r>
              <a:rPr lang="en-US" b="true" sz="2115">
                <a:solidFill>
                  <a:srgbClr val="000000"/>
                </a:solidFill>
                <a:latin typeface="Inter Bold"/>
                <a:ea typeface="Inter Bold"/>
                <a:cs typeface="Inter Bold"/>
                <a:sym typeface="Inter Bold"/>
              </a:rPr>
              <a:t>Notification System</a:t>
            </a:r>
          </a:p>
          <a:p>
            <a:pPr algn="l" marL="418484" indent="-209242" lvl="1">
              <a:lnSpc>
                <a:spcPts val="2713"/>
              </a:lnSpc>
              <a:buFont typeface="Arial"/>
              <a:buChar char="•"/>
            </a:pPr>
            <a:r>
              <a:rPr lang="en-US" sz="1938">
                <a:solidFill>
                  <a:srgbClr val="000000"/>
                </a:solidFill>
                <a:latin typeface="Inter"/>
                <a:ea typeface="Inter"/>
                <a:cs typeface="Inter"/>
                <a:sym typeface="Inter"/>
              </a:rPr>
              <a:t>The product shall communicate with the notification system to submit and get notifications.</a:t>
            </a:r>
          </a:p>
        </p:txBody>
      </p:sp>
      <p:sp>
        <p:nvSpPr>
          <p:cNvPr name="TextBox 16" id="16"/>
          <p:cNvSpPr txBox="true"/>
          <p:nvPr/>
        </p:nvSpPr>
        <p:spPr>
          <a:xfrm rot="0">
            <a:off x="1028700" y="2822969"/>
            <a:ext cx="628810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Software Interface</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542547" y="9905912"/>
            <a:ext cx="8595272" cy="0"/>
          </a:xfrm>
          <a:prstGeom prst="line">
            <a:avLst/>
          </a:prstGeom>
          <a:ln cap="flat" w="38100">
            <a:solidFill>
              <a:srgbClr val="BCA37F"/>
            </a:solidFill>
            <a:prstDash val="solid"/>
            <a:headEnd type="none" len="sm" w="sm"/>
            <a:tailEnd type="none" len="sm" w="sm"/>
          </a:ln>
        </p:spPr>
      </p:sp>
      <p:grpSp>
        <p:nvGrpSpPr>
          <p:cNvPr name="Group 3" id="3"/>
          <p:cNvGrpSpPr/>
          <p:nvPr/>
        </p:nvGrpSpPr>
        <p:grpSpPr>
          <a:xfrm rot="0">
            <a:off x="16722081" y="1458500"/>
            <a:ext cx="1190712" cy="119071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6" id="6"/>
          <p:cNvSpPr/>
          <p:nvPr/>
        </p:nvSpPr>
        <p:spPr>
          <a:xfrm flipH="false" flipV="true" rot="0">
            <a:off x="15207460" y="-1721172"/>
            <a:ext cx="2618042" cy="4114800"/>
          </a:xfrm>
          <a:custGeom>
            <a:avLst/>
            <a:gdLst/>
            <a:ahLst/>
            <a:cxnLst/>
            <a:rect r="r" b="b" t="t" l="l"/>
            <a:pathLst>
              <a:path h="4114800" w="2618042">
                <a:moveTo>
                  <a:pt x="0" y="4114800"/>
                </a:moveTo>
                <a:lnTo>
                  <a:pt x="2618042" y="4114800"/>
                </a:lnTo>
                <a:lnTo>
                  <a:pt x="261804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444437" y="155253"/>
            <a:ext cx="15693381" cy="1119527"/>
          </a:xfrm>
          <a:prstGeom prst="rect">
            <a:avLst/>
          </a:prstGeom>
        </p:spPr>
        <p:txBody>
          <a:bodyPr anchor="t" rtlCol="false" tIns="0" lIns="0" bIns="0" rIns="0">
            <a:spAutoFit/>
          </a:bodyPr>
          <a:lstStyle/>
          <a:p>
            <a:pPr algn="l" marL="0" indent="0" lvl="0">
              <a:lnSpc>
                <a:spcPts val="8643"/>
              </a:lnSpc>
              <a:spcBef>
                <a:spcPct val="0"/>
              </a:spcBef>
            </a:pPr>
            <a:r>
              <a:rPr lang="en-US" b="true" sz="6174">
                <a:solidFill>
                  <a:srgbClr val="000000"/>
                </a:solidFill>
                <a:latin typeface="Poppins Bold"/>
                <a:ea typeface="Poppins Bold"/>
                <a:cs typeface="Poppins Bold"/>
                <a:sym typeface="Poppins Bold"/>
              </a:rPr>
              <a:t>Task 5: SRS Part 3 Requirements</a:t>
            </a:r>
          </a:p>
        </p:txBody>
      </p:sp>
      <p:grpSp>
        <p:nvGrpSpPr>
          <p:cNvPr name="Group 8" id="8"/>
          <p:cNvGrpSpPr/>
          <p:nvPr/>
        </p:nvGrpSpPr>
        <p:grpSpPr>
          <a:xfrm rot="0">
            <a:off x="-2780862" y="2605082"/>
            <a:ext cx="4233980" cy="1341111"/>
            <a:chOff x="0" y="0"/>
            <a:chExt cx="1115122" cy="353215"/>
          </a:xfrm>
        </p:grpSpPr>
        <p:sp>
          <p:nvSpPr>
            <p:cNvPr name="Freeform 9" id="9"/>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10" id="10"/>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grpSp>
        <p:nvGrpSpPr>
          <p:cNvPr name="Group 11" id="11"/>
          <p:cNvGrpSpPr/>
          <p:nvPr/>
        </p:nvGrpSpPr>
        <p:grpSpPr>
          <a:xfrm rot="0">
            <a:off x="13025320" y="3275637"/>
            <a:ext cx="4233980" cy="8932726"/>
            <a:chOff x="0" y="0"/>
            <a:chExt cx="1115122" cy="2352652"/>
          </a:xfrm>
        </p:grpSpPr>
        <p:sp>
          <p:nvSpPr>
            <p:cNvPr name="Freeform 12" id="12"/>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13" id="13"/>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sp>
        <p:nvSpPr>
          <p:cNvPr name="Freeform 14" id="14"/>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818092" y="4093427"/>
            <a:ext cx="14946072" cy="3384502"/>
          </a:xfrm>
          <a:prstGeom prst="rect">
            <a:avLst/>
          </a:prstGeom>
        </p:spPr>
        <p:txBody>
          <a:bodyPr anchor="t" rtlCol="false" tIns="0" lIns="0" bIns="0" rIns="0">
            <a:spAutoFit/>
          </a:bodyPr>
          <a:lstStyle/>
          <a:p>
            <a:pPr algn="l">
              <a:lnSpc>
                <a:spcPts val="3241"/>
              </a:lnSpc>
            </a:pPr>
            <a:r>
              <a:rPr lang="en-US" sz="2315" b="true">
                <a:solidFill>
                  <a:srgbClr val="000000"/>
                </a:solidFill>
                <a:latin typeface="Inter Bold"/>
                <a:ea typeface="Inter Bold"/>
                <a:cs typeface="Inter Bold"/>
                <a:sym typeface="Inter Bold"/>
              </a:rPr>
              <a:t>HT</a:t>
            </a:r>
            <a:r>
              <a:rPr lang="en-US" b="true" sz="2315">
                <a:solidFill>
                  <a:srgbClr val="000000"/>
                </a:solidFill>
                <a:latin typeface="Inter Bold"/>
                <a:ea typeface="Inter Bold"/>
                <a:cs typeface="Inter Bold"/>
                <a:sym typeface="Inter Bold"/>
              </a:rPr>
              <a:t>TPS protocol </a:t>
            </a:r>
          </a:p>
          <a:p>
            <a:pPr algn="l" marL="456732" indent="-228366" lvl="1">
              <a:lnSpc>
                <a:spcPts val="2961"/>
              </a:lnSpc>
              <a:buFont typeface="Arial"/>
              <a:buChar char="•"/>
            </a:pPr>
            <a:r>
              <a:rPr lang="en-US" sz="2115">
                <a:solidFill>
                  <a:srgbClr val="000000"/>
                </a:solidFill>
                <a:latin typeface="Inter"/>
                <a:ea typeface="Inter"/>
                <a:cs typeface="Inter"/>
                <a:sym typeface="Inter"/>
              </a:rPr>
              <a:t>To encrypt all communication over the internet</a:t>
            </a:r>
          </a:p>
          <a:p>
            <a:pPr algn="l" marL="456732" indent="-228366" lvl="1">
              <a:lnSpc>
                <a:spcPts val="2961"/>
              </a:lnSpc>
              <a:buFont typeface="Arial"/>
              <a:buChar char="•"/>
            </a:pPr>
            <a:r>
              <a:rPr lang="en-US" sz="2115">
                <a:solidFill>
                  <a:srgbClr val="000000"/>
                </a:solidFill>
                <a:latin typeface="Inter"/>
                <a:ea typeface="Inter"/>
                <a:cs typeface="Inter"/>
                <a:sym typeface="Inter"/>
              </a:rPr>
              <a:t>TLS 1.2+ required.</a:t>
            </a:r>
          </a:p>
          <a:p>
            <a:pPr algn="l" marL="456732" indent="-228366" lvl="1">
              <a:lnSpc>
                <a:spcPts val="2961"/>
              </a:lnSpc>
              <a:buFont typeface="Arial"/>
              <a:buChar char="•"/>
            </a:pPr>
            <a:r>
              <a:rPr lang="en-US" sz="2115">
                <a:solidFill>
                  <a:srgbClr val="000000"/>
                </a:solidFill>
                <a:latin typeface="Inter"/>
                <a:ea typeface="Inter"/>
                <a:cs typeface="Inter"/>
                <a:sym typeface="Inter"/>
              </a:rPr>
              <a:t>All API calls must use HTTPS.</a:t>
            </a:r>
          </a:p>
          <a:p>
            <a:pPr algn="l">
              <a:lnSpc>
                <a:spcPts val="2961"/>
              </a:lnSpc>
            </a:pPr>
          </a:p>
          <a:p>
            <a:pPr algn="l">
              <a:lnSpc>
                <a:spcPts val="3241"/>
              </a:lnSpc>
            </a:pPr>
            <a:r>
              <a:rPr lang="en-US" b="true" sz="2315">
                <a:solidFill>
                  <a:srgbClr val="000000"/>
                </a:solidFill>
                <a:latin typeface="Inter Bold"/>
                <a:ea typeface="Inter Bold"/>
                <a:cs typeface="Inter Bold"/>
                <a:sym typeface="Inter Bold"/>
              </a:rPr>
              <a:t>N</a:t>
            </a:r>
            <a:r>
              <a:rPr lang="en-US" b="true" sz="2315">
                <a:solidFill>
                  <a:srgbClr val="000000"/>
                </a:solidFill>
                <a:latin typeface="Inter Bold"/>
                <a:ea typeface="Inter Bold"/>
                <a:cs typeface="Inter Bold"/>
                <a:sym typeface="Inter Bold"/>
              </a:rPr>
              <a:t>etwork Requirement</a:t>
            </a:r>
          </a:p>
          <a:p>
            <a:pPr algn="l" marL="456732" indent="-228366" lvl="1">
              <a:lnSpc>
                <a:spcPts val="2961"/>
              </a:lnSpc>
              <a:buFont typeface="Arial"/>
              <a:buChar char="•"/>
            </a:pPr>
            <a:r>
              <a:rPr lang="en-US" sz="2115">
                <a:solidFill>
                  <a:srgbClr val="000000"/>
                </a:solidFill>
                <a:latin typeface="Inter"/>
                <a:ea typeface="Inter"/>
                <a:cs typeface="Inter"/>
                <a:sym typeface="Inter"/>
              </a:rPr>
              <a:t>Ensure smooth data transfer and good user experience.</a:t>
            </a:r>
          </a:p>
          <a:p>
            <a:pPr algn="l" marL="456732" indent="-228366" lvl="1">
              <a:lnSpc>
                <a:spcPts val="2961"/>
              </a:lnSpc>
              <a:buFont typeface="Arial"/>
              <a:buChar char="•"/>
            </a:pPr>
            <a:r>
              <a:rPr lang="en-US" sz="2115">
                <a:solidFill>
                  <a:srgbClr val="000000"/>
                </a:solidFill>
                <a:latin typeface="Inter"/>
                <a:ea typeface="Inter"/>
                <a:cs typeface="Inter"/>
                <a:sym typeface="Inter"/>
              </a:rPr>
              <a:t>A minimu</a:t>
            </a:r>
            <a:r>
              <a:rPr lang="en-US" sz="2115">
                <a:solidFill>
                  <a:srgbClr val="000000"/>
                </a:solidFill>
                <a:latin typeface="Inter"/>
                <a:ea typeface="Inter"/>
                <a:cs typeface="Inter"/>
                <a:sym typeface="Inter"/>
              </a:rPr>
              <a:t>m</a:t>
            </a:r>
            <a:r>
              <a:rPr lang="en-US" sz="2115">
                <a:solidFill>
                  <a:srgbClr val="000000"/>
                </a:solidFill>
                <a:latin typeface="Inter"/>
                <a:ea typeface="Inter"/>
                <a:cs typeface="Inter"/>
                <a:sym typeface="Inter"/>
              </a:rPr>
              <a:t> of 2MBps of internet sp</a:t>
            </a:r>
            <a:r>
              <a:rPr lang="en-US" sz="2115">
                <a:solidFill>
                  <a:srgbClr val="000000"/>
                </a:solidFill>
                <a:latin typeface="Inter"/>
                <a:ea typeface="Inter"/>
                <a:cs typeface="Inter"/>
                <a:sym typeface="Inter"/>
              </a:rPr>
              <a:t>e</a:t>
            </a:r>
            <a:r>
              <a:rPr lang="en-US" sz="2115">
                <a:solidFill>
                  <a:srgbClr val="000000"/>
                </a:solidFill>
                <a:latin typeface="Inter"/>
                <a:ea typeface="Inter"/>
                <a:cs typeface="Inter"/>
                <a:sym typeface="Inter"/>
              </a:rPr>
              <a:t>ed shall be required.</a:t>
            </a:r>
          </a:p>
          <a:p>
            <a:pPr algn="l">
              <a:lnSpc>
                <a:spcPts val="2713"/>
              </a:lnSpc>
            </a:pPr>
          </a:p>
        </p:txBody>
      </p:sp>
      <p:sp>
        <p:nvSpPr>
          <p:cNvPr name="TextBox 16" id="16"/>
          <p:cNvSpPr txBox="true"/>
          <p:nvPr/>
        </p:nvSpPr>
        <p:spPr>
          <a:xfrm rot="0">
            <a:off x="1028700" y="2822969"/>
            <a:ext cx="72624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Communication Interface</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1341111"/>
            <a:chOff x="0" y="0"/>
            <a:chExt cx="1115122" cy="353215"/>
          </a:xfrm>
        </p:grpSpPr>
        <p:sp>
          <p:nvSpPr>
            <p:cNvPr name="Freeform 6" id="6"/>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7" id="7"/>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40970" y="2497059"/>
            <a:ext cx="7497423" cy="7497423"/>
          </a:xfrm>
          <a:custGeom>
            <a:avLst/>
            <a:gdLst/>
            <a:ahLst/>
            <a:cxnLst/>
            <a:rect r="r" b="b" t="t" l="l"/>
            <a:pathLst>
              <a:path h="7497423" w="7497423">
                <a:moveTo>
                  <a:pt x="0" y="0"/>
                </a:moveTo>
                <a:lnTo>
                  <a:pt x="7497424" y="0"/>
                </a:lnTo>
                <a:lnTo>
                  <a:pt x="7497424" y="7497423"/>
                </a:lnTo>
                <a:lnTo>
                  <a:pt x="0" y="7497423"/>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1017965" y="2851740"/>
            <a:ext cx="1257224"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ERD</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2007468"/>
            <a:chOff x="0" y="0"/>
            <a:chExt cx="1115122" cy="528716"/>
          </a:xfrm>
        </p:grpSpPr>
        <p:sp>
          <p:nvSpPr>
            <p:cNvPr name="Freeform 6" id="6"/>
            <p:cNvSpPr/>
            <p:nvPr/>
          </p:nvSpPr>
          <p:spPr>
            <a:xfrm flipH="false" flipV="false" rot="0">
              <a:off x="0" y="0"/>
              <a:ext cx="1115122" cy="528716"/>
            </a:xfrm>
            <a:custGeom>
              <a:avLst/>
              <a:gdLst/>
              <a:ahLst/>
              <a:cxnLst/>
              <a:rect r="r" b="b" t="t" l="l"/>
              <a:pathLst>
                <a:path h="528716" w="1115122">
                  <a:moveTo>
                    <a:pt x="0" y="0"/>
                  </a:moveTo>
                  <a:lnTo>
                    <a:pt x="1115122" y="0"/>
                  </a:lnTo>
                  <a:lnTo>
                    <a:pt x="1115122" y="528716"/>
                  </a:lnTo>
                  <a:lnTo>
                    <a:pt x="0" y="528716"/>
                  </a:lnTo>
                  <a:close/>
                </a:path>
              </a:pathLst>
            </a:custGeom>
            <a:solidFill>
              <a:srgbClr val="EAD6B8"/>
            </a:solidFill>
          </p:spPr>
        </p:sp>
        <p:sp>
          <p:nvSpPr>
            <p:cNvPr name="TextBox 7" id="7"/>
            <p:cNvSpPr txBox="true"/>
            <p:nvPr/>
          </p:nvSpPr>
          <p:spPr>
            <a:xfrm>
              <a:off x="0" y="-47625"/>
              <a:ext cx="1115122" cy="576341"/>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705631" y="2794077"/>
            <a:ext cx="5936506" cy="7129850"/>
          </a:xfrm>
          <a:custGeom>
            <a:avLst/>
            <a:gdLst/>
            <a:ahLst/>
            <a:cxnLst/>
            <a:rect r="r" b="b" t="t" l="l"/>
            <a:pathLst>
              <a:path h="7129850" w="5936506">
                <a:moveTo>
                  <a:pt x="0" y="0"/>
                </a:moveTo>
                <a:lnTo>
                  <a:pt x="5936506" y="0"/>
                </a:lnTo>
                <a:lnTo>
                  <a:pt x="5936506" y="7129850"/>
                </a:lnTo>
                <a:lnTo>
                  <a:pt x="0" y="7129850"/>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1028700" y="2822969"/>
            <a:ext cx="3535734" cy="1457394"/>
          </a:xfrm>
          <a:prstGeom prst="rect">
            <a:avLst/>
          </a:prstGeom>
        </p:spPr>
        <p:txBody>
          <a:bodyPr anchor="t" rtlCol="false" tIns="0" lIns="0" bIns="0" rIns="0">
            <a:spAutoFit/>
          </a:bodyPr>
          <a:lstStyle/>
          <a:p>
            <a:pPr algn="l">
              <a:lnSpc>
                <a:spcPts val="5771"/>
              </a:lnSpc>
            </a:pPr>
            <a:r>
              <a:rPr lang="en-US" sz="4122" b="true">
                <a:solidFill>
                  <a:srgbClr val="000000"/>
                </a:solidFill>
                <a:latin typeface="Poppins Bold"/>
                <a:ea typeface="Poppins Bold"/>
                <a:cs typeface="Poppins Bold"/>
                <a:sym typeface="Poppins Bold"/>
              </a:rPr>
              <a:t>Entity</a:t>
            </a:r>
          </a:p>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Relationship</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2007468"/>
            <a:chOff x="0" y="0"/>
            <a:chExt cx="1115122" cy="528716"/>
          </a:xfrm>
        </p:grpSpPr>
        <p:sp>
          <p:nvSpPr>
            <p:cNvPr name="Freeform 6" id="6"/>
            <p:cNvSpPr/>
            <p:nvPr/>
          </p:nvSpPr>
          <p:spPr>
            <a:xfrm flipH="false" flipV="false" rot="0">
              <a:off x="0" y="0"/>
              <a:ext cx="1115122" cy="528716"/>
            </a:xfrm>
            <a:custGeom>
              <a:avLst/>
              <a:gdLst/>
              <a:ahLst/>
              <a:cxnLst/>
              <a:rect r="r" b="b" t="t" l="l"/>
              <a:pathLst>
                <a:path h="528716" w="1115122">
                  <a:moveTo>
                    <a:pt x="0" y="0"/>
                  </a:moveTo>
                  <a:lnTo>
                    <a:pt x="1115122" y="0"/>
                  </a:lnTo>
                  <a:lnTo>
                    <a:pt x="1115122" y="528716"/>
                  </a:lnTo>
                  <a:lnTo>
                    <a:pt x="0" y="528716"/>
                  </a:lnTo>
                  <a:close/>
                </a:path>
              </a:pathLst>
            </a:custGeom>
            <a:solidFill>
              <a:srgbClr val="EAD6B8"/>
            </a:solidFill>
          </p:spPr>
        </p:sp>
        <p:sp>
          <p:nvSpPr>
            <p:cNvPr name="TextBox 7" id="7"/>
            <p:cNvSpPr txBox="true"/>
            <p:nvPr/>
          </p:nvSpPr>
          <p:spPr>
            <a:xfrm>
              <a:off x="0" y="-47625"/>
              <a:ext cx="1115122" cy="576341"/>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961364" y="2605082"/>
            <a:ext cx="10816805" cy="7068689"/>
          </a:xfrm>
          <a:custGeom>
            <a:avLst/>
            <a:gdLst/>
            <a:ahLst/>
            <a:cxnLst/>
            <a:rect r="r" b="b" t="t" l="l"/>
            <a:pathLst>
              <a:path h="7068689" w="10816805">
                <a:moveTo>
                  <a:pt x="0" y="0"/>
                </a:moveTo>
                <a:lnTo>
                  <a:pt x="10816805" y="0"/>
                </a:lnTo>
                <a:lnTo>
                  <a:pt x="10816805" y="7068689"/>
                </a:lnTo>
                <a:lnTo>
                  <a:pt x="0" y="7068689"/>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684774" y="2822969"/>
            <a:ext cx="2998350" cy="14573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Frequency of Use</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2007468"/>
            <a:chOff x="0" y="0"/>
            <a:chExt cx="1115122" cy="528716"/>
          </a:xfrm>
        </p:grpSpPr>
        <p:sp>
          <p:nvSpPr>
            <p:cNvPr name="Freeform 6" id="6"/>
            <p:cNvSpPr/>
            <p:nvPr/>
          </p:nvSpPr>
          <p:spPr>
            <a:xfrm flipH="false" flipV="false" rot="0">
              <a:off x="0" y="0"/>
              <a:ext cx="1115122" cy="528716"/>
            </a:xfrm>
            <a:custGeom>
              <a:avLst/>
              <a:gdLst/>
              <a:ahLst/>
              <a:cxnLst/>
              <a:rect r="r" b="b" t="t" l="l"/>
              <a:pathLst>
                <a:path h="528716" w="1115122">
                  <a:moveTo>
                    <a:pt x="0" y="0"/>
                  </a:moveTo>
                  <a:lnTo>
                    <a:pt x="1115122" y="0"/>
                  </a:lnTo>
                  <a:lnTo>
                    <a:pt x="1115122" y="528716"/>
                  </a:lnTo>
                  <a:lnTo>
                    <a:pt x="0" y="528716"/>
                  </a:lnTo>
                  <a:close/>
                </a:path>
              </a:pathLst>
            </a:custGeom>
            <a:solidFill>
              <a:srgbClr val="EAD6B8"/>
            </a:solidFill>
          </p:spPr>
        </p:sp>
        <p:sp>
          <p:nvSpPr>
            <p:cNvPr name="TextBox 7" id="7"/>
            <p:cNvSpPr txBox="true"/>
            <p:nvPr/>
          </p:nvSpPr>
          <p:spPr>
            <a:xfrm>
              <a:off x="0" y="-47625"/>
              <a:ext cx="1115122" cy="576341"/>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407883" y="2677005"/>
            <a:ext cx="11895252" cy="6296574"/>
          </a:xfrm>
          <a:custGeom>
            <a:avLst/>
            <a:gdLst/>
            <a:ahLst/>
            <a:cxnLst/>
            <a:rect r="r" b="b" t="t" l="l"/>
            <a:pathLst>
              <a:path h="6296574" w="11895252">
                <a:moveTo>
                  <a:pt x="0" y="0"/>
                </a:moveTo>
                <a:lnTo>
                  <a:pt x="11895252" y="0"/>
                </a:lnTo>
                <a:lnTo>
                  <a:pt x="11895252" y="6296574"/>
                </a:lnTo>
                <a:lnTo>
                  <a:pt x="0" y="6296574"/>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684774" y="2822969"/>
            <a:ext cx="3320781" cy="14573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Accessing Capabilities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2007468"/>
            <a:chOff x="0" y="0"/>
            <a:chExt cx="1115122" cy="528716"/>
          </a:xfrm>
        </p:grpSpPr>
        <p:sp>
          <p:nvSpPr>
            <p:cNvPr name="Freeform 6" id="6"/>
            <p:cNvSpPr/>
            <p:nvPr/>
          </p:nvSpPr>
          <p:spPr>
            <a:xfrm flipH="false" flipV="false" rot="0">
              <a:off x="0" y="0"/>
              <a:ext cx="1115122" cy="528716"/>
            </a:xfrm>
            <a:custGeom>
              <a:avLst/>
              <a:gdLst/>
              <a:ahLst/>
              <a:cxnLst/>
              <a:rect r="r" b="b" t="t" l="l"/>
              <a:pathLst>
                <a:path h="528716" w="1115122">
                  <a:moveTo>
                    <a:pt x="0" y="0"/>
                  </a:moveTo>
                  <a:lnTo>
                    <a:pt x="1115122" y="0"/>
                  </a:lnTo>
                  <a:lnTo>
                    <a:pt x="1115122" y="528716"/>
                  </a:lnTo>
                  <a:lnTo>
                    <a:pt x="0" y="528716"/>
                  </a:lnTo>
                  <a:close/>
                </a:path>
              </a:pathLst>
            </a:custGeom>
            <a:solidFill>
              <a:srgbClr val="EAD6B8"/>
            </a:solidFill>
          </p:spPr>
        </p:sp>
        <p:sp>
          <p:nvSpPr>
            <p:cNvPr name="TextBox 7" id="7"/>
            <p:cNvSpPr txBox="true"/>
            <p:nvPr/>
          </p:nvSpPr>
          <p:spPr>
            <a:xfrm>
              <a:off x="0" y="-47625"/>
              <a:ext cx="1115122" cy="576341"/>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648966" y="2605082"/>
            <a:ext cx="9596871" cy="7266560"/>
          </a:xfrm>
          <a:custGeom>
            <a:avLst/>
            <a:gdLst/>
            <a:ahLst/>
            <a:cxnLst/>
            <a:rect r="r" b="b" t="t" l="l"/>
            <a:pathLst>
              <a:path h="7266560" w="9596871">
                <a:moveTo>
                  <a:pt x="0" y="0"/>
                </a:moveTo>
                <a:lnTo>
                  <a:pt x="9596871" y="0"/>
                </a:lnTo>
                <a:lnTo>
                  <a:pt x="9596871" y="7266560"/>
                </a:lnTo>
                <a:lnTo>
                  <a:pt x="0" y="7266560"/>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684774" y="2822969"/>
            <a:ext cx="3320781" cy="14573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Integrity Constraints</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1341111"/>
            <a:chOff x="0" y="0"/>
            <a:chExt cx="1115122" cy="353215"/>
          </a:xfrm>
        </p:grpSpPr>
        <p:sp>
          <p:nvSpPr>
            <p:cNvPr name="Freeform 6" id="6"/>
            <p:cNvSpPr/>
            <p:nvPr/>
          </p:nvSpPr>
          <p:spPr>
            <a:xfrm flipH="false" flipV="false" rot="0">
              <a:off x="0" y="0"/>
              <a:ext cx="1115122" cy="353215"/>
            </a:xfrm>
            <a:custGeom>
              <a:avLst/>
              <a:gdLst/>
              <a:ahLst/>
              <a:cxnLst/>
              <a:rect r="r" b="b" t="t" l="l"/>
              <a:pathLst>
                <a:path h="353215" w="1115122">
                  <a:moveTo>
                    <a:pt x="0" y="0"/>
                  </a:moveTo>
                  <a:lnTo>
                    <a:pt x="1115122" y="0"/>
                  </a:lnTo>
                  <a:lnTo>
                    <a:pt x="1115122" y="353215"/>
                  </a:lnTo>
                  <a:lnTo>
                    <a:pt x="0" y="353215"/>
                  </a:lnTo>
                  <a:close/>
                </a:path>
              </a:pathLst>
            </a:custGeom>
            <a:solidFill>
              <a:srgbClr val="EAD6B8"/>
            </a:solidFill>
          </p:spPr>
        </p:sp>
        <p:sp>
          <p:nvSpPr>
            <p:cNvPr name="TextBox 7" id="7"/>
            <p:cNvSpPr txBox="true"/>
            <p:nvPr/>
          </p:nvSpPr>
          <p:spPr>
            <a:xfrm>
              <a:off x="0" y="-47625"/>
              <a:ext cx="1115122" cy="400840"/>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165567" y="3018489"/>
            <a:ext cx="13058478" cy="5613605"/>
          </a:xfrm>
          <a:custGeom>
            <a:avLst/>
            <a:gdLst/>
            <a:ahLst/>
            <a:cxnLst/>
            <a:rect r="r" b="b" t="t" l="l"/>
            <a:pathLst>
              <a:path h="5613605" w="13058478">
                <a:moveTo>
                  <a:pt x="0" y="0"/>
                </a:moveTo>
                <a:lnTo>
                  <a:pt x="13058478" y="0"/>
                </a:lnTo>
                <a:lnTo>
                  <a:pt x="13058478" y="5613605"/>
                </a:lnTo>
                <a:lnTo>
                  <a:pt x="0" y="5613605"/>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620288" y="2851740"/>
            <a:ext cx="3320781"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Security</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025320" y="3275637"/>
            <a:ext cx="4233980" cy="8932726"/>
            <a:chOff x="0" y="0"/>
            <a:chExt cx="1115122" cy="2352652"/>
          </a:xfrm>
        </p:grpSpPr>
        <p:sp>
          <p:nvSpPr>
            <p:cNvPr name="Freeform 3" id="3"/>
            <p:cNvSpPr/>
            <p:nvPr/>
          </p:nvSpPr>
          <p:spPr>
            <a:xfrm flipH="false" flipV="false" rot="0">
              <a:off x="0" y="0"/>
              <a:ext cx="1115122" cy="2352652"/>
            </a:xfrm>
            <a:custGeom>
              <a:avLst/>
              <a:gdLst/>
              <a:ahLst/>
              <a:cxnLst/>
              <a:rect r="r" b="b" t="t" l="l"/>
              <a:pathLst>
                <a:path h="2352652" w="1115122">
                  <a:moveTo>
                    <a:pt x="0" y="0"/>
                  </a:moveTo>
                  <a:lnTo>
                    <a:pt x="1115122" y="0"/>
                  </a:lnTo>
                  <a:lnTo>
                    <a:pt x="1115122" y="2352652"/>
                  </a:lnTo>
                  <a:lnTo>
                    <a:pt x="0" y="2352652"/>
                  </a:lnTo>
                  <a:close/>
                </a:path>
              </a:pathLst>
            </a:custGeom>
            <a:solidFill>
              <a:srgbClr val="EAD6B8"/>
            </a:solidFill>
          </p:spPr>
        </p:sp>
        <p:sp>
          <p:nvSpPr>
            <p:cNvPr name="TextBox 4" id="4"/>
            <p:cNvSpPr txBox="true"/>
            <p:nvPr/>
          </p:nvSpPr>
          <p:spPr>
            <a:xfrm>
              <a:off x="0" y="-47625"/>
              <a:ext cx="1115122" cy="2400277"/>
            </a:xfrm>
            <a:prstGeom prst="rect">
              <a:avLst/>
            </a:prstGeom>
          </p:spPr>
          <p:txBody>
            <a:bodyPr anchor="ctr" rtlCol="false" tIns="50800" lIns="50800" bIns="50800" rIns="50800"/>
            <a:lstStyle/>
            <a:p>
              <a:pPr algn="ctr">
                <a:lnSpc>
                  <a:spcPts val="3012"/>
                </a:lnSpc>
              </a:pPr>
            </a:p>
          </p:txBody>
        </p:sp>
      </p:grpSp>
      <p:grpSp>
        <p:nvGrpSpPr>
          <p:cNvPr name="Group 5" id="5"/>
          <p:cNvGrpSpPr/>
          <p:nvPr/>
        </p:nvGrpSpPr>
        <p:grpSpPr>
          <a:xfrm rot="0">
            <a:off x="-2780862" y="2605082"/>
            <a:ext cx="4233980" cy="2673825"/>
            <a:chOff x="0" y="0"/>
            <a:chExt cx="1115122" cy="704217"/>
          </a:xfrm>
        </p:grpSpPr>
        <p:sp>
          <p:nvSpPr>
            <p:cNvPr name="Freeform 6" id="6"/>
            <p:cNvSpPr/>
            <p:nvPr/>
          </p:nvSpPr>
          <p:spPr>
            <a:xfrm flipH="false" flipV="false" rot="0">
              <a:off x="0" y="0"/>
              <a:ext cx="1115122" cy="704217"/>
            </a:xfrm>
            <a:custGeom>
              <a:avLst/>
              <a:gdLst/>
              <a:ahLst/>
              <a:cxnLst/>
              <a:rect r="r" b="b" t="t" l="l"/>
              <a:pathLst>
                <a:path h="704217" w="1115122">
                  <a:moveTo>
                    <a:pt x="0" y="0"/>
                  </a:moveTo>
                  <a:lnTo>
                    <a:pt x="1115122" y="0"/>
                  </a:lnTo>
                  <a:lnTo>
                    <a:pt x="1115122" y="704217"/>
                  </a:lnTo>
                  <a:lnTo>
                    <a:pt x="0" y="704217"/>
                  </a:lnTo>
                  <a:close/>
                </a:path>
              </a:pathLst>
            </a:custGeom>
            <a:solidFill>
              <a:srgbClr val="EAD6B8"/>
            </a:solidFill>
          </p:spPr>
        </p:sp>
        <p:sp>
          <p:nvSpPr>
            <p:cNvPr name="TextBox 7" id="7"/>
            <p:cNvSpPr txBox="true"/>
            <p:nvPr/>
          </p:nvSpPr>
          <p:spPr>
            <a:xfrm>
              <a:off x="0" y="-47625"/>
              <a:ext cx="1115122" cy="751842"/>
            </a:xfrm>
            <a:prstGeom prst="rect">
              <a:avLst/>
            </a:prstGeom>
          </p:spPr>
          <p:txBody>
            <a:bodyPr anchor="ctr" rtlCol="false" tIns="50800" lIns="50800" bIns="50800" rIns="50800"/>
            <a:lstStyle/>
            <a:p>
              <a:pPr algn="ctr">
                <a:lnSpc>
                  <a:spcPts val="3012"/>
                </a:lnSpc>
              </a:pPr>
            </a:p>
          </p:txBody>
        </p:sp>
      </p:grpSp>
      <p:sp>
        <p:nvSpPr>
          <p:cNvPr name="Freeform 8" id="8"/>
          <p:cNvSpPr/>
          <p:nvPr/>
        </p:nvSpPr>
        <p:spPr>
          <a:xfrm flipH="false" flipV="false" rot="0">
            <a:off x="11838803" y="9258300"/>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7511" y="2908497"/>
            <a:ext cx="11907205" cy="5977073"/>
          </a:xfrm>
          <a:custGeom>
            <a:avLst/>
            <a:gdLst/>
            <a:ahLst/>
            <a:cxnLst/>
            <a:rect r="r" b="b" t="t" l="l"/>
            <a:pathLst>
              <a:path h="5977073" w="11907205">
                <a:moveTo>
                  <a:pt x="0" y="0"/>
                </a:moveTo>
                <a:lnTo>
                  <a:pt x="11907205" y="0"/>
                </a:lnTo>
                <a:lnTo>
                  <a:pt x="11907205" y="5977073"/>
                </a:lnTo>
                <a:lnTo>
                  <a:pt x="0" y="5977073"/>
                </a:lnTo>
                <a:lnTo>
                  <a:pt x="0" y="0"/>
                </a:lnTo>
                <a:close/>
              </a:path>
            </a:pathLst>
          </a:custGeom>
          <a:blipFill>
            <a:blip r:embed="rId4"/>
            <a:stretch>
              <a:fillRect l="0" t="0" r="0" b="0"/>
            </a:stretch>
          </a:blipFill>
        </p:spPr>
      </p:sp>
      <p:sp>
        <p:nvSpPr>
          <p:cNvPr name="TextBox 10" id="10"/>
          <p:cNvSpPr txBox="true"/>
          <p:nvPr/>
        </p:nvSpPr>
        <p:spPr>
          <a:xfrm rot="0">
            <a:off x="1028700" y="533499"/>
            <a:ext cx="13749469" cy="1134815"/>
          </a:xfrm>
          <a:prstGeom prst="rect">
            <a:avLst/>
          </a:prstGeom>
        </p:spPr>
        <p:txBody>
          <a:bodyPr anchor="t" rtlCol="false" tIns="0" lIns="0" bIns="0" rIns="0">
            <a:spAutoFit/>
          </a:bodyPr>
          <a:lstStyle/>
          <a:p>
            <a:pPr algn="l" marL="0" indent="0" lvl="0">
              <a:lnSpc>
                <a:spcPts val="8851"/>
              </a:lnSpc>
              <a:spcBef>
                <a:spcPct val="0"/>
              </a:spcBef>
            </a:pPr>
            <a:r>
              <a:rPr lang="en-US" b="true" sz="6322">
                <a:solidFill>
                  <a:srgbClr val="705C40"/>
                </a:solidFill>
                <a:latin typeface="Poppins Bold"/>
                <a:ea typeface="Poppins Bold"/>
                <a:cs typeface="Poppins Bold"/>
                <a:sym typeface="Poppins Bold"/>
              </a:rPr>
              <a:t>Task 5: SRS Part 3 Requirements</a:t>
            </a:r>
          </a:p>
        </p:txBody>
      </p:sp>
      <p:sp>
        <p:nvSpPr>
          <p:cNvPr name="TextBox 11" id="11"/>
          <p:cNvSpPr txBox="true"/>
          <p:nvPr/>
        </p:nvSpPr>
        <p:spPr>
          <a:xfrm rot="0">
            <a:off x="1646577" y="1658790"/>
            <a:ext cx="9747899"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3.5 Logical Database Requirements</a:t>
            </a:r>
          </a:p>
        </p:txBody>
      </p:sp>
      <p:sp>
        <p:nvSpPr>
          <p:cNvPr name="TextBox 12" id="12"/>
          <p:cNvSpPr txBox="true"/>
          <p:nvPr/>
        </p:nvSpPr>
        <p:spPr>
          <a:xfrm rot="0">
            <a:off x="426829" y="2794197"/>
            <a:ext cx="3815174" cy="21812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Data Retention Requirements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5017" y="663695"/>
            <a:ext cx="17526271" cy="9986000"/>
            <a:chOff x="0" y="0"/>
            <a:chExt cx="4615973" cy="2630058"/>
          </a:xfrm>
        </p:grpSpPr>
        <p:sp>
          <p:nvSpPr>
            <p:cNvPr name="Freeform 3" id="3"/>
            <p:cNvSpPr/>
            <p:nvPr/>
          </p:nvSpPr>
          <p:spPr>
            <a:xfrm flipH="false" flipV="false" rot="0">
              <a:off x="0" y="0"/>
              <a:ext cx="4615973" cy="2630057"/>
            </a:xfrm>
            <a:custGeom>
              <a:avLst/>
              <a:gdLst/>
              <a:ahLst/>
              <a:cxnLst/>
              <a:rect r="r" b="b" t="t" l="l"/>
              <a:pathLst>
                <a:path h="2630057" w="4615973">
                  <a:moveTo>
                    <a:pt x="0" y="0"/>
                  </a:moveTo>
                  <a:lnTo>
                    <a:pt x="4615973" y="0"/>
                  </a:lnTo>
                  <a:lnTo>
                    <a:pt x="4615973" y="2630057"/>
                  </a:lnTo>
                  <a:lnTo>
                    <a:pt x="0" y="2630057"/>
                  </a:lnTo>
                  <a:close/>
                </a:path>
              </a:pathLst>
            </a:custGeom>
            <a:solidFill>
              <a:srgbClr val="EAD6B8"/>
            </a:solidFill>
          </p:spPr>
        </p:sp>
        <p:sp>
          <p:nvSpPr>
            <p:cNvPr name="TextBox 4" id="4"/>
            <p:cNvSpPr txBox="true"/>
            <p:nvPr/>
          </p:nvSpPr>
          <p:spPr>
            <a:xfrm>
              <a:off x="0" y="-47625"/>
              <a:ext cx="4615973" cy="2677683"/>
            </a:xfrm>
            <a:prstGeom prst="rect">
              <a:avLst/>
            </a:prstGeom>
          </p:spPr>
          <p:txBody>
            <a:bodyPr anchor="ctr" rtlCol="false" tIns="50800" lIns="50800" bIns="50800" rIns="50800"/>
            <a:lstStyle/>
            <a:p>
              <a:pPr algn="ctr">
                <a:lnSpc>
                  <a:spcPts val="3012"/>
                </a:lnSpc>
              </a:pPr>
            </a:p>
          </p:txBody>
        </p:sp>
      </p:grpSp>
      <p:sp>
        <p:nvSpPr>
          <p:cNvPr name="TextBox 5" id="5"/>
          <p:cNvSpPr txBox="true"/>
          <p:nvPr/>
        </p:nvSpPr>
        <p:spPr>
          <a:xfrm rot="0">
            <a:off x="277427" y="677191"/>
            <a:ext cx="12336090" cy="1059250"/>
          </a:xfrm>
          <a:prstGeom prst="rect">
            <a:avLst/>
          </a:prstGeom>
        </p:spPr>
        <p:txBody>
          <a:bodyPr anchor="t" rtlCol="false" tIns="0" lIns="0" bIns="0" rIns="0">
            <a:spAutoFit/>
          </a:bodyPr>
          <a:lstStyle/>
          <a:p>
            <a:pPr algn="l" marL="0" indent="0" lvl="0">
              <a:lnSpc>
                <a:spcPts val="8291"/>
              </a:lnSpc>
              <a:spcBef>
                <a:spcPct val="0"/>
              </a:spcBef>
            </a:pPr>
            <a:r>
              <a:rPr lang="en-US" b="true" sz="5922">
                <a:solidFill>
                  <a:srgbClr val="705C40"/>
                </a:solidFill>
                <a:latin typeface="Poppins Bold"/>
                <a:ea typeface="Poppins Bold"/>
                <a:cs typeface="Poppins Bold"/>
                <a:sym typeface="Poppins Bold"/>
              </a:rPr>
              <a:t>Task 5: SRS Part 3 Requirements</a:t>
            </a:r>
          </a:p>
        </p:txBody>
      </p:sp>
      <p:sp>
        <p:nvSpPr>
          <p:cNvPr name="Freeform 6" id="6"/>
          <p:cNvSpPr/>
          <p:nvPr/>
        </p:nvSpPr>
        <p:spPr>
          <a:xfrm flipH="false" flipV="false" rot="0">
            <a:off x="277427" y="9584196"/>
            <a:ext cx="618357" cy="579596"/>
          </a:xfrm>
          <a:custGeom>
            <a:avLst/>
            <a:gdLst/>
            <a:ahLst/>
            <a:cxnLst/>
            <a:rect r="r" b="b" t="t" l="l"/>
            <a:pathLst>
              <a:path h="579596" w="618357">
                <a:moveTo>
                  <a:pt x="0" y="0"/>
                </a:moveTo>
                <a:lnTo>
                  <a:pt x="618357" y="0"/>
                </a:lnTo>
                <a:lnTo>
                  <a:pt x="618357" y="579596"/>
                </a:lnTo>
                <a:lnTo>
                  <a:pt x="0" y="5795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118214" y="9600527"/>
            <a:ext cx="5195095" cy="489806"/>
          </a:xfrm>
          <a:prstGeom prst="rect">
            <a:avLst/>
          </a:prstGeom>
        </p:spPr>
        <p:txBody>
          <a:bodyPr anchor="t" rtlCol="false" tIns="0" lIns="0" bIns="0" rIns="0">
            <a:spAutoFit/>
          </a:bodyPr>
          <a:lstStyle/>
          <a:p>
            <a:pPr algn="l" marL="0" indent="0" lvl="0">
              <a:lnSpc>
                <a:spcPts val="3977"/>
              </a:lnSpc>
              <a:spcBef>
                <a:spcPct val="0"/>
              </a:spcBef>
            </a:pPr>
            <a:r>
              <a:rPr lang="en-US" sz="2841">
                <a:solidFill>
                  <a:srgbClr val="20180C"/>
                </a:solidFill>
                <a:latin typeface="Inter"/>
                <a:ea typeface="Inter"/>
                <a:cs typeface="Inter"/>
                <a:sym typeface="Inter"/>
              </a:rPr>
              <a:t>Campus Ride-Sharing System</a:t>
            </a:r>
          </a:p>
        </p:txBody>
      </p:sp>
      <p:sp>
        <p:nvSpPr>
          <p:cNvPr name="Freeform 8" id="8"/>
          <p:cNvSpPr/>
          <p:nvPr/>
        </p:nvSpPr>
        <p:spPr>
          <a:xfrm flipH="false" flipV="false" rot="0">
            <a:off x="-275017" y="246447"/>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7080712" y="663695"/>
            <a:ext cx="794655" cy="79465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12" id="12"/>
          <p:cNvSpPr/>
          <p:nvPr/>
        </p:nvSpPr>
        <p:spPr>
          <a:xfrm flipH="false" flipV="true" rot="0">
            <a:off x="16069886" y="-1458350"/>
            <a:ext cx="1747225" cy="2746129"/>
          </a:xfrm>
          <a:custGeom>
            <a:avLst/>
            <a:gdLst/>
            <a:ahLst/>
            <a:cxnLst/>
            <a:rect r="r" b="b" t="t" l="l"/>
            <a:pathLst>
              <a:path h="2746129" w="1747225">
                <a:moveTo>
                  <a:pt x="0" y="2746129"/>
                </a:moveTo>
                <a:lnTo>
                  <a:pt x="1747225" y="2746129"/>
                </a:lnTo>
                <a:lnTo>
                  <a:pt x="1747225" y="0"/>
                </a:lnTo>
                <a:lnTo>
                  <a:pt x="0" y="0"/>
                </a:lnTo>
                <a:lnTo>
                  <a:pt x="0" y="2746129"/>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277427" y="1787762"/>
            <a:ext cx="6168045"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3.6 Design Constraints</a:t>
            </a:r>
          </a:p>
        </p:txBody>
      </p:sp>
      <p:sp>
        <p:nvSpPr>
          <p:cNvPr name="TextBox 14" id="14"/>
          <p:cNvSpPr txBox="true"/>
          <p:nvPr/>
        </p:nvSpPr>
        <p:spPr>
          <a:xfrm rot="0">
            <a:off x="277427" y="2797481"/>
            <a:ext cx="5738137" cy="6224843"/>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External Constraints</a:t>
            </a:r>
          </a:p>
          <a:p>
            <a:pPr algn="l" marL="561341" indent="-280670" lvl="1">
              <a:lnSpc>
                <a:spcPts val="3640"/>
              </a:lnSpc>
              <a:buFont typeface="Arial"/>
              <a:buChar char="•"/>
            </a:pPr>
            <a:r>
              <a:rPr lang="en-US" sz="2600" strike="noStrike" u="none">
                <a:solidFill>
                  <a:srgbClr val="000000"/>
                </a:solidFill>
                <a:latin typeface="Inter"/>
                <a:ea typeface="Inter"/>
                <a:cs typeface="Inter"/>
                <a:sym typeface="Inter"/>
              </a:rPr>
              <a:t>Business Constraints</a:t>
            </a:r>
          </a:p>
          <a:p>
            <a:pPr algn="l" marL="561341" indent="-280670" lvl="1">
              <a:lnSpc>
                <a:spcPts val="3640"/>
              </a:lnSpc>
              <a:buFont typeface="Arial"/>
              <a:buChar char="•"/>
            </a:pPr>
            <a:r>
              <a:rPr lang="en-US" sz="2600" strike="noStrike" u="none">
                <a:solidFill>
                  <a:srgbClr val="000000"/>
                </a:solidFill>
                <a:latin typeface="Inter"/>
                <a:ea typeface="Inter"/>
                <a:cs typeface="Inter"/>
                <a:sym typeface="Inter"/>
              </a:rPr>
              <a:t>Organizational Constraints</a:t>
            </a:r>
          </a:p>
          <a:p>
            <a:pPr algn="l">
              <a:lnSpc>
                <a:spcPts val="1679"/>
              </a:lnSpc>
            </a:pPr>
          </a:p>
          <a:p>
            <a:pPr algn="l">
              <a:lnSpc>
                <a:spcPts val="3640"/>
              </a:lnSpc>
            </a:pPr>
            <a:r>
              <a:rPr lang="en-US" sz="2600" strike="noStrike" u="sng">
                <a:solidFill>
                  <a:srgbClr val="000000"/>
                </a:solidFill>
                <a:latin typeface="Inter"/>
                <a:ea typeface="Inter"/>
                <a:cs typeface="Inter"/>
                <a:sym typeface="Inter"/>
              </a:rPr>
              <a:t>Key Content Included</a:t>
            </a:r>
            <a:r>
              <a:rPr lang="en-US" sz="2600" strike="noStrike" u="none">
                <a:solidFill>
                  <a:srgbClr val="000000"/>
                </a:solidFill>
                <a:latin typeface="Inter"/>
                <a:ea typeface="Inter"/>
                <a:cs typeface="Inter"/>
                <a:sym typeface="Inter"/>
              </a:rPr>
              <a:t>:</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Access: Only MMU students/staff via Digital ID</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Scope: Campus-only ride-sharing &amp; parking</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UI: Must follow MMU branding (colors, fonts, layout)</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Integration: MMU internal systems only — no 3rd party APIs</a:t>
            </a:r>
          </a:p>
        </p:txBody>
      </p:sp>
      <p:sp>
        <p:nvSpPr>
          <p:cNvPr name="TextBox 15" id="15"/>
          <p:cNvSpPr txBox="true"/>
          <p:nvPr/>
        </p:nvSpPr>
        <p:spPr>
          <a:xfrm rot="0">
            <a:off x="6006040" y="2797481"/>
            <a:ext cx="5268300" cy="6224843"/>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Regulatory Constraints</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Data Protection and Privacy</a:t>
            </a:r>
          </a:p>
          <a:p>
            <a:pPr algn="l">
              <a:lnSpc>
                <a:spcPts val="1679"/>
              </a:lnSpc>
              <a:spcBef>
                <a:spcPct val="0"/>
              </a:spcBef>
            </a:pPr>
          </a:p>
          <a:p>
            <a:pPr algn="l">
              <a:lnSpc>
                <a:spcPts val="3640"/>
              </a:lnSpc>
              <a:spcBef>
                <a:spcPct val="0"/>
              </a:spcBef>
            </a:pPr>
            <a:r>
              <a:rPr lang="en-US" sz="2600" strike="noStrike" u="sng">
                <a:solidFill>
                  <a:srgbClr val="000000"/>
                </a:solidFill>
                <a:latin typeface="Inter"/>
                <a:ea typeface="Inter"/>
                <a:cs typeface="Inter"/>
                <a:sym typeface="Inter"/>
              </a:rPr>
              <a:t>Key Content Included</a:t>
            </a:r>
            <a:r>
              <a:rPr lang="en-US" sz="2600" strike="noStrike" u="none">
                <a:solidFill>
                  <a:srgbClr val="000000"/>
                </a:solidFill>
                <a:latin typeface="Inter"/>
                <a:ea typeface="Inter"/>
                <a:cs typeface="Inter"/>
                <a:sym typeface="Inter"/>
              </a:rPr>
              <a:t>:</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User Consent &amp; Transparency required</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Data Use: Only for ride-sharing; no marketing</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Retention: Delete/anonymize when no longer needed</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Access Rights: Users can view/edit their data</a:t>
            </a:r>
          </a:p>
          <a:p>
            <a:pPr algn="l" marL="561341" indent="-280670" lvl="1">
              <a:lnSpc>
                <a:spcPts val="3640"/>
              </a:lnSpc>
              <a:spcBef>
                <a:spcPct val="0"/>
              </a:spcBef>
              <a:buFont typeface="Arial"/>
              <a:buChar char="•"/>
            </a:pPr>
            <a:r>
              <a:rPr lang="en-US" sz="2600" strike="noStrike" u="none">
                <a:solidFill>
                  <a:srgbClr val="000000"/>
                </a:solidFill>
                <a:latin typeface="Inter"/>
                <a:ea typeface="Inter"/>
                <a:cs typeface="Inter"/>
                <a:sym typeface="Inter"/>
              </a:rPr>
              <a:t>Security: Use SSL/TLS, encryption, access control</a:t>
            </a:r>
          </a:p>
        </p:txBody>
      </p:sp>
      <p:sp>
        <p:nvSpPr>
          <p:cNvPr name="TextBox 16" id="16"/>
          <p:cNvSpPr txBox="true"/>
          <p:nvPr/>
        </p:nvSpPr>
        <p:spPr>
          <a:xfrm rot="0">
            <a:off x="11711732" y="2797481"/>
            <a:ext cx="5292780" cy="5767643"/>
          </a:xfrm>
          <a:prstGeom prst="rect">
            <a:avLst/>
          </a:prstGeom>
        </p:spPr>
        <p:txBody>
          <a:bodyPr anchor="t" rtlCol="false" tIns="0" lIns="0" bIns="0" rIns="0">
            <a:spAutoFit/>
          </a:bodyPr>
          <a:lstStyle/>
          <a:p>
            <a:pPr algn="l">
              <a:lnSpc>
                <a:spcPts val="4206"/>
              </a:lnSpc>
              <a:spcBef>
                <a:spcPct val="0"/>
              </a:spcBef>
            </a:pPr>
            <a:r>
              <a:rPr lang="en-US" b="true" sz="3004">
                <a:solidFill>
                  <a:srgbClr val="000000"/>
                </a:solidFill>
                <a:latin typeface="Inter Bold"/>
                <a:ea typeface="Inter Bold"/>
                <a:cs typeface="Inter Bold"/>
                <a:sym typeface="Inter Bold"/>
              </a:rPr>
              <a:t>Technical Constraints</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Platform Constraints</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Feature Behavior Constraints</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Data Retention Constraints</a:t>
            </a:r>
          </a:p>
          <a:p>
            <a:pPr algn="l">
              <a:lnSpc>
                <a:spcPts val="1679"/>
              </a:lnSpc>
              <a:spcBef>
                <a:spcPct val="0"/>
              </a:spcBef>
            </a:pPr>
          </a:p>
          <a:p>
            <a:pPr algn="l">
              <a:lnSpc>
                <a:spcPts val="3639"/>
              </a:lnSpc>
              <a:spcBef>
                <a:spcPct val="0"/>
              </a:spcBef>
            </a:pPr>
            <a:r>
              <a:rPr lang="en-US" sz="2599" strike="noStrike" u="sng">
                <a:solidFill>
                  <a:srgbClr val="000000"/>
                </a:solidFill>
                <a:latin typeface="Inter"/>
                <a:ea typeface="Inter"/>
                <a:cs typeface="Inter"/>
                <a:sym typeface="Inter"/>
              </a:rPr>
              <a:t>Key Content Included</a:t>
            </a:r>
            <a:r>
              <a:rPr lang="en-US" sz="2599" strike="noStrike" u="none">
                <a:solidFill>
                  <a:srgbClr val="000000"/>
                </a:solidFill>
                <a:latin typeface="Inter"/>
                <a:ea typeface="Inter"/>
                <a:cs typeface="Inter"/>
                <a:sym typeface="Inter"/>
              </a:rPr>
              <a:t>:</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Platform: Must be mobile-friendly (responsive UI)</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Behavior: Auto-match rides; no manual selection</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Chat: Enabled only during rides, deleted post-ride</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Retention:</a:t>
            </a:r>
          </a:p>
        </p:txBody>
      </p:sp>
      <p:sp>
        <p:nvSpPr>
          <p:cNvPr name="AutoShape 17" id="17"/>
          <p:cNvSpPr/>
          <p:nvPr/>
        </p:nvSpPr>
        <p:spPr>
          <a:xfrm>
            <a:off x="5761765" y="3323865"/>
            <a:ext cx="0" cy="5166187"/>
          </a:xfrm>
          <a:prstGeom prst="line">
            <a:avLst/>
          </a:prstGeom>
          <a:ln cap="flat" w="38100">
            <a:solidFill>
              <a:srgbClr val="BCA37F"/>
            </a:solidFill>
            <a:prstDash val="solid"/>
            <a:headEnd type="none" len="sm" w="sm"/>
            <a:tailEnd type="none" len="sm" w="sm"/>
          </a:ln>
        </p:spPr>
      </p:sp>
      <p:sp>
        <p:nvSpPr>
          <p:cNvPr name="AutoShape 18" id="18"/>
          <p:cNvSpPr/>
          <p:nvPr/>
        </p:nvSpPr>
        <p:spPr>
          <a:xfrm>
            <a:off x="11417215" y="3323865"/>
            <a:ext cx="0" cy="5166187"/>
          </a:xfrm>
          <a:prstGeom prst="line">
            <a:avLst/>
          </a:prstGeom>
          <a:ln cap="flat" w="38100">
            <a:solidFill>
              <a:srgbClr val="BCA37F"/>
            </a:solidFill>
            <a:prstDash val="solid"/>
            <a:headEnd type="none" len="sm" w="sm"/>
            <a:tailEnd type="none" len="sm" w="sm"/>
          </a:ln>
        </p:spPr>
      </p:sp>
      <p:sp>
        <p:nvSpPr>
          <p:cNvPr name="TextBox 19" id="19"/>
          <p:cNvSpPr txBox="true"/>
          <p:nvPr/>
        </p:nvSpPr>
        <p:spPr>
          <a:xfrm rot="0">
            <a:off x="12037079" y="8548370"/>
            <a:ext cx="4734969" cy="1362710"/>
          </a:xfrm>
          <a:prstGeom prst="rect">
            <a:avLst/>
          </a:prstGeom>
        </p:spPr>
        <p:txBody>
          <a:bodyPr anchor="t" rtlCol="false" tIns="0" lIns="0" bIns="0" rIns="0">
            <a:spAutoFit/>
          </a:bodyPr>
          <a:lstStyle/>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Chats: delete after 7 days</a:t>
            </a:r>
          </a:p>
          <a:p>
            <a:pPr algn="l" marL="561339" indent="-280669" lvl="1">
              <a:lnSpc>
                <a:spcPts val="3639"/>
              </a:lnSpc>
              <a:spcBef>
                <a:spcPct val="0"/>
              </a:spcBef>
              <a:buFont typeface="Arial"/>
              <a:buChar char="•"/>
            </a:pPr>
            <a:r>
              <a:rPr lang="en-US" sz="2599" strike="noStrike" u="none">
                <a:solidFill>
                  <a:srgbClr val="000000"/>
                </a:solidFill>
                <a:latin typeface="Inter"/>
                <a:ea typeface="Inter"/>
                <a:cs typeface="Inter"/>
                <a:sym typeface="Inter"/>
              </a:rPr>
              <a:t>Notifications: auto-clear after 30 days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1291094" y="3814481"/>
            <a:ext cx="15073047" cy="5964735"/>
          </a:xfrm>
          <a:custGeom>
            <a:avLst/>
            <a:gdLst/>
            <a:ahLst/>
            <a:cxnLst/>
            <a:rect r="r" b="b" t="t" l="l"/>
            <a:pathLst>
              <a:path h="5964735" w="15073047">
                <a:moveTo>
                  <a:pt x="0" y="0"/>
                </a:moveTo>
                <a:lnTo>
                  <a:pt x="15073048" y="0"/>
                </a:lnTo>
                <a:lnTo>
                  <a:pt x="15073048" y="5964736"/>
                </a:lnTo>
                <a:lnTo>
                  <a:pt x="0" y="5964736"/>
                </a:lnTo>
                <a:lnTo>
                  <a:pt x="0" y="0"/>
                </a:lnTo>
                <a:close/>
              </a:path>
            </a:pathLst>
          </a:custGeom>
          <a:blipFill>
            <a:blip r:embed="rId2"/>
            <a:stretch>
              <a:fillRect l="0" t="0" r="0" b="0"/>
            </a:stretch>
          </a:blipFill>
        </p:spPr>
      </p:sp>
      <p:sp>
        <p:nvSpPr>
          <p:cNvPr name="TextBox 10" id="10"/>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3 Requirements</a:t>
            </a:r>
          </a:p>
        </p:txBody>
      </p:sp>
      <p:sp>
        <p:nvSpPr>
          <p:cNvPr name="TextBox 11" id="11"/>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3.7 Software System Attributes</a:t>
            </a:r>
          </a:p>
        </p:txBody>
      </p:sp>
      <p:sp>
        <p:nvSpPr>
          <p:cNvPr name="TextBox 12" id="12"/>
          <p:cNvSpPr txBox="true"/>
          <p:nvPr/>
        </p:nvSpPr>
        <p:spPr>
          <a:xfrm rot="0">
            <a:off x="337776" y="2822969"/>
            <a:ext cx="3707697"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Reliability</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1658927" y="3556463"/>
            <a:ext cx="13061799" cy="6371609"/>
          </a:xfrm>
          <a:custGeom>
            <a:avLst/>
            <a:gdLst/>
            <a:ahLst/>
            <a:cxnLst/>
            <a:rect r="r" b="b" t="t" l="l"/>
            <a:pathLst>
              <a:path h="6371609" w="13061799">
                <a:moveTo>
                  <a:pt x="0" y="0"/>
                </a:moveTo>
                <a:lnTo>
                  <a:pt x="13061799" y="0"/>
                </a:lnTo>
                <a:lnTo>
                  <a:pt x="13061799" y="6371609"/>
                </a:lnTo>
                <a:lnTo>
                  <a:pt x="0" y="6371609"/>
                </a:lnTo>
                <a:lnTo>
                  <a:pt x="0" y="0"/>
                </a:lnTo>
                <a:close/>
              </a:path>
            </a:pathLst>
          </a:custGeom>
          <a:blipFill>
            <a:blip r:embed="rId2"/>
            <a:stretch>
              <a:fillRect l="0" t="0" r="0" b="0"/>
            </a:stretch>
          </a:blipFill>
        </p:spPr>
      </p:sp>
      <p:sp>
        <p:nvSpPr>
          <p:cNvPr name="TextBox 10" id="10"/>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3 Requirements</a:t>
            </a:r>
          </a:p>
        </p:txBody>
      </p:sp>
      <p:sp>
        <p:nvSpPr>
          <p:cNvPr name="TextBox 11" id="11"/>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3.7 Software System Attributes</a:t>
            </a:r>
          </a:p>
        </p:txBody>
      </p:sp>
      <p:sp>
        <p:nvSpPr>
          <p:cNvPr name="TextBox 12" id="12"/>
          <p:cNvSpPr txBox="true"/>
          <p:nvPr/>
        </p:nvSpPr>
        <p:spPr>
          <a:xfrm rot="0">
            <a:off x="337776" y="2822969"/>
            <a:ext cx="3707697"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Availability</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2846752" y="2978967"/>
            <a:ext cx="6897063" cy="6941050"/>
          </a:xfrm>
          <a:custGeom>
            <a:avLst/>
            <a:gdLst/>
            <a:ahLst/>
            <a:cxnLst/>
            <a:rect r="r" b="b" t="t" l="l"/>
            <a:pathLst>
              <a:path h="6941050" w="6897063">
                <a:moveTo>
                  <a:pt x="0" y="0"/>
                </a:moveTo>
                <a:lnTo>
                  <a:pt x="6897063" y="0"/>
                </a:lnTo>
                <a:lnTo>
                  <a:pt x="6897063" y="6941050"/>
                </a:lnTo>
                <a:lnTo>
                  <a:pt x="0" y="6941050"/>
                </a:lnTo>
                <a:lnTo>
                  <a:pt x="0" y="0"/>
                </a:lnTo>
                <a:close/>
              </a:path>
            </a:pathLst>
          </a:custGeom>
          <a:blipFill>
            <a:blip r:embed="rId2"/>
            <a:stretch>
              <a:fillRect l="0" t="0" r="0" b="0"/>
            </a:stretch>
          </a:blipFill>
        </p:spPr>
      </p:sp>
      <p:sp>
        <p:nvSpPr>
          <p:cNvPr name="Freeform 10" id="10"/>
          <p:cNvSpPr/>
          <p:nvPr/>
        </p:nvSpPr>
        <p:spPr>
          <a:xfrm flipH="false" flipV="false" rot="0">
            <a:off x="10302851" y="2978967"/>
            <a:ext cx="7198932" cy="6030519"/>
          </a:xfrm>
          <a:custGeom>
            <a:avLst/>
            <a:gdLst/>
            <a:ahLst/>
            <a:cxnLst/>
            <a:rect r="r" b="b" t="t" l="l"/>
            <a:pathLst>
              <a:path h="6030519" w="7198932">
                <a:moveTo>
                  <a:pt x="0" y="0"/>
                </a:moveTo>
                <a:lnTo>
                  <a:pt x="7198933" y="0"/>
                </a:lnTo>
                <a:lnTo>
                  <a:pt x="7198933" y="6030519"/>
                </a:lnTo>
                <a:lnTo>
                  <a:pt x="0" y="6030519"/>
                </a:lnTo>
                <a:lnTo>
                  <a:pt x="0" y="0"/>
                </a:lnTo>
                <a:close/>
              </a:path>
            </a:pathLst>
          </a:custGeom>
          <a:blipFill>
            <a:blip r:embed="rId3"/>
            <a:stretch>
              <a:fillRect l="0" t="0" r="0" b="0"/>
            </a:stretch>
          </a:blipFill>
        </p:spPr>
      </p:sp>
      <p:sp>
        <p:nvSpPr>
          <p:cNvPr name="TextBox 11" id="11"/>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3 Requirements</a:t>
            </a:r>
          </a:p>
        </p:txBody>
      </p:sp>
      <p:sp>
        <p:nvSpPr>
          <p:cNvPr name="TextBox 12" id="12"/>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3.7 Software System Attributes</a:t>
            </a:r>
          </a:p>
        </p:txBody>
      </p:sp>
      <p:sp>
        <p:nvSpPr>
          <p:cNvPr name="TextBox 13" id="13"/>
          <p:cNvSpPr txBox="true"/>
          <p:nvPr/>
        </p:nvSpPr>
        <p:spPr>
          <a:xfrm rot="0">
            <a:off x="337776" y="2822969"/>
            <a:ext cx="3707697"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Security</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4681499" y="2937269"/>
            <a:ext cx="12396383" cy="6423428"/>
          </a:xfrm>
          <a:custGeom>
            <a:avLst/>
            <a:gdLst/>
            <a:ahLst/>
            <a:cxnLst/>
            <a:rect r="r" b="b" t="t" l="l"/>
            <a:pathLst>
              <a:path h="6423428" w="12396383">
                <a:moveTo>
                  <a:pt x="0" y="0"/>
                </a:moveTo>
                <a:lnTo>
                  <a:pt x="12396382" y="0"/>
                </a:lnTo>
                <a:lnTo>
                  <a:pt x="12396382" y="6423428"/>
                </a:lnTo>
                <a:lnTo>
                  <a:pt x="0" y="6423428"/>
                </a:lnTo>
                <a:lnTo>
                  <a:pt x="0" y="0"/>
                </a:lnTo>
                <a:close/>
              </a:path>
            </a:pathLst>
          </a:custGeom>
          <a:blipFill>
            <a:blip r:embed="rId2"/>
            <a:stretch>
              <a:fillRect l="0" t="0" r="0" b="0"/>
            </a:stretch>
          </a:blipFill>
        </p:spPr>
      </p:sp>
      <p:sp>
        <p:nvSpPr>
          <p:cNvPr name="TextBox 10" id="10"/>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3 Requirements</a:t>
            </a:r>
          </a:p>
        </p:txBody>
      </p:sp>
      <p:sp>
        <p:nvSpPr>
          <p:cNvPr name="TextBox 11" id="11"/>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3.7 Software System Attributes</a:t>
            </a:r>
          </a:p>
        </p:txBody>
      </p:sp>
      <p:sp>
        <p:nvSpPr>
          <p:cNvPr name="TextBox 12" id="12"/>
          <p:cNvSpPr txBox="true"/>
          <p:nvPr/>
        </p:nvSpPr>
        <p:spPr>
          <a:xfrm rot="0">
            <a:off x="337776" y="2822969"/>
            <a:ext cx="4196942"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Maintainability</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1597338" y="4286134"/>
            <a:ext cx="14268643" cy="3723076"/>
          </a:xfrm>
          <a:custGeom>
            <a:avLst/>
            <a:gdLst/>
            <a:ahLst/>
            <a:cxnLst/>
            <a:rect r="r" b="b" t="t" l="l"/>
            <a:pathLst>
              <a:path h="3723076" w="14268643">
                <a:moveTo>
                  <a:pt x="0" y="0"/>
                </a:moveTo>
                <a:lnTo>
                  <a:pt x="14268644" y="0"/>
                </a:lnTo>
                <a:lnTo>
                  <a:pt x="14268644" y="3723076"/>
                </a:lnTo>
                <a:lnTo>
                  <a:pt x="0" y="3723076"/>
                </a:lnTo>
                <a:lnTo>
                  <a:pt x="0" y="0"/>
                </a:lnTo>
                <a:close/>
              </a:path>
            </a:pathLst>
          </a:custGeom>
          <a:blipFill>
            <a:blip r:embed="rId2"/>
            <a:stretch>
              <a:fillRect l="0" t="0" r="0" b="0"/>
            </a:stretch>
          </a:blipFill>
        </p:spPr>
      </p:sp>
      <p:sp>
        <p:nvSpPr>
          <p:cNvPr name="TextBox 10" id="10"/>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3 Requirements</a:t>
            </a:r>
          </a:p>
        </p:txBody>
      </p:sp>
      <p:sp>
        <p:nvSpPr>
          <p:cNvPr name="TextBox 11" id="11"/>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3.7 Software System Attributes</a:t>
            </a:r>
          </a:p>
        </p:txBody>
      </p:sp>
      <p:sp>
        <p:nvSpPr>
          <p:cNvPr name="TextBox 12" id="12"/>
          <p:cNvSpPr txBox="true"/>
          <p:nvPr/>
        </p:nvSpPr>
        <p:spPr>
          <a:xfrm rot="0">
            <a:off x="337776" y="2822969"/>
            <a:ext cx="3707697"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Portability</a:t>
            </a:r>
          </a:p>
        </p:txBody>
      </p:sp>
    </p:spTree>
  </p:cSld>
  <p:clrMapOvr>
    <a:masterClrMapping/>
  </p:clrMapOvr>
</p:sld>
</file>

<file path=ppt/slides/slide4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4 Verification</a:t>
            </a:r>
          </a:p>
        </p:txBody>
      </p:sp>
      <p:sp>
        <p:nvSpPr>
          <p:cNvPr name="TextBox 10" id="10"/>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4.0 Verification</a:t>
            </a:r>
          </a:p>
        </p:txBody>
      </p:sp>
      <p:sp>
        <p:nvSpPr>
          <p:cNvPr name="TextBox 11" id="11"/>
          <p:cNvSpPr txBox="true"/>
          <p:nvPr/>
        </p:nvSpPr>
        <p:spPr>
          <a:xfrm rot="0">
            <a:off x="337776" y="2822969"/>
            <a:ext cx="60993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Compatibility testing</a:t>
            </a:r>
          </a:p>
        </p:txBody>
      </p:sp>
      <p:sp>
        <p:nvSpPr>
          <p:cNvPr name="TextBox 12" id="12"/>
          <p:cNvSpPr txBox="true"/>
          <p:nvPr/>
        </p:nvSpPr>
        <p:spPr>
          <a:xfrm rot="0">
            <a:off x="514350" y="4741206"/>
            <a:ext cx="12548587" cy="3824067"/>
          </a:xfrm>
          <a:prstGeom prst="rect">
            <a:avLst/>
          </a:prstGeom>
        </p:spPr>
        <p:txBody>
          <a:bodyPr anchor="t" rtlCol="false" tIns="0" lIns="0" bIns="0" rIns="0">
            <a:spAutoFit/>
          </a:bodyPr>
          <a:lstStyle/>
          <a:p>
            <a:pPr algn="l" marL="584143" indent="-292072" lvl="1">
              <a:lnSpc>
                <a:spcPts val="3787"/>
              </a:lnSpc>
              <a:buFont typeface="Arial"/>
              <a:buChar char="•"/>
            </a:pPr>
            <a:r>
              <a:rPr lang="en-US" sz="2705">
                <a:solidFill>
                  <a:srgbClr val="000000"/>
                </a:solidFill>
                <a:latin typeface="Inter"/>
                <a:ea typeface="Inter"/>
                <a:cs typeface="Inter"/>
                <a:sym typeface="Inter"/>
              </a:rPr>
              <a:t>To </a:t>
            </a:r>
            <a:r>
              <a:rPr lang="en-US" sz="2705">
                <a:solidFill>
                  <a:srgbClr val="000000"/>
                </a:solidFill>
                <a:latin typeface="Inter"/>
                <a:ea typeface="Inter"/>
                <a:cs typeface="Inter"/>
                <a:sym typeface="Inter"/>
              </a:rPr>
              <a:t>ensure that the software can run on specified platforms, environments and configurations without any errors.</a:t>
            </a:r>
          </a:p>
          <a:p>
            <a:pPr algn="l" marL="584143" indent="-292072" lvl="1">
              <a:lnSpc>
                <a:spcPts val="3787"/>
              </a:lnSpc>
              <a:buFont typeface="Arial"/>
              <a:buChar char="•"/>
            </a:pPr>
            <a:r>
              <a:rPr lang="en-US" sz="2705">
                <a:solidFill>
                  <a:srgbClr val="000000"/>
                </a:solidFill>
                <a:latin typeface="Inter"/>
                <a:ea typeface="Inter"/>
                <a:cs typeface="Inter"/>
                <a:sym typeface="Inter"/>
              </a:rPr>
              <a:t>The software is installed on different web browsers platforms, and environments of different versions that are specified as requirements above. Once installed, the software is tested by following basic workflows, ensuring all features function as expected without errors. Any error occurred during testing is documented.</a:t>
            </a:r>
          </a:p>
          <a:p>
            <a:pPr algn="l">
              <a:lnSpc>
                <a:spcPts val="3787"/>
              </a:lnSpc>
              <a:spcBef>
                <a:spcPct val="0"/>
              </a:spcBef>
            </a:pPr>
            <a:r>
              <a:rPr lang="en-US" sz="2705">
                <a:solidFill>
                  <a:srgbClr val="000000"/>
                </a:solidFill>
                <a:latin typeface="Inter"/>
                <a:ea typeface="Inter"/>
                <a:cs typeface="Inter"/>
                <a:sym typeface="Inter"/>
              </a:rPr>
              <a:t> </a:t>
            </a:r>
          </a:p>
        </p:txBody>
      </p:sp>
    </p:spTree>
  </p:cSld>
  <p:clrMapOvr>
    <a:masterClrMapping/>
  </p:clrMapOvr>
</p:sld>
</file>

<file path=ppt/slides/slide4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4 Verification</a:t>
            </a:r>
          </a:p>
        </p:txBody>
      </p:sp>
      <p:sp>
        <p:nvSpPr>
          <p:cNvPr name="TextBox 10" id="10"/>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4.0 Verification</a:t>
            </a:r>
          </a:p>
        </p:txBody>
      </p:sp>
      <p:sp>
        <p:nvSpPr>
          <p:cNvPr name="TextBox 11" id="11"/>
          <p:cNvSpPr txBox="true"/>
          <p:nvPr/>
        </p:nvSpPr>
        <p:spPr>
          <a:xfrm rot="0">
            <a:off x="337776" y="2822969"/>
            <a:ext cx="60993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Stress Testing</a:t>
            </a:r>
          </a:p>
        </p:txBody>
      </p:sp>
      <p:sp>
        <p:nvSpPr>
          <p:cNvPr name="TextBox 12" id="12"/>
          <p:cNvSpPr txBox="true"/>
          <p:nvPr/>
        </p:nvSpPr>
        <p:spPr>
          <a:xfrm rot="0">
            <a:off x="514350" y="4741206"/>
            <a:ext cx="12548587" cy="3343421"/>
          </a:xfrm>
          <a:prstGeom prst="rect">
            <a:avLst/>
          </a:prstGeom>
        </p:spPr>
        <p:txBody>
          <a:bodyPr anchor="t" rtlCol="false" tIns="0" lIns="0" bIns="0" rIns="0">
            <a:spAutoFit/>
          </a:bodyPr>
          <a:lstStyle/>
          <a:p>
            <a:pPr algn="l" marL="584143" indent="-292072" lvl="1">
              <a:lnSpc>
                <a:spcPts val="3787"/>
              </a:lnSpc>
              <a:buFont typeface="Arial"/>
              <a:buChar char="•"/>
            </a:pPr>
            <a:r>
              <a:rPr lang="en-US" sz="2705">
                <a:solidFill>
                  <a:srgbClr val="000000"/>
                </a:solidFill>
                <a:latin typeface="Inter"/>
                <a:ea typeface="Inter"/>
                <a:cs typeface="Inter"/>
                <a:sym typeface="Inter"/>
              </a:rPr>
              <a:t>To fi</a:t>
            </a:r>
            <a:r>
              <a:rPr lang="en-US" sz="2705">
                <a:solidFill>
                  <a:srgbClr val="000000"/>
                </a:solidFill>
                <a:latin typeface="Inter"/>
                <a:ea typeface="Inter"/>
                <a:cs typeface="Inter"/>
                <a:sym typeface="Inter"/>
              </a:rPr>
              <a:t>nd out how much the system can handle using the given hardware in the specified requirement (2GB RAM, 1GB disk).</a:t>
            </a:r>
          </a:p>
          <a:p>
            <a:pPr algn="l" marL="584143" indent="-292072" lvl="1">
              <a:lnSpc>
                <a:spcPts val="3787"/>
              </a:lnSpc>
              <a:buFont typeface="Arial"/>
              <a:buChar char="•"/>
            </a:pPr>
            <a:r>
              <a:rPr lang="en-US" sz="2705">
                <a:solidFill>
                  <a:srgbClr val="000000"/>
                </a:solidFill>
                <a:latin typeface="Inter"/>
                <a:ea typeface="Inter"/>
                <a:cs typeface="Inter"/>
                <a:sym typeface="Inter"/>
              </a:rPr>
              <a:t>Simulate high traffic and resource demands using load-testing tools, while monitoring RAM, disk usage, and Node.js performance. Tests will push hardware to its limits (2GB RAM, 1GB disk) to verify stability, and recovery from stress.</a:t>
            </a:r>
          </a:p>
          <a:p>
            <a:pPr algn="l">
              <a:lnSpc>
                <a:spcPts val="3787"/>
              </a:lnSpc>
              <a:spcBef>
                <a:spcPct val="0"/>
              </a:spcBef>
            </a:pPr>
            <a:r>
              <a:rPr lang="en-US" sz="2705">
                <a:solidFill>
                  <a:srgbClr val="000000"/>
                </a:solidFill>
                <a:latin typeface="Inter"/>
                <a:ea typeface="Inter"/>
                <a:cs typeface="Inter"/>
                <a:sym typeface="Inter"/>
              </a:rPr>
              <a:t> </a:t>
            </a:r>
          </a:p>
        </p:txBody>
      </p:sp>
    </p:spTree>
  </p:cSld>
  <p:clrMapOvr>
    <a:masterClrMapping/>
  </p:clrMapOvr>
</p:sld>
</file>

<file path=ppt/slides/slide4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4 Verification</a:t>
            </a:r>
          </a:p>
        </p:txBody>
      </p:sp>
      <p:sp>
        <p:nvSpPr>
          <p:cNvPr name="TextBox 10" id="10"/>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4.0 Verification</a:t>
            </a:r>
          </a:p>
        </p:txBody>
      </p:sp>
      <p:sp>
        <p:nvSpPr>
          <p:cNvPr name="TextBox 11" id="11"/>
          <p:cNvSpPr txBox="true"/>
          <p:nvPr/>
        </p:nvSpPr>
        <p:spPr>
          <a:xfrm rot="0">
            <a:off x="337776" y="2822969"/>
            <a:ext cx="60993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Component Testing</a:t>
            </a:r>
          </a:p>
        </p:txBody>
      </p:sp>
      <p:sp>
        <p:nvSpPr>
          <p:cNvPr name="TextBox 12" id="12"/>
          <p:cNvSpPr txBox="true"/>
          <p:nvPr/>
        </p:nvSpPr>
        <p:spPr>
          <a:xfrm rot="0">
            <a:off x="514350" y="4741206"/>
            <a:ext cx="12548587" cy="2836402"/>
          </a:xfrm>
          <a:prstGeom prst="rect">
            <a:avLst/>
          </a:prstGeom>
        </p:spPr>
        <p:txBody>
          <a:bodyPr anchor="t" rtlCol="false" tIns="0" lIns="0" bIns="0" rIns="0">
            <a:spAutoFit/>
          </a:bodyPr>
          <a:lstStyle/>
          <a:p>
            <a:pPr algn="l" marL="584143" indent="-292071" lvl="1">
              <a:lnSpc>
                <a:spcPts val="3787"/>
              </a:lnSpc>
              <a:buFont typeface="Arial"/>
              <a:buChar char="•"/>
            </a:pPr>
            <a:r>
              <a:rPr lang="en-US" sz="2705">
                <a:solidFill>
                  <a:srgbClr val="000000"/>
                </a:solidFill>
                <a:latin typeface="Inter"/>
                <a:ea typeface="Inter"/>
                <a:cs typeface="Inter"/>
                <a:sym typeface="Inter"/>
              </a:rPr>
              <a:t>To e</a:t>
            </a:r>
            <a:r>
              <a:rPr lang="en-US" sz="2705">
                <a:solidFill>
                  <a:srgbClr val="000000"/>
                </a:solidFill>
                <a:latin typeface="Inter"/>
                <a:ea typeface="Inter"/>
                <a:cs typeface="Inter"/>
                <a:sym typeface="Inter"/>
              </a:rPr>
              <a:t>nsure that individual software components function correctly and meet specific requirements in isolation before they are integrated into a larger system.</a:t>
            </a:r>
          </a:p>
          <a:p>
            <a:pPr algn="l" marL="584143" indent="-292071" lvl="1">
              <a:lnSpc>
                <a:spcPts val="3787"/>
              </a:lnSpc>
              <a:buFont typeface="Arial"/>
              <a:buChar char="•"/>
            </a:pPr>
            <a:r>
              <a:rPr lang="en-US" sz="2705">
                <a:solidFill>
                  <a:srgbClr val="000000"/>
                </a:solidFill>
                <a:latin typeface="Inter"/>
                <a:ea typeface="Inter"/>
                <a:cs typeface="Inter"/>
                <a:sym typeface="Inter"/>
              </a:rPr>
              <a:t>Component testing will validate functionality, input/output accuracy, and error handling using tools like Jest for unit/functional testing. Simulated dependency failures (e.g., database downtime) will test error resilience. </a:t>
            </a:r>
          </a:p>
        </p:txBody>
      </p:sp>
    </p:spTree>
  </p:cSld>
  <p:clrMapOvr>
    <a:masterClrMapping/>
  </p:clrMapOvr>
</p:sld>
</file>

<file path=ppt/slides/slide4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4 Verification</a:t>
            </a:r>
          </a:p>
        </p:txBody>
      </p:sp>
      <p:sp>
        <p:nvSpPr>
          <p:cNvPr name="TextBox 10" id="10"/>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4.0 Verification</a:t>
            </a:r>
          </a:p>
        </p:txBody>
      </p:sp>
      <p:sp>
        <p:nvSpPr>
          <p:cNvPr name="TextBox 11" id="11"/>
          <p:cNvSpPr txBox="true"/>
          <p:nvPr/>
        </p:nvSpPr>
        <p:spPr>
          <a:xfrm rot="0">
            <a:off x="337776" y="2822969"/>
            <a:ext cx="60993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Usability Testing</a:t>
            </a:r>
          </a:p>
        </p:txBody>
      </p:sp>
      <p:sp>
        <p:nvSpPr>
          <p:cNvPr name="TextBox 12" id="12"/>
          <p:cNvSpPr txBox="true"/>
          <p:nvPr/>
        </p:nvSpPr>
        <p:spPr>
          <a:xfrm rot="0">
            <a:off x="514350" y="4741206"/>
            <a:ext cx="12548587" cy="2360152"/>
          </a:xfrm>
          <a:prstGeom prst="rect">
            <a:avLst/>
          </a:prstGeom>
        </p:spPr>
        <p:txBody>
          <a:bodyPr anchor="t" rtlCol="false" tIns="0" lIns="0" bIns="0" rIns="0">
            <a:spAutoFit/>
          </a:bodyPr>
          <a:lstStyle/>
          <a:p>
            <a:pPr algn="l" marL="584143" indent="-292071" lvl="1">
              <a:lnSpc>
                <a:spcPts val="3787"/>
              </a:lnSpc>
              <a:buFont typeface="Arial"/>
              <a:buChar char="•"/>
            </a:pPr>
            <a:r>
              <a:rPr lang="en-US" sz="2705">
                <a:solidFill>
                  <a:srgbClr val="000000"/>
                </a:solidFill>
                <a:latin typeface="Inter"/>
                <a:ea typeface="Inter"/>
                <a:cs typeface="Inter"/>
                <a:sym typeface="Inter"/>
              </a:rPr>
              <a:t>To u</a:t>
            </a:r>
            <a:r>
              <a:rPr lang="en-US" sz="2705">
                <a:solidFill>
                  <a:srgbClr val="000000"/>
                </a:solidFill>
                <a:latin typeface="Inter"/>
                <a:ea typeface="Inter"/>
                <a:cs typeface="Inter"/>
                <a:sym typeface="Inter"/>
              </a:rPr>
              <a:t>nderstand how users navigate and use the application, ensuring that it is user-friendly and meets the needs and expectations of end users</a:t>
            </a:r>
          </a:p>
          <a:p>
            <a:pPr algn="l" marL="584143" indent="-292071" lvl="1">
              <a:lnSpc>
                <a:spcPts val="3787"/>
              </a:lnSpc>
              <a:buFont typeface="Arial"/>
              <a:buChar char="•"/>
            </a:pPr>
            <a:r>
              <a:rPr lang="en-US" sz="2705">
                <a:solidFill>
                  <a:srgbClr val="000000"/>
                </a:solidFill>
                <a:latin typeface="Inter"/>
                <a:ea typeface="Inter"/>
                <a:cs typeface="Inter"/>
                <a:sym typeface="Inter"/>
              </a:rPr>
              <a:t>50 participants of different age groups are then chosen to conduct the test remotely, with each participant given a task and is timed to measure the time taken to complete the tasks.</a:t>
            </a:r>
          </a:p>
        </p:txBody>
      </p:sp>
    </p:spTree>
  </p:cSld>
  <p:clrMapOvr>
    <a:masterClrMapping/>
  </p:clrMapOvr>
</p:sld>
</file>

<file path=ppt/slides/slide4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4 Verification</a:t>
            </a:r>
          </a:p>
        </p:txBody>
      </p:sp>
      <p:sp>
        <p:nvSpPr>
          <p:cNvPr name="TextBox 10" id="10"/>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4.0 Verification</a:t>
            </a:r>
          </a:p>
        </p:txBody>
      </p:sp>
      <p:sp>
        <p:nvSpPr>
          <p:cNvPr name="TextBox 11" id="11"/>
          <p:cNvSpPr txBox="true"/>
          <p:nvPr/>
        </p:nvSpPr>
        <p:spPr>
          <a:xfrm rot="0">
            <a:off x="337776" y="2822969"/>
            <a:ext cx="60993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Database Testing</a:t>
            </a:r>
          </a:p>
        </p:txBody>
      </p:sp>
      <p:sp>
        <p:nvSpPr>
          <p:cNvPr name="TextBox 12" id="12"/>
          <p:cNvSpPr txBox="true"/>
          <p:nvPr/>
        </p:nvSpPr>
        <p:spPr>
          <a:xfrm rot="0">
            <a:off x="514350" y="4741206"/>
            <a:ext cx="12548587" cy="2836402"/>
          </a:xfrm>
          <a:prstGeom prst="rect">
            <a:avLst/>
          </a:prstGeom>
        </p:spPr>
        <p:txBody>
          <a:bodyPr anchor="t" rtlCol="false" tIns="0" lIns="0" bIns="0" rIns="0">
            <a:spAutoFit/>
          </a:bodyPr>
          <a:lstStyle/>
          <a:p>
            <a:pPr algn="l" marL="584143" indent="-292071" lvl="1">
              <a:lnSpc>
                <a:spcPts val="3787"/>
              </a:lnSpc>
              <a:buFont typeface="Arial"/>
              <a:buChar char="•"/>
            </a:pPr>
            <a:r>
              <a:rPr lang="en-US" sz="2705">
                <a:solidFill>
                  <a:srgbClr val="000000"/>
                </a:solidFill>
                <a:latin typeface="Inter"/>
                <a:ea typeface="Inter"/>
                <a:cs typeface="Inter"/>
                <a:sym typeface="Inter"/>
              </a:rPr>
              <a:t>To ensur</a:t>
            </a:r>
            <a:r>
              <a:rPr lang="en-US" sz="2705">
                <a:solidFill>
                  <a:srgbClr val="000000"/>
                </a:solidFill>
                <a:latin typeface="Inter"/>
                <a:ea typeface="Inter"/>
                <a:cs typeface="Inter"/>
                <a:sym typeface="Inter"/>
              </a:rPr>
              <a:t>e the database is accurate, reliable and performant, and if the constraints are obeyed.</a:t>
            </a:r>
          </a:p>
          <a:p>
            <a:pPr algn="l" marL="584143" indent="-292071" lvl="1">
              <a:lnSpc>
                <a:spcPts val="3787"/>
              </a:lnSpc>
              <a:buFont typeface="Arial"/>
              <a:buChar char="•"/>
            </a:pPr>
            <a:r>
              <a:rPr lang="en-US" sz="2705">
                <a:solidFill>
                  <a:srgbClr val="000000"/>
                </a:solidFill>
                <a:latin typeface="Inter"/>
                <a:ea typeface="Inter"/>
                <a:cs typeface="Inter"/>
                <a:sym typeface="Inter"/>
              </a:rPr>
              <a:t>Several test scenarios are identified (database operations), and the database is initially seeded. Then, several test cases for each table are created based on the defined scenarios, and the test outcome is documented.</a:t>
            </a:r>
          </a:p>
        </p:txBody>
      </p:sp>
    </p:spTree>
  </p:cSld>
  <p:clrMapOvr>
    <a:masterClrMapping/>
  </p:clrMapOvr>
</p:sld>
</file>

<file path=ppt/slides/slide5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09139" y="292416"/>
            <a:ext cx="20106278" cy="1995325"/>
            <a:chOff x="0" y="0"/>
            <a:chExt cx="5295481" cy="525518"/>
          </a:xfrm>
        </p:grpSpPr>
        <p:sp>
          <p:nvSpPr>
            <p:cNvPr name="Freeform 3" id="3"/>
            <p:cNvSpPr/>
            <p:nvPr/>
          </p:nvSpPr>
          <p:spPr>
            <a:xfrm flipH="false" flipV="false" rot="0">
              <a:off x="0" y="0"/>
              <a:ext cx="5295481" cy="525518"/>
            </a:xfrm>
            <a:custGeom>
              <a:avLst/>
              <a:gdLst/>
              <a:ahLst/>
              <a:cxnLst/>
              <a:rect r="r" b="b" t="t" l="l"/>
              <a:pathLst>
                <a:path h="525518" w="5295481">
                  <a:moveTo>
                    <a:pt x="0" y="0"/>
                  </a:moveTo>
                  <a:lnTo>
                    <a:pt x="5295481" y="0"/>
                  </a:lnTo>
                  <a:lnTo>
                    <a:pt x="5295481" y="525518"/>
                  </a:lnTo>
                  <a:lnTo>
                    <a:pt x="0" y="525518"/>
                  </a:lnTo>
                  <a:close/>
                </a:path>
              </a:pathLst>
            </a:custGeom>
            <a:solidFill>
              <a:srgbClr val="EAD6B8"/>
            </a:solidFill>
          </p:spPr>
        </p:sp>
        <p:sp>
          <p:nvSpPr>
            <p:cNvPr name="TextBox 4" id="4"/>
            <p:cNvSpPr txBox="true"/>
            <p:nvPr/>
          </p:nvSpPr>
          <p:spPr>
            <a:xfrm>
              <a:off x="0" y="-47625"/>
              <a:ext cx="5295481" cy="573143"/>
            </a:xfrm>
            <a:prstGeom prst="rect">
              <a:avLst/>
            </a:prstGeom>
          </p:spPr>
          <p:txBody>
            <a:bodyPr anchor="ctr" rtlCol="false" tIns="50800" lIns="50800" bIns="50800" rIns="50800"/>
            <a:lstStyle/>
            <a:p>
              <a:pPr algn="ctr">
                <a:lnSpc>
                  <a:spcPts val="3012"/>
                </a:lnSpc>
              </a:pPr>
            </a:p>
          </p:txBody>
        </p:sp>
      </p:grpSp>
      <p:sp>
        <p:nvSpPr>
          <p:cNvPr name="AutoShape 5" id="5"/>
          <p:cNvSpPr/>
          <p:nvPr/>
        </p:nvSpPr>
        <p:spPr>
          <a:xfrm flipV="true">
            <a:off x="1210119" y="10026652"/>
            <a:ext cx="15867762" cy="0"/>
          </a:xfrm>
          <a:prstGeom prst="line">
            <a:avLst/>
          </a:prstGeom>
          <a:ln cap="flat" w="38100">
            <a:solidFill>
              <a:srgbClr val="BCA37F"/>
            </a:solidFill>
            <a:prstDash val="solid"/>
            <a:headEnd type="none" len="sm" w="sm"/>
            <a:tailEnd type="none" len="sm" w="sm"/>
          </a:ln>
        </p:spPr>
      </p:sp>
      <p:grpSp>
        <p:nvGrpSpPr>
          <p:cNvPr name="Group 6" id="6"/>
          <p:cNvGrpSpPr/>
          <p:nvPr/>
        </p:nvGrpSpPr>
        <p:grpSpPr>
          <a:xfrm rot="0">
            <a:off x="-3026129" y="2619301"/>
            <a:ext cx="4233980" cy="1255130"/>
            <a:chOff x="0" y="0"/>
            <a:chExt cx="1115122" cy="330569"/>
          </a:xfrm>
        </p:grpSpPr>
        <p:sp>
          <p:nvSpPr>
            <p:cNvPr name="Freeform 7" id="7"/>
            <p:cNvSpPr/>
            <p:nvPr/>
          </p:nvSpPr>
          <p:spPr>
            <a:xfrm flipH="false" flipV="false" rot="0">
              <a:off x="0" y="0"/>
              <a:ext cx="1115122" cy="330569"/>
            </a:xfrm>
            <a:custGeom>
              <a:avLst/>
              <a:gdLst/>
              <a:ahLst/>
              <a:cxnLst/>
              <a:rect r="r" b="b" t="t" l="l"/>
              <a:pathLst>
                <a:path h="330569" w="1115122">
                  <a:moveTo>
                    <a:pt x="0" y="0"/>
                  </a:moveTo>
                  <a:lnTo>
                    <a:pt x="1115122" y="0"/>
                  </a:lnTo>
                  <a:lnTo>
                    <a:pt x="1115122" y="330569"/>
                  </a:lnTo>
                  <a:lnTo>
                    <a:pt x="0" y="330569"/>
                  </a:lnTo>
                  <a:close/>
                </a:path>
              </a:pathLst>
            </a:custGeom>
            <a:solidFill>
              <a:srgbClr val="EAD6B8"/>
            </a:solidFill>
          </p:spPr>
        </p:sp>
        <p:sp>
          <p:nvSpPr>
            <p:cNvPr name="TextBox 8" id="8"/>
            <p:cNvSpPr txBox="true"/>
            <p:nvPr/>
          </p:nvSpPr>
          <p:spPr>
            <a:xfrm>
              <a:off x="0" y="-47625"/>
              <a:ext cx="1115122" cy="378194"/>
            </a:xfrm>
            <a:prstGeom prst="rect">
              <a:avLst/>
            </a:prstGeom>
          </p:spPr>
          <p:txBody>
            <a:bodyPr anchor="ctr" rtlCol="false" tIns="50800" lIns="50800" bIns="50800" rIns="50800"/>
            <a:lstStyle/>
            <a:p>
              <a:pPr algn="ctr">
                <a:lnSpc>
                  <a:spcPts val="3012"/>
                </a:lnSpc>
              </a:pPr>
            </a:p>
          </p:txBody>
        </p:sp>
      </p:grpSp>
      <p:sp>
        <p:nvSpPr>
          <p:cNvPr name="TextBox 9" id="9"/>
          <p:cNvSpPr txBox="true"/>
          <p:nvPr/>
        </p:nvSpPr>
        <p:spPr>
          <a:xfrm rot="0">
            <a:off x="0" y="380048"/>
            <a:ext cx="13716201" cy="1125855"/>
          </a:xfrm>
          <a:prstGeom prst="rect">
            <a:avLst/>
          </a:prstGeom>
        </p:spPr>
        <p:txBody>
          <a:bodyPr anchor="t" rtlCol="false" tIns="0" lIns="0" bIns="0" rIns="0">
            <a:spAutoFit/>
          </a:bodyPr>
          <a:lstStyle/>
          <a:p>
            <a:pPr algn="ctr" marL="0" indent="0" lvl="0">
              <a:lnSpc>
                <a:spcPts val="8819"/>
              </a:lnSpc>
              <a:spcBef>
                <a:spcPct val="0"/>
              </a:spcBef>
            </a:pPr>
            <a:r>
              <a:rPr lang="en-US" b="true" sz="6300">
                <a:solidFill>
                  <a:srgbClr val="000000"/>
                </a:solidFill>
                <a:latin typeface="Poppins Bold"/>
                <a:ea typeface="Poppins Bold"/>
                <a:cs typeface="Poppins Bold"/>
                <a:sym typeface="Poppins Bold"/>
              </a:rPr>
              <a:t>Task 5: SRS Part 4 Verification</a:t>
            </a:r>
          </a:p>
        </p:txBody>
      </p:sp>
      <p:sp>
        <p:nvSpPr>
          <p:cNvPr name="TextBox 10" id="10"/>
          <p:cNvSpPr txBox="true"/>
          <p:nvPr/>
        </p:nvSpPr>
        <p:spPr>
          <a:xfrm rot="0">
            <a:off x="337776" y="1293781"/>
            <a:ext cx="8393884" cy="733552"/>
          </a:xfrm>
          <a:prstGeom prst="rect">
            <a:avLst/>
          </a:prstGeom>
        </p:spPr>
        <p:txBody>
          <a:bodyPr anchor="t" rtlCol="false" tIns="0" lIns="0" bIns="0" rIns="0">
            <a:spAutoFit/>
          </a:bodyPr>
          <a:lstStyle/>
          <a:p>
            <a:pPr algn="l" marL="0" indent="0" lvl="0">
              <a:lnSpc>
                <a:spcPts val="5767"/>
              </a:lnSpc>
              <a:spcBef>
                <a:spcPct val="0"/>
              </a:spcBef>
            </a:pPr>
            <a:r>
              <a:rPr lang="en-US" b="true" sz="4119">
                <a:solidFill>
                  <a:srgbClr val="705C40"/>
                </a:solidFill>
                <a:latin typeface="Poppins Bold"/>
                <a:ea typeface="Poppins Bold"/>
                <a:cs typeface="Poppins Bold"/>
                <a:sym typeface="Poppins Bold"/>
              </a:rPr>
              <a:t>4.0 Verification</a:t>
            </a:r>
          </a:p>
        </p:txBody>
      </p:sp>
      <p:sp>
        <p:nvSpPr>
          <p:cNvPr name="TextBox 11" id="11"/>
          <p:cNvSpPr txBox="true"/>
          <p:nvPr/>
        </p:nvSpPr>
        <p:spPr>
          <a:xfrm rot="0">
            <a:off x="337776" y="2822969"/>
            <a:ext cx="6099328" cy="733494"/>
          </a:xfrm>
          <a:prstGeom prst="rect">
            <a:avLst/>
          </a:prstGeom>
        </p:spPr>
        <p:txBody>
          <a:bodyPr anchor="t" rtlCol="false" tIns="0" lIns="0" bIns="0" rIns="0">
            <a:spAutoFit/>
          </a:bodyPr>
          <a:lstStyle/>
          <a:p>
            <a:pPr algn="l" marL="0" indent="0" lvl="0">
              <a:lnSpc>
                <a:spcPts val="5771"/>
              </a:lnSpc>
              <a:spcBef>
                <a:spcPct val="0"/>
              </a:spcBef>
            </a:pPr>
            <a:r>
              <a:rPr lang="en-US" b="true" sz="4122">
                <a:solidFill>
                  <a:srgbClr val="000000"/>
                </a:solidFill>
                <a:latin typeface="Poppins Bold"/>
                <a:ea typeface="Poppins Bold"/>
                <a:cs typeface="Poppins Bold"/>
                <a:sym typeface="Poppins Bold"/>
              </a:rPr>
              <a:t>API Testing</a:t>
            </a:r>
          </a:p>
        </p:txBody>
      </p:sp>
      <p:sp>
        <p:nvSpPr>
          <p:cNvPr name="TextBox 12" id="12"/>
          <p:cNvSpPr txBox="true"/>
          <p:nvPr/>
        </p:nvSpPr>
        <p:spPr>
          <a:xfrm rot="0">
            <a:off x="514350" y="4741206"/>
            <a:ext cx="12548587" cy="2360152"/>
          </a:xfrm>
          <a:prstGeom prst="rect">
            <a:avLst/>
          </a:prstGeom>
        </p:spPr>
        <p:txBody>
          <a:bodyPr anchor="t" rtlCol="false" tIns="0" lIns="0" bIns="0" rIns="0">
            <a:spAutoFit/>
          </a:bodyPr>
          <a:lstStyle/>
          <a:p>
            <a:pPr algn="l" marL="584143" indent="-292071" lvl="1">
              <a:lnSpc>
                <a:spcPts val="3787"/>
              </a:lnSpc>
              <a:buFont typeface="Arial"/>
              <a:buChar char="•"/>
            </a:pPr>
            <a:r>
              <a:rPr lang="en-US" sz="2705">
                <a:solidFill>
                  <a:srgbClr val="000000"/>
                </a:solidFill>
                <a:latin typeface="Inter"/>
                <a:ea typeface="Inter"/>
                <a:cs typeface="Inter"/>
                <a:sym typeface="Inter"/>
              </a:rPr>
              <a:t>To ensur</a:t>
            </a:r>
            <a:r>
              <a:rPr lang="en-US" sz="2705">
                <a:solidFill>
                  <a:srgbClr val="000000"/>
                </a:solidFill>
                <a:latin typeface="Inter"/>
                <a:ea typeface="Inter"/>
                <a:cs typeface="Inter"/>
                <a:sym typeface="Inter"/>
              </a:rPr>
              <a:t>e that the software API only accepts HTTPS traffic with version TLS 1.2 and above.</a:t>
            </a:r>
          </a:p>
          <a:p>
            <a:pPr algn="l" marL="584143" indent="-292071" lvl="1">
              <a:lnSpc>
                <a:spcPts val="3787"/>
              </a:lnSpc>
              <a:buFont typeface="Arial"/>
              <a:buChar char="•"/>
            </a:pPr>
            <a:r>
              <a:rPr lang="en-US" sz="2705">
                <a:solidFill>
                  <a:srgbClr val="000000"/>
                </a:solidFill>
                <a:latin typeface="Inter"/>
                <a:ea typeface="Inter"/>
                <a:cs typeface="Inter"/>
                <a:sym typeface="Inter"/>
              </a:rPr>
              <a:t>All endpoints are tested using the Postman API client using HTTP and HTTPS of different versions to ensure that only the correct protocol of compatible versions are accepted.</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737148" y="-531680"/>
            <a:ext cx="6123364" cy="11222921"/>
            <a:chOff x="0" y="0"/>
            <a:chExt cx="948669" cy="1738724"/>
          </a:xfrm>
        </p:grpSpPr>
        <p:sp>
          <p:nvSpPr>
            <p:cNvPr name="Freeform 3" id="3"/>
            <p:cNvSpPr/>
            <p:nvPr/>
          </p:nvSpPr>
          <p:spPr>
            <a:xfrm flipH="false" flipV="false" rot="0">
              <a:off x="0" y="0"/>
              <a:ext cx="948669" cy="1738724"/>
            </a:xfrm>
            <a:custGeom>
              <a:avLst/>
              <a:gdLst/>
              <a:ahLst/>
              <a:cxnLst/>
              <a:rect r="r" b="b" t="t" l="l"/>
              <a:pathLst>
                <a:path h="1738724" w="948669">
                  <a:moveTo>
                    <a:pt x="0" y="0"/>
                  </a:moveTo>
                  <a:lnTo>
                    <a:pt x="948669" y="0"/>
                  </a:lnTo>
                  <a:lnTo>
                    <a:pt x="948669" y="1738724"/>
                  </a:lnTo>
                  <a:lnTo>
                    <a:pt x="0" y="1738724"/>
                  </a:lnTo>
                  <a:close/>
                </a:path>
              </a:pathLst>
            </a:custGeom>
            <a:blipFill>
              <a:blip r:embed="rId2"/>
              <a:stretch>
                <a:fillRect l="-5635" t="0" r="-18079" b="0"/>
              </a:stretch>
            </a:blipFill>
          </p:spPr>
        </p:sp>
      </p:grpSp>
      <p:grpSp>
        <p:nvGrpSpPr>
          <p:cNvPr name="Group 4" id="4"/>
          <p:cNvGrpSpPr/>
          <p:nvPr/>
        </p:nvGrpSpPr>
        <p:grpSpPr>
          <a:xfrm rot="0">
            <a:off x="1028700" y="4005892"/>
            <a:ext cx="5067457" cy="5157158"/>
            <a:chOff x="0" y="0"/>
            <a:chExt cx="1334639" cy="1358264"/>
          </a:xfrm>
        </p:grpSpPr>
        <p:sp>
          <p:nvSpPr>
            <p:cNvPr name="Freeform 5" id="5"/>
            <p:cNvSpPr/>
            <p:nvPr/>
          </p:nvSpPr>
          <p:spPr>
            <a:xfrm flipH="false" flipV="false" rot="0">
              <a:off x="0" y="0"/>
              <a:ext cx="1334639" cy="1358264"/>
            </a:xfrm>
            <a:custGeom>
              <a:avLst/>
              <a:gdLst/>
              <a:ahLst/>
              <a:cxnLst/>
              <a:rect r="r" b="b" t="t" l="l"/>
              <a:pathLst>
                <a:path h="1358264" w="1334639">
                  <a:moveTo>
                    <a:pt x="0" y="0"/>
                  </a:moveTo>
                  <a:lnTo>
                    <a:pt x="1334639" y="0"/>
                  </a:lnTo>
                  <a:lnTo>
                    <a:pt x="1334639" y="1358264"/>
                  </a:lnTo>
                  <a:lnTo>
                    <a:pt x="0" y="1358264"/>
                  </a:lnTo>
                  <a:close/>
                </a:path>
              </a:pathLst>
            </a:custGeom>
            <a:solidFill>
              <a:srgbClr val="EAD6B8"/>
            </a:solidFill>
          </p:spPr>
        </p:sp>
        <p:sp>
          <p:nvSpPr>
            <p:cNvPr name="TextBox 6" id="6"/>
            <p:cNvSpPr txBox="true"/>
            <p:nvPr/>
          </p:nvSpPr>
          <p:spPr>
            <a:xfrm>
              <a:off x="0" y="-66675"/>
              <a:ext cx="1334639" cy="1424939"/>
            </a:xfrm>
            <a:prstGeom prst="rect">
              <a:avLst/>
            </a:prstGeom>
          </p:spPr>
          <p:txBody>
            <a:bodyPr anchor="ctr" rtlCol="false" tIns="50800" lIns="50800" bIns="50800" rIns="50800"/>
            <a:lstStyle/>
            <a:p>
              <a:pPr algn="ctr" marL="604519" indent="-302260" lvl="1">
                <a:lnSpc>
                  <a:spcPts val="3919"/>
                </a:lnSpc>
                <a:buFont typeface="Arial"/>
                <a:buChar char="•"/>
              </a:pPr>
              <a:r>
                <a:rPr lang="en-US" sz="2799">
                  <a:solidFill>
                    <a:srgbClr val="000000"/>
                  </a:solidFill>
                  <a:latin typeface="Inter"/>
                  <a:ea typeface="Inter"/>
                  <a:cs typeface="Inter"/>
                  <a:sym typeface="Inter"/>
                </a:rPr>
                <a:t>Working Internet</a:t>
              </a:r>
            </a:p>
            <a:p>
              <a:pPr algn="ctr">
                <a:lnSpc>
                  <a:spcPts val="3919"/>
                </a:lnSpc>
              </a:pPr>
            </a:p>
            <a:p>
              <a:pPr algn="ctr" marL="604519" indent="-302260" lvl="1">
                <a:lnSpc>
                  <a:spcPts val="3919"/>
                </a:lnSpc>
                <a:buFont typeface="Arial"/>
                <a:buChar char="•"/>
              </a:pPr>
              <a:r>
                <a:rPr lang="en-US" sz="2799">
                  <a:solidFill>
                    <a:srgbClr val="000000"/>
                  </a:solidFill>
                  <a:latin typeface="Inter"/>
                  <a:ea typeface="Inter"/>
                  <a:cs typeface="Inter"/>
                  <a:sym typeface="Inter"/>
                </a:rPr>
                <a:t>Stable GPS</a:t>
              </a:r>
            </a:p>
            <a:p>
              <a:pPr algn="ctr">
                <a:lnSpc>
                  <a:spcPts val="3919"/>
                </a:lnSpc>
              </a:pPr>
            </a:p>
            <a:p>
              <a:pPr algn="ctr" marL="604519" indent="-302260" lvl="1">
                <a:lnSpc>
                  <a:spcPts val="3919"/>
                </a:lnSpc>
                <a:buFont typeface="Arial"/>
                <a:buChar char="•"/>
              </a:pPr>
              <a:r>
                <a:rPr lang="en-US" sz="2799">
                  <a:solidFill>
                    <a:srgbClr val="000000"/>
                  </a:solidFill>
                  <a:latin typeface="Inter"/>
                  <a:ea typeface="Inter"/>
                  <a:cs typeface="Inter"/>
                  <a:sym typeface="Inter"/>
                </a:rPr>
                <a:t>MMU ID credentials</a:t>
              </a:r>
            </a:p>
            <a:p>
              <a:pPr algn="ctr">
                <a:lnSpc>
                  <a:spcPts val="3919"/>
                </a:lnSpc>
              </a:pPr>
            </a:p>
            <a:p>
              <a:pPr algn="ctr" marL="604519" indent="-302260" lvl="1">
                <a:lnSpc>
                  <a:spcPts val="3919"/>
                </a:lnSpc>
                <a:buFont typeface="Arial"/>
                <a:buChar char="•"/>
              </a:pPr>
              <a:r>
                <a:rPr lang="en-US" sz="2799">
                  <a:solidFill>
                    <a:srgbClr val="000000"/>
                  </a:solidFill>
                  <a:latin typeface="Inter"/>
                  <a:ea typeface="Inter"/>
                  <a:cs typeface="Inter"/>
                  <a:sym typeface="Inter"/>
                </a:rPr>
                <a:t>Correct driver input</a:t>
              </a:r>
            </a:p>
            <a:p>
              <a:pPr algn="ctr">
                <a:lnSpc>
                  <a:spcPts val="3919"/>
                </a:lnSpc>
              </a:pPr>
            </a:p>
          </p:txBody>
        </p:sp>
      </p:grpSp>
      <p:grpSp>
        <p:nvGrpSpPr>
          <p:cNvPr name="Group 7" id="7"/>
          <p:cNvGrpSpPr/>
          <p:nvPr/>
        </p:nvGrpSpPr>
        <p:grpSpPr>
          <a:xfrm rot="0">
            <a:off x="6779274" y="3407204"/>
            <a:ext cx="5067457" cy="5755846"/>
            <a:chOff x="0" y="0"/>
            <a:chExt cx="1334639" cy="1515943"/>
          </a:xfrm>
        </p:grpSpPr>
        <p:sp>
          <p:nvSpPr>
            <p:cNvPr name="Freeform 8" id="8"/>
            <p:cNvSpPr/>
            <p:nvPr/>
          </p:nvSpPr>
          <p:spPr>
            <a:xfrm flipH="false" flipV="false" rot="0">
              <a:off x="0" y="0"/>
              <a:ext cx="1334639" cy="1515943"/>
            </a:xfrm>
            <a:custGeom>
              <a:avLst/>
              <a:gdLst/>
              <a:ahLst/>
              <a:cxnLst/>
              <a:rect r="r" b="b" t="t" l="l"/>
              <a:pathLst>
                <a:path h="1515943" w="1334639">
                  <a:moveTo>
                    <a:pt x="0" y="0"/>
                  </a:moveTo>
                  <a:lnTo>
                    <a:pt x="1334639" y="0"/>
                  </a:lnTo>
                  <a:lnTo>
                    <a:pt x="1334639" y="1515943"/>
                  </a:lnTo>
                  <a:lnTo>
                    <a:pt x="0" y="1515943"/>
                  </a:lnTo>
                  <a:close/>
                </a:path>
              </a:pathLst>
            </a:custGeom>
            <a:solidFill>
              <a:srgbClr val="BCA37F"/>
            </a:solidFill>
          </p:spPr>
        </p:sp>
        <p:sp>
          <p:nvSpPr>
            <p:cNvPr name="TextBox 9" id="9"/>
            <p:cNvSpPr txBox="true"/>
            <p:nvPr/>
          </p:nvSpPr>
          <p:spPr>
            <a:xfrm>
              <a:off x="0" y="-47625"/>
              <a:ext cx="1334639" cy="1563568"/>
            </a:xfrm>
            <a:prstGeom prst="rect">
              <a:avLst/>
            </a:prstGeom>
          </p:spPr>
          <p:txBody>
            <a:bodyPr anchor="ctr" rtlCol="false" tIns="50800" lIns="50800" bIns="50800" rIns="50800"/>
            <a:lstStyle/>
            <a:p>
              <a:pPr algn="ctr">
                <a:lnSpc>
                  <a:spcPts val="3012"/>
                </a:lnSpc>
              </a:pPr>
            </a:p>
          </p:txBody>
        </p:sp>
      </p:grpSp>
      <p:grpSp>
        <p:nvGrpSpPr>
          <p:cNvPr name="Group 10" id="10"/>
          <p:cNvGrpSpPr/>
          <p:nvPr/>
        </p:nvGrpSpPr>
        <p:grpSpPr>
          <a:xfrm rot="0">
            <a:off x="-989667" y="954218"/>
            <a:ext cx="3086100" cy="1178743"/>
            <a:chOff x="0" y="0"/>
            <a:chExt cx="812800" cy="310451"/>
          </a:xfrm>
        </p:grpSpPr>
        <p:sp>
          <p:nvSpPr>
            <p:cNvPr name="Freeform 11" id="11"/>
            <p:cNvSpPr/>
            <p:nvPr/>
          </p:nvSpPr>
          <p:spPr>
            <a:xfrm flipH="false" flipV="false" rot="0">
              <a:off x="0" y="0"/>
              <a:ext cx="812800" cy="310451"/>
            </a:xfrm>
            <a:custGeom>
              <a:avLst/>
              <a:gdLst/>
              <a:ahLst/>
              <a:cxnLst/>
              <a:rect r="r" b="b" t="t" l="l"/>
              <a:pathLst>
                <a:path h="310451" w="812800">
                  <a:moveTo>
                    <a:pt x="0" y="0"/>
                  </a:moveTo>
                  <a:lnTo>
                    <a:pt x="812800" y="0"/>
                  </a:lnTo>
                  <a:lnTo>
                    <a:pt x="812800" y="310451"/>
                  </a:lnTo>
                  <a:lnTo>
                    <a:pt x="0" y="310451"/>
                  </a:lnTo>
                  <a:close/>
                </a:path>
              </a:pathLst>
            </a:custGeom>
            <a:solidFill>
              <a:srgbClr val="EAD6B8"/>
            </a:solidFill>
          </p:spPr>
        </p:sp>
        <p:sp>
          <p:nvSpPr>
            <p:cNvPr name="TextBox 12" id="12"/>
            <p:cNvSpPr txBox="true"/>
            <p:nvPr/>
          </p:nvSpPr>
          <p:spPr>
            <a:xfrm>
              <a:off x="0" y="-47625"/>
              <a:ext cx="812800" cy="358076"/>
            </a:xfrm>
            <a:prstGeom prst="rect">
              <a:avLst/>
            </a:prstGeom>
          </p:spPr>
          <p:txBody>
            <a:bodyPr anchor="ctr" rtlCol="false" tIns="50800" lIns="50800" bIns="50800" rIns="50800"/>
            <a:lstStyle/>
            <a:p>
              <a:pPr algn="ctr">
                <a:lnSpc>
                  <a:spcPts val="3012"/>
                </a:lnSpc>
              </a:pPr>
            </a:p>
          </p:txBody>
        </p:sp>
      </p:grpSp>
      <p:sp>
        <p:nvSpPr>
          <p:cNvPr name="Freeform 13" id="13"/>
          <p:cNvSpPr/>
          <p:nvPr/>
        </p:nvSpPr>
        <p:spPr>
          <a:xfrm flipH="false" flipV="false" rot="0">
            <a:off x="10904159" y="-531680"/>
            <a:ext cx="3251377" cy="2483239"/>
          </a:xfrm>
          <a:custGeom>
            <a:avLst/>
            <a:gdLst/>
            <a:ahLst/>
            <a:cxnLst/>
            <a:rect r="r" b="b" t="t" l="l"/>
            <a:pathLst>
              <a:path h="2483239" w="3251377">
                <a:moveTo>
                  <a:pt x="0" y="0"/>
                </a:moveTo>
                <a:lnTo>
                  <a:pt x="3251377" y="0"/>
                </a:lnTo>
                <a:lnTo>
                  <a:pt x="3251377" y="2483239"/>
                </a:lnTo>
                <a:lnTo>
                  <a:pt x="0" y="24832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Table 14" id="14"/>
          <p:cNvGraphicFramePr>
            <a:graphicFrameLocks noGrp="true"/>
          </p:cNvGraphicFramePr>
          <p:nvPr/>
        </p:nvGraphicFramePr>
        <p:xfrm>
          <a:off x="6933246" y="3465529"/>
          <a:ext cx="4759513" cy="5639196"/>
        </p:xfrm>
        <a:graphic>
          <a:graphicData uri="http://schemas.openxmlformats.org/drawingml/2006/table">
            <a:tbl>
              <a:tblPr/>
              <a:tblGrid>
                <a:gridCol w="2224542"/>
                <a:gridCol w="2534971"/>
              </a:tblGrid>
              <a:tr h="1016518">
                <a:tc gridSpan="2">
                  <a:txBody>
                    <a:bodyPr anchor="t" rtlCol="false"/>
                    <a:lstStyle/>
                    <a:p>
                      <a:pPr algn="ctr">
                        <a:lnSpc>
                          <a:spcPts val="3359"/>
                        </a:lnSpc>
                        <a:defRPr/>
                      </a:pPr>
                      <a:r>
                        <a:rPr lang="en-US" sz="2400" b="true">
                          <a:solidFill>
                            <a:srgbClr val="000000"/>
                          </a:solidFill>
                          <a:latin typeface="Poppins Bold"/>
                          <a:ea typeface="Poppins Bold"/>
                          <a:cs typeface="Poppins Bold"/>
                          <a:sym typeface="Poppins Bold"/>
                        </a:rPr>
                        <a:t>Terms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hMerge="true">
                  <a:txBody>
                    <a:bodyPr anchor="t" rtlCol="false"/>
                    <a:lstStyle/>
                    <a:p>
                      <a:pPr algn="ctr">
                        <a:lnSpc>
                          <a:spcPts val="3359"/>
                        </a:lnSpc>
                        <a:defRPr/>
                      </a:pPr>
                      <a:r>
                        <a:rPr lang="en-US" sz="2400" b="true">
                          <a:solidFill>
                            <a:srgbClr val="000000"/>
                          </a:solidFill>
                          <a:latin typeface="Poppins Bold"/>
                          <a:ea typeface="Poppins Bold"/>
                          <a:cs typeface="Poppins Bold"/>
                          <a:sym typeface="Poppins Bold"/>
                        </a:rPr>
                        <a:t>Terms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97951">
                <a:tc>
                  <a:txBody>
                    <a:bodyPr anchor="t" rtlCol="false"/>
                    <a:lstStyle/>
                    <a:p>
                      <a:pPr algn="ctr">
                        <a:lnSpc>
                          <a:spcPts val="3359"/>
                        </a:lnSpc>
                        <a:defRPr/>
                      </a:pPr>
                      <a:r>
                        <a:rPr lang="en-US" sz="2400">
                          <a:solidFill>
                            <a:srgbClr val="000000"/>
                          </a:solidFill>
                          <a:latin typeface="Poppins"/>
                          <a:ea typeface="Poppins"/>
                          <a:cs typeface="Poppins"/>
                          <a:sym typeface="Poppins"/>
                        </a:rPr>
                        <a:t>IDM</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Poppins"/>
                          <a:ea typeface="Poppins"/>
                          <a:cs typeface="Poppins"/>
                          <a:sym typeface="Poppins"/>
                        </a:rPr>
                        <a:t>PDPA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62364">
                <a:tc>
                  <a:txBody>
                    <a:bodyPr anchor="t" rtlCol="false"/>
                    <a:lstStyle/>
                    <a:p>
                      <a:pPr algn="ctr">
                        <a:lnSpc>
                          <a:spcPts val="3359"/>
                        </a:lnSpc>
                        <a:defRPr/>
                      </a:pPr>
                      <a:r>
                        <a:rPr lang="en-US" sz="2400">
                          <a:solidFill>
                            <a:srgbClr val="000000"/>
                          </a:solidFill>
                          <a:latin typeface="Poppins"/>
                          <a:ea typeface="Poppins"/>
                          <a:cs typeface="Poppins"/>
                          <a:sym typeface="Poppins"/>
                        </a:rPr>
                        <a:t>HTTPS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Poppins"/>
                          <a:ea typeface="Poppins"/>
                          <a:cs typeface="Poppins"/>
                          <a:sym typeface="Poppins"/>
                        </a:rPr>
                        <a:t>API</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662364">
                <a:tc>
                  <a:txBody>
                    <a:bodyPr anchor="t" rtlCol="false"/>
                    <a:lstStyle/>
                    <a:p>
                      <a:pPr algn="ctr">
                        <a:lnSpc>
                          <a:spcPts val="3359"/>
                        </a:lnSpc>
                        <a:defRPr/>
                      </a:pPr>
                      <a:r>
                        <a:rPr lang="en-US" sz="2400">
                          <a:solidFill>
                            <a:srgbClr val="000000"/>
                          </a:solidFill>
                          <a:latin typeface="Poppins"/>
                          <a:ea typeface="Poppins"/>
                          <a:cs typeface="Poppins"/>
                          <a:sym typeface="Poppins"/>
                        </a:rPr>
                        <a:t>GPS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359"/>
                        </a:lnSpc>
                        <a:defRPr/>
                      </a:pPr>
                      <a:r>
                        <a:rPr lang="en-US" sz="2400">
                          <a:solidFill>
                            <a:srgbClr val="000000"/>
                          </a:solidFill>
                          <a:latin typeface="Poppins"/>
                          <a:ea typeface="Poppins"/>
                          <a:cs typeface="Poppins"/>
                          <a:sym typeface="Poppins"/>
                        </a:rPr>
                        <a:t>TLS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15" id="15"/>
          <p:cNvSpPr txBox="true"/>
          <p:nvPr/>
        </p:nvSpPr>
        <p:spPr>
          <a:xfrm rot="0">
            <a:off x="1028700" y="2320606"/>
            <a:ext cx="5133792" cy="1422400"/>
          </a:xfrm>
          <a:prstGeom prst="rect">
            <a:avLst/>
          </a:prstGeom>
        </p:spPr>
        <p:txBody>
          <a:bodyPr anchor="t" rtlCol="false" tIns="0" lIns="0" bIns="0" rIns="0">
            <a:spAutoFit/>
          </a:bodyPr>
          <a:lstStyle/>
          <a:p>
            <a:pPr algn="l">
              <a:lnSpc>
                <a:spcPts val="5599"/>
              </a:lnSpc>
            </a:pPr>
            <a:r>
              <a:rPr lang="en-US" sz="3999" b="true">
                <a:solidFill>
                  <a:srgbClr val="705C40"/>
                </a:solidFill>
                <a:latin typeface="Poppins Bold"/>
                <a:ea typeface="Poppins Bold"/>
                <a:cs typeface="Poppins Bold"/>
                <a:sym typeface="Poppins Bold"/>
              </a:rPr>
              <a:t>Assumptions &amp;</a:t>
            </a:r>
          </a:p>
          <a:p>
            <a:pPr algn="l" marL="0" indent="0" lvl="0">
              <a:lnSpc>
                <a:spcPts val="5599"/>
              </a:lnSpc>
              <a:spcBef>
                <a:spcPct val="0"/>
              </a:spcBef>
            </a:pPr>
            <a:r>
              <a:rPr lang="en-US" b="true" sz="3999">
                <a:solidFill>
                  <a:srgbClr val="705C40"/>
                </a:solidFill>
                <a:latin typeface="Poppins Bold"/>
                <a:ea typeface="Poppins Bold"/>
                <a:cs typeface="Poppins Bold"/>
                <a:sym typeface="Poppins Bold"/>
              </a:rPr>
              <a:t>Dependencies</a:t>
            </a:r>
          </a:p>
        </p:txBody>
      </p:sp>
      <p:sp>
        <p:nvSpPr>
          <p:cNvPr name="TextBox 16" id="16"/>
          <p:cNvSpPr txBox="true"/>
          <p:nvPr/>
        </p:nvSpPr>
        <p:spPr>
          <a:xfrm rot="0">
            <a:off x="6765156" y="2320606"/>
            <a:ext cx="5133792" cy="684530"/>
          </a:xfrm>
          <a:prstGeom prst="rect">
            <a:avLst/>
          </a:prstGeom>
        </p:spPr>
        <p:txBody>
          <a:bodyPr anchor="t" rtlCol="false" tIns="0" lIns="0" bIns="0" rIns="0">
            <a:spAutoFit/>
          </a:bodyPr>
          <a:lstStyle/>
          <a:p>
            <a:pPr algn="l" marL="0" indent="0" lvl="0">
              <a:lnSpc>
                <a:spcPts val="5320"/>
              </a:lnSpc>
              <a:spcBef>
                <a:spcPct val="0"/>
              </a:spcBef>
            </a:pPr>
            <a:r>
              <a:rPr lang="en-US" b="true" sz="3800">
                <a:solidFill>
                  <a:srgbClr val="705C40"/>
                </a:solidFill>
                <a:latin typeface="Poppins Bold"/>
                <a:ea typeface="Poppins Bold"/>
                <a:cs typeface="Poppins Bold"/>
                <a:sym typeface="Poppins Bold"/>
              </a:rPr>
              <a:t>Acronyms</a:t>
            </a:r>
          </a:p>
        </p:txBody>
      </p:sp>
      <p:sp>
        <p:nvSpPr>
          <p:cNvPr name="TextBox 17" id="17"/>
          <p:cNvSpPr txBox="true"/>
          <p:nvPr/>
        </p:nvSpPr>
        <p:spPr>
          <a:xfrm rot="0">
            <a:off x="1028700" y="1152525"/>
            <a:ext cx="8711164" cy="666750"/>
          </a:xfrm>
          <a:prstGeom prst="rect">
            <a:avLst/>
          </a:prstGeom>
        </p:spPr>
        <p:txBody>
          <a:bodyPr anchor="t" rtlCol="false" tIns="0" lIns="0" bIns="0" rIns="0">
            <a:spAutoFit/>
          </a:bodyPr>
          <a:lstStyle/>
          <a:p>
            <a:pPr algn="l" marL="0" indent="0" lvl="0">
              <a:lnSpc>
                <a:spcPts val="5280"/>
              </a:lnSpc>
            </a:pPr>
            <a:r>
              <a:rPr lang="en-US" b="true" sz="4400">
                <a:solidFill>
                  <a:srgbClr val="000000"/>
                </a:solidFill>
                <a:latin typeface="Inter Bold"/>
                <a:ea typeface="Inter Bold"/>
                <a:cs typeface="Inter Bold"/>
                <a:sym typeface="Inter Bold"/>
              </a:rPr>
              <a:t>Task 5: SRS Part 5 Appendices</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71519" y="2282576"/>
            <a:ext cx="732467" cy="686553"/>
          </a:xfrm>
          <a:custGeom>
            <a:avLst/>
            <a:gdLst/>
            <a:ahLst/>
            <a:cxnLst/>
            <a:rect r="r" b="b" t="t" l="l"/>
            <a:pathLst>
              <a:path h="686553" w="732467">
                <a:moveTo>
                  <a:pt x="0" y="0"/>
                </a:moveTo>
                <a:lnTo>
                  <a:pt x="732467" y="0"/>
                </a:lnTo>
                <a:lnTo>
                  <a:pt x="732467" y="686553"/>
                </a:lnTo>
                <a:lnTo>
                  <a:pt x="0" y="6865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500721" y="3516133"/>
            <a:ext cx="3529421" cy="3338071"/>
            <a:chOff x="0" y="0"/>
            <a:chExt cx="929559" cy="879163"/>
          </a:xfrm>
        </p:grpSpPr>
        <p:sp>
          <p:nvSpPr>
            <p:cNvPr name="Freeform 4" id="4"/>
            <p:cNvSpPr/>
            <p:nvPr/>
          </p:nvSpPr>
          <p:spPr>
            <a:xfrm flipH="false" flipV="false" rot="0">
              <a:off x="0" y="0"/>
              <a:ext cx="929559" cy="879163"/>
            </a:xfrm>
            <a:custGeom>
              <a:avLst/>
              <a:gdLst/>
              <a:ahLst/>
              <a:cxnLst/>
              <a:rect r="r" b="b" t="t" l="l"/>
              <a:pathLst>
                <a:path h="879163" w="929559">
                  <a:moveTo>
                    <a:pt x="0" y="0"/>
                  </a:moveTo>
                  <a:lnTo>
                    <a:pt x="929559" y="0"/>
                  </a:lnTo>
                  <a:lnTo>
                    <a:pt x="929559" y="879163"/>
                  </a:lnTo>
                  <a:lnTo>
                    <a:pt x="0" y="879163"/>
                  </a:lnTo>
                  <a:close/>
                </a:path>
              </a:pathLst>
            </a:custGeom>
            <a:solidFill>
              <a:srgbClr val="BCA37F"/>
            </a:solidFill>
          </p:spPr>
        </p:sp>
        <p:sp>
          <p:nvSpPr>
            <p:cNvPr name="TextBox 5" id="5"/>
            <p:cNvSpPr txBox="true"/>
            <p:nvPr/>
          </p:nvSpPr>
          <p:spPr>
            <a:xfrm>
              <a:off x="0" y="-47625"/>
              <a:ext cx="929559" cy="926788"/>
            </a:xfrm>
            <a:prstGeom prst="rect">
              <a:avLst/>
            </a:prstGeom>
          </p:spPr>
          <p:txBody>
            <a:bodyPr anchor="ctr" rtlCol="false" tIns="50800" lIns="50800" bIns="50800" rIns="50800"/>
            <a:lstStyle/>
            <a:p>
              <a:pPr algn="ctr">
                <a:lnSpc>
                  <a:spcPts val="3012"/>
                </a:lnSpc>
              </a:pPr>
            </a:p>
          </p:txBody>
        </p:sp>
      </p:grpSp>
      <p:grpSp>
        <p:nvGrpSpPr>
          <p:cNvPr name="Group 6" id="6"/>
          <p:cNvGrpSpPr/>
          <p:nvPr/>
        </p:nvGrpSpPr>
        <p:grpSpPr>
          <a:xfrm rot="0">
            <a:off x="16850683" y="7365373"/>
            <a:ext cx="1190712" cy="119071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AD6B8"/>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012"/>
                </a:lnSpc>
              </a:pPr>
            </a:p>
          </p:txBody>
        </p:sp>
      </p:grpSp>
      <p:sp>
        <p:nvSpPr>
          <p:cNvPr name="Freeform 9" id="9"/>
          <p:cNvSpPr/>
          <p:nvPr/>
        </p:nvSpPr>
        <p:spPr>
          <a:xfrm flipH="false" flipV="false" rot="0">
            <a:off x="15207460" y="7876541"/>
            <a:ext cx="2618042" cy="4114800"/>
          </a:xfrm>
          <a:custGeom>
            <a:avLst/>
            <a:gdLst/>
            <a:ahLst/>
            <a:cxnLst/>
            <a:rect r="r" b="b" t="t" l="l"/>
            <a:pathLst>
              <a:path h="4114800" w="2618042">
                <a:moveTo>
                  <a:pt x="0" y="0"/>
                </a:moveTo>
                <a:lnTo>
                  <a:pt x="2618042" y="0"/>
                </a:lnTo>
                <a:lnTo>
                  <a:pt x="261804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13601700" y="2158589"/>
            <a:ext cx="7315200" cy="247973"/>
          </a:xfrm>
          <a:custGeom>
            <a:avLst/>
            <a:gdLst/>
            <a:ahLst/>
            <a:cxnLst/>
            <a:rect r="r" b="b" t="t" l="l"/>
            <a:pathLst>
              <a:path h="247973" w="7315200">
                <a:moveTo>
                  <a:pt x="0" y="0"/>
                </a:moveTo>
                <a:lnTo>
                  <a:pt x="7315200" y="0"/>
                </a:lnTo>
                <a:lnTo>
                  <a:pt x="7315200" y="247973"/>
                </a:lnTo>
                <a:lnTo>
                  <a:pt x="0" y="2479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4574125" y="-869877"/>
            <a:ext cx="3251377" cy="2483239"/>
          </a:xfrm>
          <a:custGeom>
            <a:avLst/>
            <a:gdLst/>
            <a:ahLst/>
            <a:cxnLst/>
            <a:rect r="r" b="b" t="t" l="l"/>
            <a:pathLst>
              <a:path h="2483239" w="3251377">
                <a:moveTo>
                  <a:pt x="0" y="0"/>
                </a:moveTo>
                <a:lnTo>
                  <a:pt x="3251377" y="0"/>
                </a:lnTo>
                <a:lnTo>
                  <a:pt x="3251377" y="2483240"/>
                </a:lnTo>
                <a:lnTo>
                  <a:pt x="0" y="2483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771519" y="3350122"/>
            <a:ext cx="14744962" cy="3165270"/>
          </a:xfrm>
          <a:prstGeom prst="rect">
            <a:avLst/>
          </a:prstGeom>
        </p:spPr>
        <p:txBody>
          <a:bodyPr anchor="t" rtlCol="false" tIns="0" lIns="0" bIns="0" rIns="0">
            <a:spAutoFit/>
          </a:bodyPr>
          <a:lstStyle/>
          <a:p>
            <a:pPr algn="l" marL="0" indent="0" lvl="0">
              <a:lnSpc>
                <a:spcPts val="24508"/>
              </a:lnSpc>
            </a:pPr>
            <a:r>
              <a:rPr lang="en-US" b="true" sz="17506">
                <a:solidFill>
                  <a:srgbClr val="000000"/>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DAGoPbwvVC0</dc:identifier>
  <dcterms:modified xsi:type="dcterms:W3CDTF">2011-08-01T06:04:30Z</dcterms:modified>
  <cp:revision>1</cp:revision>
  <dc:title>Software Requirements Engineering</dc:title>
</cp:coreProperties>
</file>